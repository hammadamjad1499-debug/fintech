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FinWise AI - an AI-powered personal financial analysis and smart budget assistant.
The user enters their monthly income and expenses, Python calculates the exact financial ratios, and an OpenAI model accessed through LangChain turns those numbers into structured budgeting guidance.
The stack is Python, LangChain, OpenAI and Streamlit.
One important point up front: this is an educational prototype. It does not give guaranteed financial advice and it is not a licensed financial advisor.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most people cannot say where their salary goes each month, and generic advice online does not use their actual numbers.
So the objective of FinWise AI is five things: analyse income and expenses, find the high-expense areas, calculate savings potential, generate budgeting suggestions, and flag financial-risk patterns.
The flow at the bottom is the whole project in one line: the user enters numbers, Python computes ratios and a preliminary score, and the AI explains the result.
And throughout the app we repeat that this is educational only - not guaranteed financial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ten technologies required by the assignment.
Python is the core language. Streamlit builds the web interface with almost no HTML or CSS.
LangChain is split into three packages: langchain for the chain, langchain-core for prompts, messages and the in-memory cache, and langchain-community for the SQLite cache. langchain-openai gives us the ChatOpenAI class.
python-dotenv loads the OpenAI API key from a .env file, so the key is never hard-coded. JSON is the output format, and SQLite is the disk cache.
Everything installs from requirements.txt.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architecture. Read it left to right, then down.
The user fills the Streamlit form. Python - not the AI - calculates the totals, the ratios and a preliminary score. Those numbers go into the LangChain prompt, which is sent to ChatOpenAI.
The model replies as structured JSON. We parse that JSON safely inside a try-except, and the parsed values fill the FinWise dashboard.
Two side paths. First, the cache sits between the app and OpenAI: an identical request is answered from InMemoryCache or SQLiteCache instead of the API.
Second, the streaming path: llm.stream gives us chunks, and st.write_stream prints them live, so recommendations appear word by word instead of after a long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interface. On the left is the sidebar: the app name, API and model settings, the cache selection, a reset-session button, and the educational disclaimer, which is always visible.
In the middle is the main form. The user enters monthly income, then nine expense categories - housing, food, transportation, utilities, education, healthcare, entertainment, loan or debt, and other - plus current savings, their financial goal and the currency.
The widgets are st.number_input for every amount, st.selectbox for currency and goal, all wrapped in st.form so nothing is submitted until the user presses the st.button.
Using a form matters: without it Streamlit would rerun on every keystroke.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most common viva question: what does Python do and what does the AI do?
All the arithmetic is Python. Total expenses is the sum of the nine categories. Remaining income is income minus expenses. Savings ratio and expense ratio are percentages of income.
Python also computes a preliminary score out of 100 from four factors: savings, leftover income, expense ratio and debt burden.
This matters because language models are not reliable calculators. By computing the numbers first, the same input always gives the same figures, and the AI only has to interpret them.
We also guard against divide-by-zero: if income is zero, we show a validation message rather than crashing.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 gives us two ways to build a prompt, and the assignment asks for both.
A PromptTemplate is one reusable block of text with placeholders. Ours has eight variables: monthly income, total expenses, remaining income, savings, savings ratio, expense ratio, the financial goal and the expense breakdown. We write the template once and fill it for every user.
A ChatPromptTemplate is built for chat models. It has two parts: the system instructions, which set the AI's role, the safety rules and the required JSON format, and the human message, which carries that user's financial data.
Keeping them separate is a safety design: whatever the user types goes in the human part, so it cannot push out the rules in the system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 model does not see one block of text - it sees a list of messages, and each has a role.
The SystemMessage sets who the AI is and the financial safety rules: educational information only, no guaranteed advice.
The HumanMessage carries the user's financial information.
The AIMessage is the assistant's reply, and passing it back is how a chat remembers earlier turns.
The LLMChain joins the prompt to the model. Instead of formatting text and calling the API by hand, we build the chain once and call it with a dictionary of our financial values. Prompt goes in, ChatOpenAI runs, the response comes out.
If asked: LLMChain is deprecated in the newest LangChain in favour of the pipe syntax, but it still works, and the assignment requires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ask the model for free text - we ask for JSON in exactly this shape: a financial summary, a health score, spending analysis, risk level, top priorities, budget recommendations, a savings strategy and a next-month action plan.
Four reasons: the output is predictable, it is easy to validate, it is easy to render in Streamlit, and it gives the dashboard a reliable structure.
The score is grouped into four bands: 80 and above is strong, 60 to 79 generally healthy, 40 to 59 needs improvement, and under 40 needs high attention.
Because a model can still return something malformed, parsing happens inside a try-except: we strip any code fences, check the required keys, and if it fails the user sees a friendly message and the raw response instead of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LangChain features on this slide.
Streaming: instead of waiting for the whole answer, llm.stream returns small chunks as the model writes them. We pass that generator to st.write_stream, and the recommendation types itself onto the screen. It is the same content, but the app feels alive rather than frozen.
Caching: the sidebar lets us choose three modes. With the cache off, every request goes to OpenAI. InMemoryCache stores answers in RAM - very fast, but cleared when the app restarts. SQLiteCache stores them in a database file on disk, so the speed-up survives a restart.
In the demo I submit the same figures twice: the first request calls OpenAI and takes a few seconds, the second comes from the cache almost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two halves. The top half is Python: income, total expenses, remaining balance, savings, the savings and expense ratios, the Python score, and next to it the AI health score and risk level - shown with st.metric.
The bottom half comes from the JSON: spending analysis, top priorities, budget recommendations, savings strategy and the next-month action plan.
For testing I used five scenarios. A high income with low expenses should give a high score and LOW risk. Expenses above income should give a low score and HIGH risk. A large debt payment should raise the risk even when income looks fine. Good savings should score well. And spending exactly what you earn should come out medium to high risk.
I also tested empty and zero income, which shows a validation message without calling the API, and submitting the same input twice with caching on to show the speed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every requirement of the assignment is implemented: the Streamlit interface, the Python financial calculations, ChatOpenAI, both PromptTemplate and ChatPromptTemplate, the system, human and AI messages, the LLMChain, structured JSON output, streaming, both caching types, the financial dashboard, input validation and the educational safety messaging.
In one sentence: FinWise AI turns personal financial numbers into structured educational insights and actionable budgeting guidance.
Thank you - I am happy to take questions, and I can run a live demo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13375B"/>
          </a:solidFill>
          <a:ln w="12700">
            <a:solidFill>
              <a:srgbClr val="13375B"/>
            </a:solidFill>
            <a:prstDash val="solid"/>
          </a:ln>
        </p:spPr>
      </p:sp>
      <p:sp>
        <p:nvSpPr>
          <p:cNvPr id="3" name="Shape 1"/>
          <p:cNvSpPr/>
          <p:nvPr/>
        </p:nvSpPr>
        <p:spPr>
          <a:xfrm>
            <a:off x="10424160" y="4206240"/>
            <a:ext cx="3291840" cy="3291840"/>
          </a:xfrm>
          <a:prstGeom prst="ellipse">
            <a:avLst/>
          </a:prstGeom>
          <a:solidFill>
            <a:srgbClr val="13375B"/>
          </a:solidFill>
          <a:ln w="12700">
            <a:solidFill>
              <a:srgbClr val="13375B"/>
            </a:solidFill>
            <a:prstDash val="solid"/>
          </a:ln>
        </p:spPr>
      </p:sp>
      <p:sp>
        <p:nvSpPr>
          <p:cNvPr id="4" name="Text 2"/>
          <p:cNvSpPr txBox="1"/>
          <p:nvPr/>
        </p:nvSpPr>
        <p:spPr>
          <a:xfrm>
            <a:off x="822960" y="1234440"/>
            <a:ext cx="8229600" cy="274320"/>
          </a:xfrm>
          <a:prstGeom prst="rect">
            <a:avLst/>
          </a:prstGeom>
          <a:noFill/>
          <a:ln/>
        </p:spPr>
        <p:txBody>
          <a:bodyPr wrap="square" lIns="0" tIns="0" rIns="0" bIns="0" rtlCol="0" anchor="ctr"/>
          <a:lstStyle/>
          <a:p>
            <a:pPr indent="0" marL="0">
              <a:buNone/>
            </a:pPr>
            <a:r>
              <a:rPr lang="en-US" sz="1200" b="1" spc="250" kern="0" dirty="0">
                <a:solidFill>
                  <a:srgbClr val="5AD2C0"/>
                </a:solidFill>
                <a:latin typeface="Calibri" pitchFamily="34" charset="0"/>
                <a:ea typeface="Calibri" pitchFamily="34" charset="-122"/>
                <a:cs typeface="Calibri" pitchFamily="34" charset="-120"/>
              </a:rPr>
              <a:t>UNIVERSITY PROJECT  ·  AI + FINTECH</a:t>
            </a:r>
            <a:endParaRPr lang="en-US" sz="1200" dirty="0"/>
          </a:p>
        </p:txBody>
      </p:sp>
      <p:sp>
        <p:nvSpPr>
          <p:cNvPr id="5" name="Text 3"/>
          <p:cNvSpPr txBox="1"/>
          <p:nvPr/>
        </p:nvSpPr>
        <p:spPr>
          <a:xfrm>
            <a:off x="822960" y="1645920"/>
            <a:ext cx="8686800" cy="105156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FinWise AI</a:t>
            </a:r>
            <a:endParaRPr lang="en-US" sz="5800" dirty="0"/>
          </a:p>
        </p:txBody>
      </p:sp>
      <p:sp>
        <p:nvSpPr>
          <p:cNvPr id="6" name="Text 4"/>
          <p:cNvSpPr txBox="1"/>
          <p:nvPr/>
        </p:nvSpPr>
        <p:spPr>
          <a:xfrm>
            <a:off x="822960" y="2743200"/>
            <a:ext cx="8778240" cy="685800"/>
          </a:xfrm>
          <a:prstGeom prst="rect">
            <a:avLst/>
          </a:prstGeom>
          <a:noFill/>
          <a:ln/>
        </p:spPr>
        <p:txBody>
          <a:bodyPr wrap="square" lIns="0" tIns="0" rIns="0" bIns="0" rtlCol="0" anchor="ctr"/>
          <a:lstStyle/>
          <a:p>
            <a:pPr indent="0" marL="0">
              <a:buNone/>
            </a:pPr>
            <a:r>
              <a:rPr lang="en-US" sz="2100" dirty="0">
                <a:solidFill>
                  <a:srgbClr val="C7DBE2"/>
                </a:solidFill>
                <a:latin typeface="Calibri" pitchFamily="34" charset="0"/>
                <a:ea typeface="Calibri" pitchFamily="34" charset="-122"/>
                <a:cs typeface="Calibri" pitchFamily="34" charset="-120"/>
              </a:rPr>
              <a:t>AI-Powered Personal Financial Analysis and Smart Budget Assistant</a:t>
            </a:r>
            <a:endParaRPr lang="en-US" sz="2100" dirty="0"/>
          </a:p>
        </p:txBody>
      </p:sp>
      <p:sp>
        <p:nvSpPr>
          <p:cNvPr id="7" name="Text 5"/>
          <p:cNvSpPr txBox="1"/>
          <p:nvPr/>
        </p:nvSpPr>
        <p:spPr>
          <a:xfrm>
            <a:off x="822960" y="3429000"/>
            <a:ext cx="8229600" cy="365760"/>
          </a:xfrm>
          <a:prstGeom prst="rect">
            <a:avLst/>
          </a:prstGeom>
          <a:noFill/>
          <a:ln/>
        </p:spPr>
        <p:txBody>
          <a:bodyPr wrap="square" lIns="0" tIns="0" rIns="0" bIns="0" rtlCol="0" anchor="ctr"/>
          <a:lstStyle/>
          <a:p>
            <a:pPr indent="0" marL="0">
              <a:buNone/>
            </a:pPr>
            <a:r>
              <a:rPr lang="en-US" sz="1700" b="1" i="1" dirty="0">
                <a:solidFill>
                  <a:srgbClr val="5AD2C0"/>
                </a:solidFill>
                <a:latin typeface="Calibri" pitchFamily="34" charset="0"/>
                <a:ea typeface="Calibri" pitchFamily="34" charset="-122"/>
                <a:cs typeface="Calibri" pitchFamily="34" charset="-120"/>
              </a:rPr>
              <a:t>Understand your money. Plan your future.</a:t>
            </a:r>
            <a:endParaRPr lang="en-US" sz="1700" dirty="0"/>
          </a:p>
        </p:txBody>
      </p:sp>
      <p:sp>
        <p:nvSpPr>
          <p:cNvPr id="8" name="Shape 6"/>
          <p:cNvSpPr/>
          <p:nvPr/>
        </p:nvSpPr>
        <p:spPr>
          <a:xfrm>
            <a:off x="822960" y="4160520"/>
            <a:ext cx="1179576" cy="457200"/>
          </a:xfrm>
          <a:prstGeom prst="roundRect">
            <a:avLst>
              <a:gd name="adj" fmla="val 50000"/>
            </a:avLst>
          </a:prstGeom>
          <a:solidFill>
            <a:srgbClr val="13375B"/>
          </a:solidFill>
          <a:ln w="12700">
            <a:solidFill>
              <a:srgbClr val="17A398"/>
            </a:solidFill>
            <a:prstDash val="solid"/>
          </a:ln>
        </p:spPr>
      </p:sp>
      <p:sp>
        <p:nvSpPr>
          <p:cNvPr id="9" name="Text 7"/>
          <p:cNvSpPr txBox="1"/>
          <p:nvPr/>
        </p:nvSpPr>
        <p:spPr>
          <a:xfrm>
            <a:off x="822960" y="4160520"/>
            <a:ext cx="1179576"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Python</a:t>
            </a:r>
            <a:endParaRPr lang="en-US" sz="1350" dirty="0"/>
          </a:p>
        </p:txBody>
      </p:sp>
      <p:sp>
        <p:nvSpPr>
          <p:cNvPr id="10" name="Shape 8"/>
          <p:cNvSpPr/>
          <p:nvPr/>
        </p:nvSpPr>
        <p:spPr>
          <a:xfrm>
            <a:off x="2203704" y="4160520"/>
            <a:ext cx="1577340" cy="457200"/>
          </a:xfrm>
          <a:prstGeom prst="roundRect">
            <a:avLst>
              <a:gd name="adj" fmla="val 50000"/>
            </a:avLst>
          </a:prstGeom>
          <a:solidFill>
            <a:srgbClr val="13375B"/>
          </a:solidFill>
          <a:ln w="12700">
            <a:solidFill>
              <a:srgbClr val="17A398"/>
            </a:solidFill>
            <a:prstDash val="solid"/>
          </a:ln>
        </p:spPr>
      </p:sp>
      <p:sp>
        <p:nvSpPr>
          <p:cNvPr id="11" name="Text 9"/>
          <p:cNvSpPr txBox="1"/>
          <p:nvPr/>
        </p:nvSpPr>
        <p:spPr>
          <a:xfrm>
            <a:off x="2203704" y="4160520"/>
            <a:ext cx="157734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LangChain</a:t>
            </a:r>
            <a:endParaRPr lang="en-US" sz="1350" dirty="0"/>
          </a:p>
        </p:txBody>
      </p:sp>
      <p:sp>
        <p:nvSpPr>
          <p:cNvPr id="12" name="Shape 10"/>
          <p:cNvSpPr/>
          <p:nvPr/>
        </p:nvSpPr>
        <p:spPr>
          <a:xfrm>
            <a:off x="3982212" y="4160520"/>
            <a:ext cx="1179576" cy="457200"/>
          </a:xfrm>
          <a:prstGeom prst="roundRect">
            <a:avLst>
              <a:gd name="adj" fmla="val 50000"/>
            </a:avLst>
          </a:prstGeom>
          <a:solidFill>
            <a:srgbClr val="13375B"/>
          </a:solidFill>
          <a:ln w="12700">
            <a:solidFill>
              <a:srgbClr val="17A398"/>
            </a:solidFill>
            <a:prstDash val="solid"/>
          </a:ln>
        </p:spPr>
      </p:sp>
      <p:sp>
        <p:nvSpPr>
          <p:cNvPr id="13" name="Text 11"/>
          <p:cNvSpPr txBox="1"/>
          <p:nvPr/>
        </p:nvSpPr>
        <p:spPr>
          <a:xfrm>
            <a:off x="3982212" y="4160520"/>
            <a:ext cx="1179576"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OpenAI</a:t>
            </a:r>
            <a:endParaRPr lang="en-US" sz="1350" dirty="0"/>
          </a:p>
        </p:txBody>
      </p:sp>
      <p:sp>
        <p:nvSpPr>
          <p:cNvPr id="14" name="Shape 12"/>
          <p:cNvSpPr/>
          <p:nvPr/>
        </p:nvSpPr>
        <p:spPr>
          <a:xfrm>
            <a:off x="5362956" y="4160520"/>
            <a:ext cx="1577340" cy="457200"/>
          </a:xfrm>
          <a:prstGeom prst="roundRect">
            <a:avLst>
              <a:gd name="adj" fmla="val 50000"/>
            </a:avLst>
          </a:prstGeom>
          <a:solidFill>
            <a:srgbClr val="13375B"/>
          </a:solidFill>
          <a:ln w="12700">
            <a:solidFill>
              <a:srgbClr val="17A398"/>
            </a:solidFill>
            <a:prstDash val="solid"/>
          </a:ln>
        </p:spPr>
      </p:sp>
      <p:sp>
        <p:nvSpPr>
          <p:cNvPr id="15" name="Text 13"/>
          <p:cNvSpPr txBox="1"/>
          <p:nvPr/>
        </p:nvSpPr>
        <p:spPr>
          <a:xfrm>
            <a:off x="5362956" y="4160520"/>
            <a:ext cx="157734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Streamlit</a:t>
            </a:r>
            <a:endParaRPr lang="en-US" sz="1350" dirty="0"/>
          </a:p>
        </p:txBody>
      </p:sp>
      <p:sp>
        <p:nvSpPr>
          <p:cNvPr id="16" name="Shape 14"/>
          <p:cNvSpPr/>
          <p:nvPr/>
        </p:nvSpPr>
        <p:spPr>
          <a:xfrm>
            <a:off x="822960" y="5074920"/>
            <a:ext cx="8138160" cy="566928"/>
          </a:xfrm>
          <a:prstGeom prst="roundRect">
            <a:avLst>
              <a:gd name="adj" fmla="val 16129"/>
            </a:avLst>
          </a:prstGeom>
          <a:solidFill>
            <a:srgbClr val="16324F"/>
          </a:solidFill>
          <a:ln w="12700">
            <a:solidFill>
              <a:srgbClr val="2C5273"/>
            </a:solidFill>
            <a:prstDash val="solid"/>
          </a:ln>
        </p:spPr>
      </p:sp>
      <p:sp>
        <p:nvSpPr>
          <p:cNvPr id="17" name="Text 15"/>
          <p:cNvSpPr txBox="1"/>
          <p:nvPr/>
        </p:nvSpPr>
        <p:spPr>
          <a:xfrm>
            <a:off x="1005840" y="5074920"/>
            <a:ext cx="7772400" cy="566928"/>
          </a:xfrm>
          <a:prstGeom prst="rect">
            <a:avLst/>
          </a:prstGeom>
          <a:noFill/>
          <a:ln/>
        </p:spPr>
        <p:txBody>
          <a:bodyPr wrap="square" lIns="0" tIns="0" rIns="0" bIns="0" rtlCol="0" anchor="ctr"/>
          <a:lstStyle/>
          <a:p>
            <a:pPr indent="0" marL="0">
              <a:buNone/>
            </a:pPr>
            <a:r>
              <a:rPr lang="en-US" sz="1350" b="1" dirty="0">
                <a:solidFill>
                  <a:srgbClr val="F2C57C"/>
                </a:solidFill>
                <a:latin typeface="Calibri" pitchFamily="34" charset="0"/>
                <a:ea typeface="Calibri" pitchFamily="34" charset="-122"/>
                <a:cs typeface="Calibri" pitchFamily="34" charset="-120"/>
              </a:rPr>
              <a:t>Educational prototype only - not guaranteed financial advice.</a:t>
            </a:r>
            <a:endParaRPr lang="en-US" sz="1350" dirty="0"/>
          </a:p>
        </p:txBody>
      </p:sp>
      <p:sp>
        <p:nvSpPr>
          <p:cNvPr id="18" name="Text 16"/>
          <p:cNvSpPr txBox="1"/>
          <p:nvPr/>
        </p:nvSpPr>
        <p:spPr>
          <a:xfrm>
            <a:off x="822960" y="5989320"/>
            <a:ext cx="9144000" cy="274320"/>
          </a:xfrm>
          <a:prstGeom prst="rect">
            <a:avLst/>
          </a:prstGeom>
          <a:noFill/>
          <a:ln/>
        </p:spPr>
        <p:txBody>
          <a:bodyPr wrap="square" lIns="0" tIns="0" rIns="0" bIns="0" rtlCol="0" anchor="ctr"/>
          <a:lstStyle/>
          <a:p>
            <a:pPr indent="0" marL="0">
              <a:buNone/>
            </a:pPr>
            <a:r>
              <a:rPr lang="en-US" sz="1150" dirty="0">
                <a:solidFill>
                  <a:srgbClr val="8FA9B6"/>
                </a:solidFill>
                <a:latin typeface="Calibri" pitchFamily="34" charset="0"/>
                <a:ea typeface="Calibri" pitchFamily="34" charset="-122"/>
                <a:cs typeface="Calibri" pitchFamily="34" charset="-120"/>
              </a:rPr>
              <a:t>Presented by:  ______________________        Course:  ______________________</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2</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Problem &amp; Objective</a:t>
            </a:r>
            <a:endParaRPr lang="en-US" sz="3000" dirty="0"/>
          </a:p>
        </p:txBody>
      </p:sp>
      <p:sp>
        <p:nvSpPr>
          <p:cNvPr id="4" name="Shape 2"/>
          <p:cNvSpPr/>
          <p:nvPr/>
        </p:nvSpPr>
        <p:spPr>
          <a:xfrm>
            <a:off x="548640" y="1325880"/>
            <a:ext cx="5440680" cy="3246120"/>
          </a:xfrm>
          <a:prstGeom prst="roundRect">
            <a:avLst>
              <a:gd name="adj" fmla="val 2535"/>
            </a:avLst>
          </a:prstGeom>
          <a:solidFill>
            <a:srgbClr val="FBF1F0"/>
          </a:solidFill>
          <a:ln w="12700">
            <a:solidFill>
              <a:srgbClr val="EBCFCC"/>
            </a:solidFill>
            <a:prstDash val="solid"/>
          </a:ln>
        </p:spPr>
      </p:sp>
      <p:sp>
        <p:nvSpPr>
          <p:cNvPr id="5" name="Shape 3"/>
          <p:cNvSpPr/>
          <p:nvPr/>
        </p:nvSpPr>
        <p:spPr>
          <a:xfrm>
            <a:off x="822960" y="1572768"/>
            <a:ext cx="384048" cy="384048"/>
          </a:xfrm>
          <a:prstGeom prst="ellipse">
            <a:avLst/>
          </a:prstGeom>
          <a:solidFill>
            <a:srgbClr val="B3322B"/>
          </a:solidFill>
          <a:ln w="12700">
            <a:solidFill>
              <a:srgbClr val="B3322B"/>
            </a:solidFill>
            <a:prstDash val="solid"/>
          </a:ln>
        </p:spPr>
      </p:sp>
      <p:sp>
        <p:nvSpPr>
          <p:cNvPr id="6" name="Text 4"/>
          <p:cNvSpPr txBox="1"/>
          <p:nvPr/>
        </p:nvSpPr>
        <p:spPr>
          <a:xfrm>
            <a:off x="822960"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txBox="1"/>
          <p:nvPr/>
        </p:nvSpPr>
        <p:spPr>
          <a:xfrm>
            <a:off x="1325880" y="1572768"/>
            <a:ext cx="4389120" cy="384048"/>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The problem</a:t>
            </a:r>
            <a:endParaRPr lang="en-US" sz="2000" dirty="0"/>
          </a:p>
        </p:txBody>
      </p:sp>
      <p:sp>
        <p:nvSpPr>
          <p:cNvPr id="8" name="Text 6"/>
          <p:cNvSpPr txBox="1"/>
          <p:nvPr/>
        </p:nvSpPr>
        <p:spPr>
          <a:xfrm>
            <a:off x="914400" y="2240280"/>
            <a:ext cx="4846320" cy="21488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12222F"/>
                </a:solidFill>
                <a:latin typeface="Calibri" pitchFamily="34" charset="0"/>
                <a:ea typeface="Calibri" pitchFamily="34" charset="-122"/>
                <a:cs typeface="Calibri" pitchFamily="34" charset="-120"/>
              </a:rPr>
              <a:t>People struggle to understand where their money actually goes each month.</a:t>
            </a:r>
            <a:endParaRPr lang="en-US" sz="1400" dirty="0"/>
          </a:p>
          <a:p>
            <a:pPr marL="342900" indent="-342900">
              <a:spcAft>
                <a:spcPts val="1200"/>
              </a:spcAft>
              <a:buSzPct val="100000"/>
              <a:buChar char="•"/>
            </a:pPr>
            <a:r>
              <a:rPr lang="en-US" sz="1400" dirty="0">
                <a:solidFill>
                  <a:srgbClr val="12222F"/>
                </a:solidFill>
                <a:latin typeface="Calibri" pitchFamily="34" charset="0"/>
                <a:ea typeface="Calibri" pitchFamily="34" charset="-122"/>
                <a:cs typeface="Calibri" pitchFamily="34" charset="-120"/>
              </a:rPr>
              <a:t>Generic online financial advice ignores their real numbers.</a:t>
            </a:r>
            <a:endParaRPr lang="en-US" sz="1400" dirty="0"/>
          </a:p>
          <a:p>
            <a:pPr marL="342900" indent="-342900">
              <a:spcAft>
                <a:spcPts val="1200"/>
              </a:spcAft>
              <a:buSzPct val="100000"/>
              <a:buChar char="•"/>
            </a:pPr>
            <a:r>
              <a:rPr lang="en-US" sz="1400" dirty="0">
                <a:solidFill>
                  <a:srgbClr val="12222F"/>
                </a:solidFill>
                <a:latin typeface="Calibri" pitchFamily="34" charset="0"/>
                <a:ea typeface="Calibri" pitchFamily="34" charset="-122"/>
                <a:cs typeface="Calibri" pitchFamily="34" charset="-120"/>
              </a:rPr>
              <a:t>Users need one structured monthly overview instead of scattered notes.</a:t>
            </a:r>
            <a:endParaRPr lang="en-US" sz="1400" dirty="0"/>
          </a:p>
        </p:txBody>
      </p:sp>
      <p:sp>
        <p:nvSpPr>
          <p:cNvPr id="9" name="Shape 7"/>
          <p:cNvSpPr/>
          <p:nvPr/>
        </p:nvSpPr>
        <p:spPr>
          <a:xfrm>
            <a:off x="6199632" y="1325880"/>
            <a:ext cx="5440680" cy="3246120"/>
          </a:xfrm>
          <a:prstGeom prst="roundRect">
            <a:avLst>
              <a:gd name="adj" fmla="val 2535"/>
            </a:avLst>
          </a:prstGeom>
          <a:solidFill>
            <a:srgbClr val="F1F7F8"/>
          </a:solidFill>
          <a:ln w="12700">
            <a:solidFill>
              <a:srgbClr val="D3E1E5"/>
            </a:solidFill>
            <a:prstDash val="solid"/>
          </a:ln>
        </p:spPr>
      </p:sp>
      <p:sp>
        <p:nvSpPr>
          <p:cNvPr id="10" name="Shape 8"/>
          <p:cNvSpPr/>
          <p:nvPr/>
        </p:nvSpPr>
        <p:spPr>
          <a:xfrm>
            <a:off x="6473952" y="1572768"/>
            <a:ext cx="384048" cy="384048"/>
          </a:xfrm>
          <a:prstGeom prst="ellipse">
            <a:avLst/>
          </a:prstGeom>
          <a:solidFill>
            <a:srgbClr val="0E7C7B"/>
          </a:solidFill>
          <a:ln w="12700">
            <a:solidFill>
              <a:srgbClr val="0E7C7B"/>
            </a:solidFill>
            <a:prstDash val="solid"/>
          </a:ln>
        </p:spPr>
      </p:sp>
      <p:sp>
        <p:nvSpPr>
          <p:cNvPr id="11" name="Text 9"/>
          <p:cNvSpPr txBox="1"/>
          <p:nvPr/>
        </p:nvSpPr>
        <p:spPr>
          <a:xfrm>
            <a:off x="6473952" y="15727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6976872" y="1572768"/>
            <a:ext cx="4389120" cy="384048"/>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The objective</a:t>
            </a:r>
            <a:endParaRPr lang="en-US" sz="2000" dirty="0"/>
          </a:p>
        </p:txBody>
      </p:sp>
      <p:sp>
        <p:nvSpPr>
          <p:cNvPr id="13" name="Text 11"/>
          <p:cNvSpPr txBox="1"/>
          <p:nvPr/>
        </p:nvSpPr>
        <p:spPr>
          <a:xfrm>
            <a:off x="6565392" y="2240280"/>
            <a:ext cx="484632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2222F"/>
                </a:solidFill>
                <a:latin typeface="Calibri" pitchFamily="34" charset="0"/>
                <a:ea typeface="Calibri" pitchFamily="34" charset="-122"/>
                <a:cs typeface="Calibri" pitchFamily="34" charset="-120"/>
              </a:rPr>
              <a:t>Analyse monthly income and expenses.</a:t>
            </a:r>
            <a:endParaRPr lang="en-US" sz="1400" dirty="0"/>
          </a:p>
          <a:p>
            <a:pPr marL="342900" indent="-342900">
              <a:spcAft>
                <a:spcPts val="800"/>
              </a:spcAft>
              <a:buSzPct val="100000"/>
              <a:buChar char="•"/>
            </a:pPr>
            <a:r>
              <a:rPr lang="en-US" sz="1400" dirty="0">
                <a:solidFill>
                  <a:srgbClr val="12222F"/>
                </a:solidFill>
                <a:latin typeface="Calibri" pitchFamily="34" charset="0"/>
                <a:ea typeface="Calibri" pitchFamily="34" charset="-122"/>
                <a:cs typeface="Calibri" pitchFamily="34" charset="-120"/>
              </a:rPr>
              <a:t>Identify high-expense areas.</a:t>
            </a:r>
            <a:endParaRPr lang="en-US" sz="1400" dirty="0"/>
          </a:p>
          <a:p>
            <a:pPr marL="342900" indent="-342900">
              <a:spcAft>
                <a:spcPts val="800"/>
              </a:spcAft>
              <a:buSzPct val="100000"/>
              <a:buChar char="•"/>
            </a:pPr>
            <a:r>
              <a:rPr lang="en-US" sz="1400" dirty="0">
                <a:solidFill>
                  <a:srgbClr val="12222F"/>
                </a:solidFill>
                <a:latin typeface="Calibri" pitchFamily="34" charset="0"/>
                <a:ea typeface="Calibri" pitchFamily="34" charset="-122"/>
                <a:cs typeface="Calibri" pitchFamily="34" charset="-120"/>
              </a:rPr>
              <a:t>Calculate savings potential.</a:t>
            </a:r>
            <a:endParaRPr lang="en-US" sz="1400" dirty="0"/>
          </a:p>
          <a:p>
            <a:pPr marL="342900" indent="-342900">
              <a:spcAft>
                <a:spcPts val="800"/>
              </a:spcAft>
              <a:buSzPct val="100000"/>
              <a:buChar char="•"/>
            </a:pPr>
            <a:r>
              <a:rPr lang="en-US" sz="1400" dirty="0">
                <a:solidFill>
                  <a:srgbClr val="12222F"/>
                </a:solidFill>
                <a:latin typeface="Calibri" pitchFamily="34" charset="0"/>
                <a:ea typeface="Calibri" pitchFamily="34" charset="-122"/>
                <a:cs typeface="Calibri" pitchFamily="34" charset="-120"/>
              </a:rPr>
              <a:t>Generate budgeting suggestions.</a:t>
            </a:r>
            <a:endParaRPr lang="en-US" sz="1400" dirty="0"/>
          </a:p>
          <a:p>
            <a:pPr marL="342900" indent="-342900">
              <a:spcAft>
                <a:spcPts val="800"/>
              </a:spcAft>
              <a:buSzPct val="100000"/>
              <a:buChar char="•"/>
            </a:pPr>
            <a:r>
              <a:rPr lang="en-US" sz="1400" dirty="0">
                <a:solidFill>
                  <a:srgbClr val="12222F"/>
                </a:solidFill>
                <a:latin typeface="Calibri" pitchFamily="34" charset="0"/>
                <a:ea typeface="Calibri" pitchFamily="34" charset="-122"/>
                <a:cs typeface="Calibri" pitchFamily="34" charset="-120"/>
              </a:rPr>
              <a:t>Identify financial-risk patterns.</a:t>
            </a:r>
            <a:endParaRPr lang="en-US" sz="1400" dirty="0"/>
          </a:p>
        </p:txBody>
      </p:sp>
      <p:sp>
        <p:nvSpPr>
          <p:cNvPr id="14" name="Shape 12"/>
          <p:cNvSpPr/>
          <p:nvPr/>
        </p:nvSpPr>
        <p:spPr>
          <a:xfrm>
            <a:off x="548640" y="4754880"/>
            <a:ext cx="3575304" cy="777240"/>
          </a:xfrm>
          <a:prstGeom prst="roundRect">
            <a:avLst>
              <a:gd name="adj" fmla="val 10588"/>
            </a:avLst>
          </a:prstGeom>
          <a:solidFill>
            <a:srgbClr val="FFFFFF"/>
          </a:solidFill>
          <a:ln w="12700">
            <a:solidFill>
              <a:srgbClr val="D3E1E5"/>
            </a:solidFill>
            <a:prstDash val="solid"/>
          </a:ln>
        </p:spPr>
      </p:sp>
      <p:sp>
        <p:nvSpPr>
          <p:cNvPr id="15" name="Text 13"/>
          <p:cNvSpPr txBox="1"/>
          <p:nvPr/>
        </p:nvSpPr>
        <p:spPr>
          <a:xfrm>
            <a:off x="749808" y="4846320"/>
            <a:ext cx="3200400" cy="27432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Numbers in</a:t>
            </a:r>
            <a:endParaRPr lang="en-US" sz="1400" dirty="0"/>
          </a:p>
        </p:txBody>
      </p:sp>
      <p:sp>
        <p:nvSpPr>
          <p:cNvPr id="16" name="Text 14"/>
          <p:cNvSpPr txBox="1"/>
          <p:nvPr/>
        </p:nvSpPr>
        <p:spPr>
          <a:xfrm>
            <a:off x="749808" y="5120640"/>
            <a:ext cx="3200400" cy="292608"/>
          </a:xfrm>
          <a:prstGeom prst="rect">
            <a:avLst/>
          </a:prstGeom>
          <a:noFill/>
          <a:ln/>
        </p:spPr>
        <p:txBody>
          <a:bodyPr wrap="square" lIns="0" tIns="0" rIns="0" bIns="0" rtlCol="0" anchor="ctr"/>
          <a:lstStyle/>
          <a:p>
            <a:pPr indent="0" marL="0">
              <a:buNone/>
            </a:pPr>
            <a:r>
              <a:rPr lang="en-US" sz="1200" dirty="0">
                <a:solidFill>
                  <a:srgbClr val="5A6B78"/>
                </a:solidFill>
                <a:latin typeface="Calibri" pitchFamily="34" charset="0"/>
                <a:ea typeface="Calibri" pitchFamily="34" charset="-122"/>
                <a:cs typeface="Calibri" pitchFamily="34" charset="-120"/>
              </a:rPr>
              <a:t>income + 9 expense categories</a:t>
            </a:r>
            <a:endParaRPr lang="en-US" sz="1200" dirty="0"/>
          </a:p>
        </p:txBody>
      </p:sp>
      <p:sp>
        <p:nvSpPr>
          <p:cNvPr id="17" name="Shape 15"/>
          <p:cNvSpPr/>
          <p:nvPr/>
        </p:nvSpPr>
        <p:spPr>
          <a:xfrm>
            <a:off x="4306824" y="4754880"/>
            <a:ext cx="3575304" cy="777240"/>
          </a:xfrm>
          <a:prstGeom prst="roundRect">
            <a:avLst>
              <a:gd name="adj" fmla="val 10588"/>
            </a:avLst>
          </a:prstGeom>
          <a:solidFill>
            <a:srgbClr val="FFFFFF"/>
          </a:solidFill>
          <a:ln w="12700">
            <a:solidFill>
              <a:srgbClr val="D3E1E5"/>
            </a:solidFill>
            <a:prstDash val="solid"/>
          </a:ln>
        </p:spPr>
      </p:sp>
      <p:sp>
        <p:nvSpPr>
          <p:cNvPr id="18" name="Text 16"/>
          <p:cNvSpPr txBox="1"/>
          <p:nvPr/>
        </p:nvSpPr>
        <p:spPr>
          <a:xfrm>
            <a:off x="4507992" y="4846320"/>
            <a:ext cx="3200400" cy="27432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Python computes</a:t>
            </a:r>
            <a:endParaRPr lang="en-US" sz="1400" dirty="0"/>
          </a:p>
        </p:txBody>
      </p:sp>
      <p:sp>
        <p:nvSpPr>
          <p:cNvPr id="19" name="Text 17"/>
          <p:cNvSpPr txBox="1"/>
          <p:nvPr/>
        </p:nvSpPr>
        <p:spPr>
          <a:xfrm>
            <a:off x="4507992" y="5120640"/>
            <a:ext cx="3200400" cy="292608"/>
          </a:xfrm>
          <a:prstGeom prst="rect">
            <a:avLst/>
          </a:prstGeom>
          <a:noFill/>
          <a:ln/>
        </p:spPr>
        <p:txBody>
          <a:bodyPr wrap="square" lIns="0" tIns="0" rIns="0" bIns="0" rtlCol="0" anchor="ctr"/>
          <a:lstStyle/>
          <a:p>
            <a:pPr indent="0" marL="0">
              <a:buNone/>
            </a:pPr>
            <a:r>
              <a:rPr lang="en-US" sz="1200" dirty="0">
                <a:solidFill>
                  <a:srgbClr val="5A6B78"/>
                </a:solidFill>
                <a:latin typeface="Calibri" pitchFamily="34" charset="0"/>
                <a:ea typeface="Calibri" pitchFamily="34" charset="-122"/>
                <a:cs typeface="Calibri" pitchFamily="34" charset="-120"/>
              </a:rPr>
              <a:t>ratios and a 0-100 score</a:t>
            </a:r>
            <a:endParaRPr lang="en-US" sz="1200" dirty="0"/>
          </a:p>
        </p:txBody>
      </p:sp>
      <p:sp>
        <p:nvSpPr>
          <p:cNvPr id="20" name="Shape 18"/>
          <p:cNvSpPr/>
          <p:nvPr/>
        </p:nvSpPr>
        <p:spPr>
          <a:xfrm>
            <a:off x="8065008" y="4754880"/>
            <a:ext cx="3575304" cy="777240"/>
          </a:xfrm>
          <a:prstGeom prst="roundRect">
            <a:avLst>
              <a:gd name="adj" fmla="val 10588"/>
            </a:avLst>
          </a:prstGeom>
          <a:solidFill>
            <a:srgbClr val="FFFFFF"/>
          </a:solidFill>
          <a:ln w="12700">
            <a:solidFill>
              <a:srgbClr val="D3E1E5"/>
            </a:solidFill>
            <a:prstDash val="solid"/>
          </a:ln>
        </p:spPr>
      </p:sp>
      <p:sp>
        <p:nvSpPr>
          <p:cNvPr id="21" name="Text 19"/>
          <p:cNvSpPr txBox="1"/>
          <p:nvPr/>
        </p:nvSpPr>
        <p:spPr>
          <a:xfrm>
            <a:off x="8266176" y="4846320"/>
            <a:ext cx="3200400" cy="27432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AI explains</a:t>
            </a:r>
            <a:endParaRPr lang="en-US" sz="1400" dirty="0"/>
          </a:p>
        </p:txBody>
      </p:sp>
      <p:sp>
        <p:nvSpPr>
          <p:cNvPr id="22" name="Text 20"/>
          <p:cNvSpPr txBox="1"/>
          <p:nvPr/>
        </p:nvSpPr>
        <p:spPr>
          <a:xfrm>
            <a:off x="8266176" y="5120640"/>
            <a:ext cx="3200400" cy="292608"/>
          </a:xfrm>
          <a:prstGeom prst="rect">
            <a:avLst/>
          </a:prstGeom>
          <a:noFill/>
          <a:ln/>
        </p:spPr>
        <p:txBody>
          <a:bodyPr wrap="square" lIns="0" tIns="0" rIns="0" bIns="0" rtlCol="0" anchor="ctr"/>
          <a:lstStyle/>
          <a:p>
            <a:pPr indent="0" marL="0">
              <a:buNone/>
            </a:pPr>
            <a:r>
              <a:rPr lang="en-US" sz="1200" dirty="0">
                <a:solidFill>
                  <a:srgbClr val="5A6B78"/>
                </a:solidFill>
                <a:latin typeface="Calibri" pitchFamily="34" charset="0"/>
                <a:ea typeface="Calibri" pitchFamily="34" charset="-122"/>
                <a:cs typeface="Calibri" pitchFamily="34" charset="-120"/>
              </a:rPr>
              <a:t>structured budgeting guidance</a:t>
            </a:r>
            <a:endParaRPr lang="en-US" sz="1200" dirty="0"/>
          </a:p>
        </p:txBody>
      </p:sp>
      <p:sp>
        <p:nvSpPr>
          <p:cNvPr id="23" name="Shape 21"/>
          <p:cNvSpPr/>
          <p:nvPr/>
        </p:nvSpPr>
        <p:spPr>
          <a:xfrm>
            <a:off x="548640" y="5760720"/>
            <a:ext cx="11091672" cy="475488"/>
          </a:xfrm>
          <a:prstGeom prst="roundRect">
            <a:avLst>
              <a:gd name="adj" fmla="val 15385"/>
            </a:avLst>
          </a:prstGeom>
          <a:solidFill>
            <a:srgbClr val="FDF3E3"/>
          </a:solidFill>
          <a:ln w="12700">
            <a:solidFill>
              <a:srgbClr val="EAD3A8"/>
            </a:solidFill>
            <a:prstDash val="solid"/>
          </a:ln>
        </p:spPr>
      </p:sp>
      <p:sp>
        <p:nvSpPr>
          <p:cNvPr id="24" name="Text 22"/>
          <p:cNvSpPr txBox="1"/>
          <p:nvPr/>
        </p:nvSpPr>
        <p:spPr>
          <a:xfrm>
            <a:off x="731520" y="5760720"/>
            <a:ext cx="10789920" cy="475488"/>
          </a:xfrm>
          <a:prstGeom prst="rect">
            <a:avLst/>
          </a:prstGeom>
          <a:noFill/>
          <a:ln/>
        </p:spPr>
        <p:txBody>
          <a:bodyPr wrap="square" lIns="0" tIns="0" rIns="0" bIns="0" rtlCol="0" anchor="ctr"/>
          <a:lstStyle/>
          <a:p>
            <a:pPr indent="0" marL="0">
              <a:buNone/>
            </a:pPr>
            <a:r>
              <a:rPr lang="en-US" sz="1250" b="1" dirty="0">
                <a:solidFill>
                  <a:srgbClr val="8A5A12"/>
                </a:solidFill>
                <a:latin typeface="Calibri" pitchFamily="34" charset="0"/>
                <a:ea typeface="Calibri" pitchFamily="34" charset="-122"/>
                <a:cs typeface="Calibri" pitchFamily="34" charset="-120"/>
              </a:rPr>
              <a:t>Educational only - FinWise AI does not provide guaranteed or personalised financial advice.</a:t>
            </a:r>
            <a:endParaRPr lang="en-US" sz="1250" dirty="0"/>
          </a:p>
        </p:txBody>
      </p:sp>
      <p:sp>
        <p:nvSpPr>
          <p:cNvPr id="25" name="Text 23"/>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3</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548640" y="1371600"/>
            <a:ext cx="3575304" cy="914400"/>
          </a:xfrm>
          <a:prstGeom prst="roundRect">
            <a:avLst>
              <a:gd name="adj" fmla="val 9000"/>
            </a:avLst>
          </a:prstGeom>
          <a:solidFill>
            <a:srgbClr val="E7F1F3"/>
          </a:solidFill>
          <a:ln w="12700">
            <a:solidFill>
              <a:srgbClr val="D3E1E5"/>
            </a:solidFill>
            <a:prstDash val="solid"/>
          </a:ln>
        </p:spPr>
      </p:sp>
      <p:sp>
        <p:nvSpPr>
          <p:cNvPr id="5" name="Shape 3"/>
          <p:cNvSpPr/>
          <p:nvPr/>
        </p:nvSpPr>
        <p:spPr>
          <a:xfrm>
            <a:off x="731520" y="1536192"/>
            <a:ext cx="310896" cy="310896"/>
          </a:xfrm>
          <a:prstGeom prst="ellipse">
            <a:avLst/>
          </a:prstGeom>
          <a:solidFill>
            <a:srgbClr val="0E7C7B"/>
          </a:solidFill>
          <a:ln w="12700">
            <a:solidFill>
              <a:srgbClr val="0E7C7B"/>
            </a:solidFill>
            <a:prstDash val="solid"/>
          </a:ln>
        </p:spPr>
      </p:sp>
      <p:sp>
        <p:nvSpPr>
          <p:cNvPr id="6" name="Text 4"/>
          <p:cNvSpPr txBox="1"/>
          <p:nvPr/>
        </p:nvSpPr>
        <p:spPr>
          <a:xfrm>
            <a:off x="73152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15568" y="1499616"/>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Python 3.10+</a:t>
            </a:r>
            <a:endParaRPr lang="en-US" sz="1400" dirty="0"/>
          </a:p>
        </p:txBody>
      </p:sp>
      <p:sp>
        <p:nvSpPr>
          <p:cNvPr id="8" name="Text 6"/>
          <p:cNvSpPr txBox="1"/>
          <p:nvPr/>
        </p:nvSpPr>
        <p:spPr>
          <a:xfrm>
            <a:off x="1115568" y="1792224"/>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Core language for all logic and calculations</a:t>
            </a:r>
            <a:endParaRPr lang="en-US" sz="1150" dirty="0"/>
          </a:p>
        </p:txBody>
      </p:sp>
      <p:sp>
        <p:nvSpPr>
          <p:cNvPr id="9" name="Shape 7"/>
          <p:cNvSpPr/>
          <p:nvPr/>
        </p:nvSpPr>
        <p:spPr>
          <a:xfrm>
            <a:off x="4306824" y="1371600"/>
            <a:ext cx="3575304" cy="914400"/>
          </a:xfrm>
          <a:prstGeom prst="roundRect">
            <a:avLst>
              <a:gd name="adj" fmla="val 9000"/>
            </a:avLst>
          </a:prstGeom>
          <a:solidFill>
            <a:srgbClr val="F1F7F8"/>
          </a:solidFill>
          <a:ln w="12700">
            <a:solidFill>
              <a:srgbClr val="D3E1E5"/>
            </a:solidFill>
            <a:prstDash val="solid"/>
          </a:ln>
        </p:spPr>
      </p:sp>
      <p:sp>
        <p:nvSpPr>
          <p:cNvPr id="10" name="Shape 8"/>
          <p:cNvSpPr/>
          <p:nvPr/>
        </p:nvSpPr>
        <p:spPr>
          <a:xfrm>
            <a:off x="4489704" y="1536192"/>
            <a:ext cx="310896" cy="310896"/>
          </a:xfrm>
          <a:prstGeom prst="ellipse">
            <a:avLst/>
          </a:prstGeom>
          <a:solidFill>
            <a:srgbClr val="0B2545"/>
          </a:solidFill>
          <a:ln w="12700">
            <a:solidFill>
              <a:srgbClr val="0B2545"/>
            </a:solidFill>
            <a:prstDash val="solid"/>
          </a:ln>
        </p:spPr>
      </p:sp>
      <p:sp>
        <p:nvSpPr>
          <p:cNvPr id="11" name="Text 9"/>
          <p:cNvSpPr txBox="1"/>
          <p:nvPr/>
        </p:nvSpPr>
        <p:spPr>
          <a:xfrm>
            <a:off x="4489704"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873752" y="1499616"/>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Streamlit</a:t>
            </a:r>
            <a:endParaRPr lang="en-US" sz="1400" dirty="0"/>
          </a:p>
        </p:txBody>
      </p:sp>
      <p:sp>
        <p:nvSpPr>
          <p:cNvPr id="13" name="Text 11"/>
          <p:cNvSpPr txBox="1"/>
          <p:nvPr/>
        </p:nvSpPr>
        <p:spPr>
          <a:xfrm>
            <a:off x="4873752" y="1792224"/>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Web interface, forms and dashboard</a:t>
            </a:r>
            <a:endParaRPr lang="en-US" sz="1150" dirty="0"/>
          </a:p>
        </p:txBody>
      </p:sp>
      <p:sp>
        <p:nvSpPr>
          <p:cNvPr id="14" name="Shape 12"/>
          <p:cNvSpPr/>
          <p:nvPr/>
        </p:nvSpPr>
        <p:spPr>
          <a:xfrm>
            <a:off x="8065008" y="1371600"/>
            <a:ext cx="3575304" cy="914400"/>
          </a:xfrm>
          <a:prstGeom prst="roundRect">
            <a:avLst>
              <a:gd name="adj" fmla="val 9000"/>
            </a:avLst>
          </a:prstGeom>
          <a:solidFill>
            <a:srgbClr val="F1F7F8"/>
          </a:solidFill>
          <a:ln w="12700">
            <a:solidFill>
              <a:srgbClr val="D3E1E5"/>
            </a:solidFill>
            <a:prstDash val="solid"/>
          </a:ln>
        </p:spPr>
      </p:sp>
      <p:sp>
        <p:nvSpPr>
          <p:cNvPr id="15" name="Shape 13"/>
          <p:cNvSpPr/>
          <p:nvPr/>
        </p:nvSpPr>
        <p:spPr>
          <a:xfrm>
            <a:off x="8247888" y="1536192"/>
            <a:ext cx="310896" cy="310896"/>
          </a:xfrm>
          <a:prstGeom prst="ellipse">
            <a:avLst/>
          </a:prstGeom>
          <a:solidFill>
            <a:srgbClr val="0E7C7B"/>
          </a:solidFill>
          <a:ln w="12700">
            <a:solidFill>
              <a:srgbClr val="0E7C7B"/>
            </a:solidFill>
            <a:prstDash val="solid"/>
          </a:ln>
        </p:spPr>
      </p:sp>
      <p:sp>
        <p:nvSpPr>
          <p:cNvPr id="16" name="Text 14"/>
          <p:cNvSpPr txBox="1"/>
          <p:nvPr/>
        </p:nvSpPr>
        <p:spPr>
          <a:xfrm>
            <a:off x="8247888"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631936" y="1499616"/>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LangChain</a:t>
            </a:r>
            <a:endParaRPr lang="en-US" sz="1400" dirty="0"/>
          </a:p>
        </p:txBody>
      </p:sp>
      <p:sp>
        <p:nvSpPr>
          <p:cNvPr id="18" name="Text 16"/>
          <p:cNvSpPr txBox="1"/>
          <p:nvPr/>
        </p:nvSpPr>
        <p:spPr>
          <a:xfrm>
            <a:off x="8631936" y="1792224"/>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Prompts, chains and caching framework</a:t>
            </a:r>
            <a:endParaRPr lang="en-US" sz="1150" dirty="0"/>
          </a:p>
        </p:txBody>
      </p:sp>
      <p:sp>
        <p:nvSpPr>
          <p:cNvPr id="19" name="Shape 17"/>
          <p:cNvSpPr/>
          <p:nvPr/>
        </p:nvSpPr>
        <p:spPr>
          <a:xfrm>
            <a:off x="548640" y="2487168"/>
            <a:ext cx="3575304" cy="914400"/>
          </a:xfrm>
          <a:prstGeom prst="roundRect">
            <a:avLst>
              <a:gd name="adj" fmla="val 9000"/>
            </a:avLst>
          </a:prstGeom>
          <a:solidFill>
            <a:srgbClr val="F1F7F8"/>
          </a:solidFill>
          <a:ln w="12700">
            <a:solidFill>
              <a:srgbClr val="D3E1E5"/>
            </a:solidFill>
            <a:prstDash val="solid"/>
          </a:ln>
        </p:spPr>
      </p:sp>
      <p:sp>
        <p:nvSpPr>
          <p:cNvPr id="20" name="Shape 18"/>
          <p:cNvSpPr/>
          <p:nvPr/>
        </p:nvSpPr>
        <p:spPr>
          <a:xfrm>
            <a:off x="731520" y="2651760"/>
            <a:ext cx="310896" cy="310896"/>
          </a:xfrm>
          <a:prstGeom prst="ellipse">
            <a:avLst/>
          </a:prstGeom>
          <a:solidFill>
            <a:srgbClr val="0B2545"/>
          </a:solidFill>
          <a:ln w="12700">
            <a:solidFill>
              <a:srgbClr val="0B2545"/>
            </a:solidFill>
            <a:prstDash val="solid"/>
          </a:ln>
        </p:spPr>
      </p:sp>
      <p:sp>
        <p:nvSpPr>
          <p:cNvPr id="21" name="Text 19"/>
          <p:cNvSpPr txBox="1"/>
          <p:nvPr/>
        </p:nvSpPr>
        <p:spPr>
          <a:xfrm>
            <a:off x="731520" y="2651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115568" y="2615184"/>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langchain-openai</a:t>
            </a:r>
            <a:endParaRPr lang="en-US" sz="1400" dirty="0"/>
          </a:p>
        </p:txBody>
      </p:sp>
      <p:sp>
        <p:nvSpPr>
          <p:cNvPr id="23" name="Text 21"/>
          <p:cNvSpPr txBox="1"/>
          <p:nvPr/>
        </p:nvSpPr>
        <p:spPr>
          <a:xfrm>
            <a:off x="1115568" y="2907792"/>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ChatOpenAI wrapper for the model</a:t>
            </a:r>
            <a:endParaRPr lang="en-US" sz="1150" dirty="0"/>
          </a:p>
        </p:txBody>
      </p:sp>
      <p:sp>
        <p:nvSpPr>
          <p:cNvPr id="24" name="Shape 22"/>
          <p:cNvSpPr/>
          <p:nvPr/>
        </p:nvSpPr>
        <p:spPr>
          <a:xfrm>
            <a:off x="4306824" y="2487168"/>
            <a:ext cx="3575304" cy="914400"/>
          </a:xfrm>
          <a:prstGeom prst="roundRect">
            <a:avLst>
              <a:gd name="adj" fmla="val 9000"/>
            </a:avLst>
          </a:prstGeom>
          <a:solidFill>
            <a:srgbClr val="F1F7F8"/>
          </a:solidFill>
          <a:ln w="12700">
            <a:solidFill>
              <a:srgbClr val="D3E1E5"/>
            </a:solidFill>
            <a:prstDash val="solid"/>
          </a:ln>
        </p:spPr>
      </p:sp>
      <p:sp>
        <p:nvSpPr>
          <p:cNvPr id="25" name="Shape 23"/>
          <p:cNvSpPr/>
          <p:nvPr/>
        </p:nvSpPr>
        <p:spPr>
          <a:xfrm>
            <a:off x="4489704" y="2651760"/>
            <a:ext cx="310896" cy="310896"/>
          </a:xfrm>
          <a:prstGeom prst="ellipse">
            <a:avLst/>
          </a:prstGeom>
          <a:solidFill>
            <a:srgbClr val="0E7C7B"/>
          </a:solidFill>
          <a:ln w="12700">
            <a:solidFill>
              <a:srgbClr val="0E7C7B"/>
            </a:solidFill>
            <a:prstDash val="solid"/>
          </a:ln>
        </p:spPr>
      </p:sp>
      <p:sp>
        <p:nvSpPr>
          <p:cNvPr id="26" name="Text 24"/>
          <p:cNvSpPr txBox="1"/>
          <p:nvPr/>
        </p:nvSpPr>
        <p:spPr>
          <a:xfrm>
            <a:off x="4489704" y="2651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4873752" y="2615184"/>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langchain-core</a:t>
            </a:r>
            <a:endParaRPr lang="en-US" sz="1400" dirty="0"/>
          </a:p>
        </p:txBody>
      </p:sp>
      <p:sp>
        <p:nvSpPr>
          <p:cNvPr id="28" name="Text 26"/>
          <p:cNvSpPr txBox="1"/>
          <p:nvPr/>
        </p:nvSpPr>
        <p:spPr>
          <a:xfrm>
            <a:off x="4873752" y="2907792"/>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PromptTemplate, messages, InMemoryCache</a:t>
            </a:r>
            <a:endParaRPr lang="en-US" sz="1150" dirty="0"/>
          </a:p>
        </p:txBody>
      </p:sp>
      <p:sp>
        <p:nvSpPr>
          <p:cNvPr id="29" name="Shape 27"/>
          <p:cNvSpPr/>
          <p:nvPr/>
        </p:nvSpPr>
        <p:spPr>
          <a:xfrm>
            <a:off x="8065008" y="2487168"/>
            <a:ext cx="3575304" cy="914400"/>
          </a:xfrm>
          <a:prstGeom prst="roundRect">
            <a:avLst>
              <a:gd name="adj" fmla="val 9000"/>
            </a:avLst>
          </a:prstGeom>
          <a:solidFill>
            <a:srgbClr val="F1F7F8"/>
          </a:solidFill>
          <a:ln w="12700">
            <a:solidFill>
              <a:srgbClr val="D3E1E5"/>
            </a:solidFill>
            <a:prstDash val="solid"/>
          </a:ln>
        </p:spPr>
      </p:sp>
      <p:sp>
        <p:nvSpPr>
          <p:cNvPr id="30" name="Shape 28"/>
          <p:cNvSpPr/>
          <p:nvPr/>
        </p:nvSpPr>
        <p:spPr>
          <a:xfrm>
            <a:off x="8247888" y="2651760"/>
            <a:ext cx="310896" cy="310896"/>
          </a:xfrm>
          <a:prstGeom prst="ellipse">
            <a:avLst/>
          </a:prstGeom>
          <a:solidFill>
            <a:srgbClr val="0B2545"/>
          </a:solidFill>
          <a:ln w="12700">
            <a:solidFill>
              <a:srgbClr val="0B2545"/>
            </a:solidFill>
            <a:prstDash val="solid"/>
          </a:ln>
        </p:spPr>
      </p:sp>
      <p:sp>
        <p:nvSpPr>
          <p:cNvPr id="31" name="Text 29"/>
          <p:cNvSpPr txBox="1"/>
          <p:nvPr/>
        </p:nvSpPr>
        <p:spPr>
          <a:xfrm>
            <a:off x="8247888" y="2651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8631936" y="2615184"/>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langchain-community</a:t>
            </a:r>
            <a:endParaRPr lang="en-US" sz="1400" dirty="0"/>
          </a:p>
        </p:txBody>
      </p:sp>
      <p:sp>
        <p:nvSpPr>
          <p:cNvPr id="33" name="Text 31"/>
          <p:cNvSpPr txBox="1"/>
          <p:nvPr/>
        </p:nvSpPr>
        <p:spPr>
          <a:xfrm>
            <a:off x="8631936" y="2907792"/>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SQLiteCache implementation</a:t>
            </a:r>
            <a:endParaRPr lang="en-US" sz="1150" dirty="0"/>
          </a:p>
        </p:txBody>
      </p:sp>
      <p:sp>
        <p:nvSpPr>
          <p:cNvPr id="34" name="Shape 32"/>
          <p:cNvSpPr/>
          <p:nvPr/>
        </p:nvSpPr>
        <p:spPr>
          <a:xfrm>
            <a:off x="548640" y="3602736"/>
            <a:ext cx="3575304" cy="914400"/>
          </a:xfrm>
          <a:prstGeom prst="roundRect">
            <a:avLst>
              <a:gd name="adj" fmla="val 9000"/>
            </a:avLst>
          </a:prstGeom>
          <a:solidFill>
            <a:srgbClr val="F1F7F8"/>
          </a:solidFill>
          <a:ln w="12700">
            <a:solidFill>
              <a:srgbClr val="D3E1E5"/>
            </a:solidFill>
            <a:prstDash val="solid"/>
          </a:ln>
        </p:spPr>
      </p:sp>
      <p:sp>
        <p:nvSpPr>
          <p:cNvPr id="35" name="Shape 33"/>
          <p:cNvSpPr/>
          <p:nvPr/>
        </p:nvSpPr>
        <p:spPr>
          <a:xfrm>
            <a:off x="731520" y="3767328"/>
            <a:ext cx="310896" cy="310896"/>
          </a:xfrm>
          <a:prstGeom prst="ellipse">
            <a:avLst/>
          </a:prstGeom>
          <a:solidFill>
            <a:srgbClr val="0E7C7B"/>
          </a:solidFill>
          <a:ln w="12700">
            <a:solidFill>
              <a:srgbClr val="0E7C7B"/>
            </a:solidFill>
            <a:prstDash val="solid"/>
          </a:ln>
        </p:spPr>
      </p:sp>
      <p:sp>
        <p:nvSpPr>
          <p:cNvPr id="36" name="Text 34"/>
          <p:cNvSpPr txBox="1"/>
          <p:nvPr/>
        </p:nvSpPr>
        <p:spPr>
          <a:xfrm>
            <a:off x="731520" y="3767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Text 35"/>
          <p:cNvSpPr txBox="1"/>
          <p:nvPr/>
        </p:nvSpPr>
        <p:spPr>
          <a:xfrm>
            <a:off x="1115568" y="3730752"/>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OpenAI</a:t>
            </a:r>
            <a:endParaRPr lang="en-US" sz="1400" dirty="0"/>
          </a:p>
        </p:txBody>
      </p:sp>
      <p:sp>
        <p:nvSpPr>
          <p:cNvPr id="38" name="Text 36"/>
          <p:cNvSpPr txBox="1"/>
          <p:nvPr/>
        </p:nvSpPr>
        <p:spPr>
          <a:xfrm>
            <a:off x="1115568" y="4023360"/>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The chat model that writes the analysis</a:t>
            </a:r>
            <a:endParaRPr lang="en-US" sz="1150" dirty="0"/>
          </a:p>
        </p:txBody>
      </p:sp>
      <p:sp>
        <p:nvSpPr>
          <p:cNvPr id="39" name="Shape 37"/>
          <p:cNvSpPr/>
          <p:nvPr/>
        </p:nvSpPr>
        <p:spPr>
          <a:xfrm>
            <a:off x="4306824" y="3602736"/>
            <a:ext cx="3575304" cy="914400"/>
          </a:xfrm>
          <a:prstGeom prst="roundRect">
            <a:avLst>
              <a:gd name="adj" fmla="val 9000"/>
            </a:avLst>
          </a:prstGeom>
          <a:solidFill>
            <a:srgbClr val="F1F7F8"/>
          </a:solidFill>
          <a:ln w="12700">
            <a:solidFill>
              <a:srgbClr val="D3E1E5"/>
            </a:solidFill>
            <a:prstDash val="solid"/>
          </a:ln>
        </p:spPr>
      </p:sp>
      <p:sp>
        <p:nvSpPr>
          <p:cNvPr id="40" name="Shape 38"/>
          <p:cNvSpPr/>
          <p:nvPr/>
        </p:nvSpPr>
        <p:spPr>
          <a:xfrm>
            <a:off x="4489704" y="3767328"/>
            <a:ext cx="310896" cy="310896"/>
          </a:xfrm>
          <a:prstGeom prst="ellipse">
            <a:avLst/>
          </a:prstGeom>
          <a:solidFill>
            <a:srgbClr val="0B2545"/>
          </a:solidFill>
          <a:ln w="12700">
            <a:solidFill>
              <a:srgbClr val="0B2545"/>
            </a:solidFill>
            <a:prstDash val="solid"/>
          </a:ln>
        </p:spPr>
      </p:sp>
      <p:sp>
        <p:nvSpPr>
          <p:cNvPr id="41" name="Text 39"/>
          <p:cNvSpPr txBox="1"/>
          <p:nvPr/>
        </p:nvSpPr>
        <p:spPr>
          <a:xfrm>
            <a:off x="4489704" y="3767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2" name="Text 40"/>
          <p:cNvSpPr txBox="1"/>
          <p:nvPr/>
        </p:nvSpPr>
        <p:spPr>
          <a:xfrm>
            <a:off x="4873752" y="3730752"/>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python-dotenv</a:t>
            </a:r>
            <a:endParaRPr lang="en-US" sz="1400" dirty="0"/>
          </a:p>
        </p:txBody>
      </p:sp>
      <p:sp>
        <p:nvSpPr>
          <p:cNvPr id="43" name="Text 41"/>
          <p:cNvSpPr txBox="1"/>
          <p:nvPr/>
        </p:nvSpPr>
        <p:spPr>
          <a:xfrm>
            <a:off x="4873752" y="4023360"/>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Loads the API key from a .env file</a:t>
            </a:r>
            <a:endParaRPr lang="en-US" sz="1150" dirty="0"/>
          </a:p>
        </p:txBody>
      </p:sp>
      <p:sp>
        <p:nvSpPr>
          <p:cNvPr id="44" name="Shape 42"/>
          <p:cNvSpPr/>
          <p:nvPr/>
        </p:nvSpPr>
        <p:spPr>
          <a:xfrm>
            <a:off x="8065008" y="3602736"/>
            <a:ext cx="3575304" cy="914400"/>
          </a:xfrm>
          <a:prstGeom prst="roundRect">
            <a:avLst>
              <a:gd name="adj" fmla="val 9000"/>
            </a:avLst>
          </a:prstGeom>
          <a:solidFill>
            <a:srgbClr val="F1F7F8"/>
          </a:solidFill>
          <a:ln w="12700">
            <a:solidFill>
              <a:srgbClr val="D3E1E5"/>
            </a:solidFill>
            <a:prstDash val="solid"/>
          </a:ln>
        </p:spPr>
      </p:sp>
      <p:sp>
        <p:nvSpPr>
          <p:cNvPr id="45" name="Shape 43"/>
          <p:cNvSpPr/>
          <p:nvPr/>
        </p:nvSpPr>
        <p:spPr>
          <a:xfrm>
            <a:off x="8247888" y="3767328"/>
            <a:ext cx="310896" cy="310896"/>
          </a:xfrm>
          <a:prstGeom prst="ellipse">
            <a:avLst/>
          </a:prstGeom>
          <a:solidFill>
            <a:srgbClr val="0E7C7B"/>
          </a:solidFill>
          <a:ln w="12700">
            <a:solidFill>
              <a:srgbClr val="0E7C7B"/>
            </a:solidFill>
            <a:prstDash val="solid"/>
          </a:ln>
        </p:spPr>
      </p:sp>
      <p:sp>
        <p:nvSpPr>
          <p:cNvPr id="46" name="Text 44"/>
          <p:cNvSpPr txBox="1"/>
          <p:nvPr/>
        </p:nvSpPr>
        <p:spPr>
          <a:xfrm>
            <a:off x="8247888" y="37673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7" name="Text 45"/>
          <p:cNvSpPr txBox="1"/>
          <p:nvPr/>
        </p:nvSpPr>
        <p:spPr>
          <a:xfrm>
            <a:off x="8631936" y="3730752"/>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JSON</a:t>
            </a:r>
            <a:endParaRPr lang="en-US" sz="1400" dirty="0"/>
          </a:p>
        </p:txBody>
      </p:sp>
      <p:sp>
        <p:nvSpPr>
          <p:cNvPr id="48" name="Text 46"/>
          <p:cNvSpPr txBox="1"/>
          <p:nvPr/>
        </p:nvSpPr>
        <p:spPr>
          <a:xfrm>
            <a:off x="8631936" y="4023360"/>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Structured, predictable model output</a:t>
            </a:r>
            <a:endParaRPr lang="en-US" sz="1150" dirty="0"/>
          </a:p>
        </p:txBody>
      </p:sp>
      <p:sp>
        <p:nvSpPr>
          <p:cNvPr id="49" name="Shape 47"/>
          <p:cNvSpPr/>
          <p:nvPr/>
        </p:nvSpPr>
        <p:spPr>
          <a:xfrm>
            <a:off x="548640" y="4718304"/>
            <a:ext cx="3575304" cy="914400"/>
          </a:xfrm>
          <a:prstGeom prst="roundRect">
            <a:avLst>
              <a:gd name="adj" fmla="val 9000"/>
            </a:avLst>
          </a:prstGeom>
          <a:solidFill>
            <a:srgbClr val="F1F7F8"/>
          </a:solidFill>
          <a:ln w="12700">
            <a:solidFill>
              <a:srgbClr val="D3E1E5"/>
            </a:solidFill>
            <a:prstDash val="solid"/>
          </a:ln>
        </p:spPr>
      </p:sp>
      <p:sp>
        <p:nvSpPr>
          <p:cNvPr id="50" name="Shape 48"/>
          <p:cNvSpPr/>
          <p:nvPr/>
        </p:nvSpPr>
        <p:spPr>
          <a:xfrm>
            <a:off x="731520" y="4882896"/>
            <a:ext cx="310896" cy="310896"/>
          </a:xfrm>
          <a:prstGeom prst="ellipse">
            <a:avLst/>
          </a:prstGeom>
          <a:solidFill>
            <a:srgbClr val="0B2545"/>
          </a:solidFill>
          <a:ln w="12700">
            <a:solidFill>
              <a:srgbClr val="0B2545"/>
            </a:solidFill>
            <a:prstDash val="solid"/>
          </a:ln>
        </p:spPr>
      </p:sp>
      <p:sp>
        <p:nvSpPr>
          <p:cNvPr id="51" name="Text 49"/>
          <p:cNvSpPr txBox="1"/>
          <p:nvPr/>
        </p:nvSpPr>
        <p:spPr>
          <a:xfrm>
            <a:off x="731520" y="48828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2" name="Text 50"/>
          <p:cNvSpPr txBox="1"/>
          <p:nvPr/>
        </p:nvSpPr>
        <p:spPr>
          <a:xfrm>
            <a:off x="1115568" y="4846320"/>
            <a:ext cx="2843784" cy="29260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SQLite</a:t>
            </a:r>
            <a:endParaRPr lang="en-US" sz="1400" dirty="0"/>
          </a:p>
        </p:txBody>
      </p:sp>
      <p:sp>
        <p:nvSpPr>
          <p:cNvPr id="53" name="Text 51"/>
          <p:cNvSpPr txBox="1"/>
          <p:nvPr/>
        </p:nvSpPr>
        <p:spPr>
          <a:xfrm>
            <a:off x="1115568" y="5138928"/>
            <a:ext cx="2843784" cy="402336"/>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On-disk cache that survives a restart</a:t>
            </a:r>
            <a:endParaRPr lang="en-US" sz="1150" dirty="0"/>
          </a:p>
        </p:txBody>
      </p:sp>
      <p:sp>
        <p:nvSpPr>
          <p:cNvPr id="54" name="Shape 52"/>
          <p:cNvSpPr/>
          <p:nvPr/>
        </p:nvSpPr>
        <p:spPr>
          <a:xfrm>
            <a:off x="4306824" y="4718304"/>
            <a:ext cx="7333488" cy="914400"/>
          </a:xfrm>
          <a:prstGeom prst="roundRect">
            <a:avLst>
              <a:gd name="adj" fmla="val 9000"/>
            </a:avLst>
          </a:prstGeom>
          <a:solidFill>
            <a:srgbClr val="E7F1F3"/>
          </a:solidFill>
          <a:ln w="12700">
            <a:solidFill>
              <a:srgbClr val="D3E1E5"/>
            </a:solidFill>
            <a:prstDash val="solid"/>
          </a:ln>
        </p:spPr>
      </p:sp>
      <p:sp>
        <p:nvSpPr>
          <p:cNvPr id="55" name="Text 53"/>
          <p:cNvSpPr txBox="1"/>
          <p:nvPr/>
        </p:nvSpPr>
        <p:spPr>
          <a:xfrm>
            <a:off x="4562856" y="4846320"/>
            <a:ext cx="2743200" cy="27432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Setup</a:t>
            </a:r>
            <a:endParaRPr lang="en-US" sz="1400" dirty="0"/>
          </a:p>
        </p:txBody>
      </p:sp>
      <p:sp>
        <p:nvSpPr>
          <p:cNvPr id="56" name="Text 54"/>
          <p:cNvSpPr txBox="1"/>
          <p:nvPr/>
        </p:nvSpPr>
        <p:spPr>
          <a:xfrm>
            <a:off x="4562856" y="5120640"/>
            <a:ext cx="6821424" cy="420624"/>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All packages install from requirements.txt inside a virtual environment. The OpenAI API key is loaded from .env and never written in the code.</a:t>
            </a:r>
            <a:endParaRPr lang="en-US" sz="1150" dirty="0"/>
          </a:p>
        </p:txBody>
      </p:sp>
      <p:sp>
        <p:nvSpPr>
          <p:cNvPr id="57" name="Text 55"/>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4</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548640" y="1298448"/>
            <a:ext cx="3200400" cy="658368"/>
          </a:xfrm>
          <a:prstGeom prst="roundRect">
            <a:avLst>
              <a:gd name="adj" fmla="val 12500"/>
            </a:avLst>
          </a:prstGeom>
          <a:solidFill>
            <a:srgbClr val="FFFFFF"/>
          </a:solidFill>
          <a:ln w="12700">
            <a:solidFill>
              <a:srgbClr val="17A398"/>
            </a:solidFill>
            <a:prstDash val="solid"/>
          </a:ln>
        </p:spPr>
      </p:sp>
      <p:sp>
        <p:nvSpPr>
          <p:cNvPr id="5" name="Text 3"/>
          <p:cNvSpPr txBox="1"/>
          <p:nvPr/>
        </p:nvSpPr>
        <p:spPr>
          <a:xfrm>
            <a:off x="603504" y="129844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User</a:t>
            </a:r>
            <a:endParaRPr lang="en-US" sz="1250" dirty="0"/>
          </a:p>
        </p:txBody>
      </p:sp>
      <p:sp>
        <p:nvSpPr>
          <p:cNvPr id="6" name="Shape 4"/>
          <p:cNvSpPr/>
          <p:nvPr/>
        </p:nvSpPr>
        <p:spPr>
          <a:xfrm>
            <a:off x="3858768" y="1517904"/>
            <a:ext cx="502920" cy="219456"/>
          </a:xfrm>
          <a:prstGeom prst="rightArrow">
            <a:avLst/>
          </a:prstGeom>
          <a:solidFill>
            <a:srgbClr val="17A398"/>
          </a:solidFill>
          <a:ln w="12700">
            <a:solidFill>
              <a:srgbClr val="17A398"/>
            </a:solidFill>
            <a:prstDash val="solid"/>
          </a:ln>
        </p:spPr>
      </p:sp>
      <p:sp>
        <p:nvSpPr>
          <p:cNvPr id="7" name="Shape 5"/>
          <p:cNvSpPr/>
          <p:nvPr/>
        </p:nvSpPr>
        <p:spPr>
          <a:xfrm>
            <a:off x="4498848" y="1298448"/>
            <a:ext cx="3200400" cy="658368"/>
          </a:xfrm>
          <a:prstGeom prst="roundRect">
            <a:avLst>
              <a:gd name="adj" fmla="val 12500"/>
            </a:avLst>
          </a:prstGeom>
          <a:solidFill>
            <a:srgbClr val="FFFFFF"/>
          </a:solidFill>
          <a:ln w="12700">
            <a:solidFill>
              <a:srgbClr val="17A398"/>
            </a:solidFill>
            <a:prstDash val="solid"/>
          </a:ln>
        </p:spPr>
      </p:sp>
      <p:sp>
        <p:nvSpPr>
          <p:cNvPr id="8" name="Text 6"/>
          <p:cNvSpPr txBox="1"/>
          <p:nvPr/>
        </p:nvSpPr>
        <p:spPr>
          <a:xfrm>
            <a:off x="4553712" y="129844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Streamlit Input Form</a:t>
            </a:r>
            <a:endParaRPr lang="en-US" sz="1250" dirty="0"/>
          </a:p>
        </p:txBody>
      </p:sp>
      <p:sp>
        <p:nvSpPr>
          <p:cNvPr id="9" name="Shape 7"/>
          <p:cNvSpPr/>
          <p:nvPr/>
        </p:nvSpPr>
        <p:spPr>
          <a:xfrm>
            <a:off x="7808976" y="1517904"/>
            <a:ext cx="502920" cy="219456"/>
          </a:xfrm>
          <a:prstGeom prst="rightArrow">
            <a:avLst/>
          </a:prstGeom>
          <a:solidFill>
            <a:srgbClr val="17A398"/>
          </a:solidFill>
          <a:ln w="12700">
            <a:solidFill>
              <a:srgbClr val="17A398"/>
            </a:solidFill>
            <a:prstDash val="solid"/>
          </a:ln>
        </p:spPr>
      </p:sp>
      <p:sp>
        <p:nvSpPr>
          <p:cNvPr id="10" name="Shape 8"/>
          <p:cNvSpPr/>
          <p:nvPr/>
        </p:nvSpPr>
        <p:spPr>
          <a:xfrm>
            <a:off x="8439912" y="1298448"/>
            <a:ext cx="3200400" cy="658368"/>
          </a:xfrm>
          <a:prstGeom prst="roundRect">
            <a:avLst>
              <a:gd name="adj" fmla="val 12500"/>
            </a:avLst>
          </a:prstGeom>
          <a:solidFill>
            <a:srgbClr val="FFFFFF"/>
          </a:solidFill>
          <a:ln w="12700">
            <a:solidFill>
              <a:srgbClr val="0B2545"/>
            </a:solidFill>
            <a:prstDash val="solid"/>
          </a:ln>
        </p:spPr>
      </p:sp>
      <p:sp>
        <p:nvSpPr>
          <p:cNvPr id="11" name="Text 9"/>
          <p:cNvSpPr txBox="1"/>
          <p:nvPr/>
        </p:nvSpPr>
        <p:spPr>
          <a:xfrm>
            <a:off x="8494776" y="129844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Python Financial Calculator</a:t>
            </a:r>
            <a:endParaRPr lang="en-US" sz="1250" dirty="0"/>
          </a:p>
        </p:txBody>
      </p:sp>
      <p:sp>
        <p:nvSpPr>
          <p:cNvPr id="12" name="Shape 10"/>
          <p:cNvSpPr/>
          <p:nvPr/>
        </p:nvSpPr>
        <p:spPr>
          <a:xfrm>
            <a:off x="5989320" y="2048256"/>
            <a:ext cx="219456" cy="329184"/>
          </a:xfrm>
          <a:prstGeom prst="downArrow">
            <a:avLst/>
          </a:prstGeom>
          <a:solidFill>
            <a:srgbClr val="17A398"/>
          </a:solidFill>
          <a:ln w="12700">
            <a:solidFill>
              <a:srgbClr val="17A398"/>
            </a:solidFill>
            <a:prstDash val="solid"/>
          </a:ln>
        </p:spPr>
      </p:sp>
      <p:sp>
        <p:nvSpPr>
          <p:cNvPr id="13" name="Shape 11"/>
          <p:cNvSpPr/>
          <p:nvPr/>
        </p:nvSpPr>
        <p:spPr>
          <a:xfrm>
            <a:off x="548640" y="2395728"/>
            <a:ext cx="3200400" cy="658368"/>
          </a:xfrm>
          <a:prstGeom prst="roundRect">
            <a:avLst>
              <a:gd name="adj" fmla="val 12500"/>
            </a:avLst>
          </a:prstGeom>
          <a:solidFill>
            <a:srgbClr val="FFFFFF"/>
          </a:solidFill>
          <a:ln w="12700">
            <a:solidFill>
              <a:srgbClr val="0B2545"/>
            </a:solidFill>
            <a:prstDash val="solid"/>
          </a:ln>
        </p:spPr>
      </p:sp>
      <p:sp>
        <p:nvSpPr>
          <p:cNvPr id="14" name="Text 12"/>
          <p:cNvSpPr txBox="1"/>
          <p:nvPr/>
        </p:nvSpPr>
        <p:spPr>
          <a:xfrm>
            <a:off x="603504" y="239572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Financial Ratios +</a:t>
            </a:r>
            <a:endParaRPr lang="en-US" sz="1250" dirty="0"/>
          </a:p>
          <a:p>
            <a:pPr algn="ctr" indent="0" marL="0">
              <a:buNone/>
            </a:pPr>
            <a:r>
              <a:rPr lang="en-US" sz="1250" b="1" dirty="0">
                <a:solidFill>
                  <a:srgbClr val="0B2545"/>
                </a:solidFill>
                <a:latin typeface="Calibri" pitchFamily="34" charset="0"/>
                <a:ea typeface="Calibri" pitchFamily="34" charset="-122"/>
                <a:cs typeface="Calibri" pitchFamily="34" charset="-120"/>
              </a:rPr>
              <a:t>Preliminary Score</a:t>
            </a:r>
            <a:endParaRPr lang="en-US" sz="1250" dirty="0"/>
          </a:p>
        </p:txBody>
      </p:sp>
      <p:sp>
        <p:nvSpPr>
          <p:cNvPr id="15" name="Shape 13"/>
          <p:cNvSpPr/>
          <p:nvPr/>
        </p:nvSpPr>
        <p:spPr>
          <a:xfrm>
            <a:off x="3858768" y="2615184"/>
            <a:ext cx="502920" cy="219456"/>
          </a:xfrm>
          <a:prstGeom prst="rightArrow">
            <a:avLst/>
          </a:prstGeom>
          <a:solidFill>
            <a:srgbClr val="17A398"/>
          </a:solidFill>
          <a:ln w="12700">
            <a:solidFill>
              <a:srgbClr val="17A398"/>
            </a:solidFill>
            <a:prstDash val="solid"/>
          </a:ln>
        </p:spPr>
      </p:sp>
      <p:sp>
        <p:nvSpPr>
          <p:cNvPr id="16" name="Shape 14"/>
          <p:cNvSpPr/>
          <p:nvPr/>
        </p:nvSpPr>
        <p:spPr>
          <a:xfrm>
            <a:off x="4498848" y="2395728"/>
            <a:ext cx="3200400" cy="658368"/>
          </a:xfrm>
          <a:prstGeom prst="roundRect">
            <a:avLst>
              <a:gd name="adj" fmla="val 12500"/>
            </a:avLst>
          </a:prstGeom>
          <a:solidFill>
            <a:srgbClr val="FFFFFF"/>
          </a:solidFill>
          <a:ln w="12700">
            <a:solidFill>
              <a:srgbClr val="17A398"/>
            </a:solidFill>
            <a:prstDash val="solid"/>
          </a:ln>
        </p:spPr>
      </p:sp>
      <p:sp>
        <p:nvSpPr>
          <p:cNvPr id="17" name="Text 15"/>
          <p:cNvSpPr txBox="1"/>
          <p:nvPr/>
        </p:nvSpPr>
        <p:spPr>
          <a:xfrm>
            <a:off x="4553712" y="239572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LangChain Prompt</a:t>
            </a:r>
            <a:endParaRPr lang="en-US" sz="1250" dirty="0"/>
          </a:p>
        </p:txBody>
      </p:sp>
      <p:sp>
        <p:nvSpPr>
          <p:cNvPr id="18" name="Shape 16"/>
          <p:cNvSpPr/>
          <p:nvPr/>
        </p:nvSpPr>
        <p:spPr>
          <a:xfrm>
            <a:off x="7808976" y="2615184"/>
            <a:ext cx="502920" cy="219456"/>
          </a:xfrm>
          <a:prstGeom prst="rightArrow">
            <a:avLst/>
          </a:prstGeom>
          <a:solidFill>
            <a:srgbClr val="17A398"/>
          </a:solidFill>
          <a:ln w="12700">
            <a:solidFill>
              <a:srgbClr val="17A398"/>
            </a:solidFill>
            <a:prstDash val="solid"/>
          </a:ln>
        </p:spPr>
      </p:sp>
      <p:sp>
        <p:nvSpPr>
          <p:cNvPr id="19" name="Shape 17"/>
          <p:cNvSpPr/>
          <p:nvPr/>
        </p:nvSpPr>
        <p:spPr>
          <a:xfrm>
            <a:off x="8439912" y="2395728"/>
            <a:ext cx="3200400" cy="658368"/>
          </a:xfrm>
          <a:prstGeom prst="roundRect">
            <a:avLst>
              <a:gd name="adj" fmla="val 12500"/>
            </a:avLst>
          </a:prstGeom>
          <a:solidFill>
            <a:srgbClr val="FFFFFF"/>
          </a:solidFill>
          <a:ln w="12700">
            <a:solidFill>
              <a:srgbClr val="17A398"/>
            </a:solidFill>
            <a:prstDash val="solid"/>
          </a:ln>
        </p:spPr>
      </p:sp>
      <p:sp>
        <p:nvSpPr>
          <p:cNvPr id="20" name="Text 18"/>
          <p:cNvSpPr txBox="1"/>
          <p:nvPr/>
        </p:nvSpPr>
        <p:spPr>
          <a:xfrm>
            <a:off x="8494776" y="239572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ChatOpenAI</a:t>
            </a:r>
            <a:endParaRPr lang="en-US" sz="1250" dirty="0"/>
          </a:p>
        </p:txBody>
      </p:sp>
      <p:sp>
        <p:nvSpPr>
          <p:cNvPr id="21" name="Shape 19"/>
          <p:cNvSpPr/>
          <p:nvPr/>
        </p:nvSpPr>
        <p:spPr>
          <a:xfrm>
            <a:off x="5989320" y="3145536"/>
            <a:ext cx="219456" cy="329184"/>
          </a:xfrm>
          <a:prstGeom prst="downArrow">
            <a:avLst/>
          </a:prstGeom>
          <a:solidFill>
            <a:srgbClr val="17A398"/>
          </a:solidFill>
          <a:ln w="12700">
            <a:solidFill>
              <a:srgbClr val="17A398"/>
            </a:solidFill>
            <a:prstDash val="solid"/>
          </a:ln>
        </p:spPr>
      </p:sp>
      <p:sp>
        <p:nvSpPr>
          <p:cNvPr id="22" name="Shape 20"/>
          <p:cNvSpPr/>
          <p:nvPr/>
        </p:nvSpPr>
        <p:spPr>
          <a:xfrm>
            <a:off x="548640" y="3493008"/>
            <a:ext cx="3200400" cy="658368"/>
          </a:xfrm>
          <a:prstGeom prst="roundRect">
            <a:avLst>
              <a:gd name="adj" fmla="val 12500"/>
            </a:avLst>
          </a:prstGeom>
          <a:solidFill>
            <a:srgbClr val="FFFFFF"/>
          </a:solidFill>
          <a:ln w="12700">
            <a:solidFill>
              <a:srgbClr val="17A398"/>
            </a:solidFill>
            <a:prstDash val="solid"/>
          </a:ln>
        </p:spPr>
      </p:sp>
      <p:sp>
        <p:nvSpPr>
          <p:cNvPr id="23" name="Text 21"/>
          <p:cNvSpPr txBox="1"/>
          <p:nvPr/>
        </p:nvSpPr>
        <p:spPr>
          <a:xfrm>
            <a:off x="603504" y="349300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Structured JSON</a:t>
            </a:r>
            <a:endParaRPr lang="en-US" sz="1250" dirty="0"/>
          </a:p>
        </p:txBody>
      </p:sp>
      <p:sp>
        <p:nvSpPr>
          <p:cNvPr id="24" name="Shape 22"/>
          <p:cNvSpPr/>
          <p:nvPr/>
        </p:nvSpPr>
        <p:spPr>
          <a:xfrm>
            <a:off x="3858768" y="3712464"/>
            <a:ext cx="502920" cy="219456"/>
          </a:xfrm>
          <a:prstGeom prst="rightArrow">
            <a:avLst/>
          </a:prstGeom>
          <a:solidFill>
            <a:srgbClr val="17A398"/>
          </a:solidFill>
          <a:ln w="12700">
            <a:solidFill>
              <a:srgbClr val="17A398"/>
            </a:solidFill>
            <a:prstDash val="solid"/>
          </a:ln>
        </p:spPr>
      </p:sp>
      <p:sp>
        <p:nvSpPr>
          <p:cNvPr id="25" name="Shape 23"/>
          <p:cNvSpPr/>
          <p:nvPr/>
        </p:nvSpPr>
        <p:spPr>
          <a:xfrm>
            <a:off x="4498848" y="3493008"/>
            <a:ext cx="3200400" cy="658368"/>
          </a:xfrm>
          <a:prstGeom prst="roundRect">
            <a:avLst>
              <a:gd name="adj" fmla="val 12500"/>
            </a:avLst>
          </a:prstGeom>
          <a:solidFill>
            <a:srgbClr val="FFFFFF"/>
          </a:solidFill>
          <a:ln w="12700">
            <a:solidFill>
              <a:srgbClr val="17A398"/>
            </a:solidFill>
            <a:prstDash val="solid"/>
          </a:ln>
        </p:spPr>
      </p:sp>
      <p:sp>
        <p:nvSpPr>
          <p:cNvPr id="26" name="Text 24"/>
          <p:cNvSpPr txBox="1"/>
          <p:nvPr/>
        </p:nvSpPr>
        <p:spPr>
          <a:xfrm>
            <a:off x="4553712" y="349300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Safe JSON Parsing</a:t>
            </a:r>
            <a:endParaRPr lang="en-US" sz="1250" dirty="0"/>
          </a:p>
        </p:txBody>
      </p:sp>
      <p:sp>
        <p:nvSpPr>
          <p:cNvPr id="27" name="Shape 25"/>
          <p:cNvSpPr/>
          <p:nvPr/>
        </p:nvSpPr>
        <p:spPr>
          <a:xfrm>
            <a:off x="7808976" y="3712464"/>
            <a:ext cx="502920" cy="219456"/>
          </a:xfrm>
          <a:prstGeom prst="rightArrow">
            <a:avLst/>
          </a:prstGeom>
          <a:solidFill>
            <a:srgbClr val="17A398"/>
          </a:solidFill>
          <a:ln w="12700">
            <a:solidFill>
              <a:srgbClr val="17A398"/>
            </a:solidFill>
            <a:prstDash val="solid"/>
          </a:ln>
        </p:spPr>
      </p:sp>
      <p:sp>
        <p:nvSpPr>
          <p:cNvPr id="28" name="Shape 26"/>
          <p:cNvSpPr/>
          <p:nvPr/>
        </p:nvSpPr>
        <p:spPr>
          <a:xfrm>
            <a:off x="8439912" y="3493008"/>
            <a:ext cx="3200400" cy="658368"/>
          </a:xfrm>
          <a:prstGeom prst="roundRect">
            <a:avLst>
              <a:gd name="adj" fmla="val 12500"/>
            </a:avLst>
          </a:prstGeom>
          <a:solidFill>
            <a:srgbClr val="E7F1F3"/>
          </a:solidFill>
          <a:ln w="12700">
            <a:solidFill>
              <a:srgbClr val="17A398"/>
            </a:solidFill>
            <a:prstDash val="solid"/>
          </a:ln>
        </p:spPr>
      </p:sp>
      <p:sp>
        <p:nvSpPr>
          <p:cNvPr id="29" name="Text 27"/>
          <p:cNvSpPr txBox="1"/>
          <p:nvPr/>
        </p:nvSpPr>
        <p:spPr>
          <a:xfrm>
            <a:off x="8494776" y="3493008"/>
            <a:ext cx="3090672" cy="658368"/>
          </a:xfrm>
          <a:prstGeom prst="rect">
            <a:avLst/>
          </a:prstGeom>
          <a:noFill/>
          <a:ln/>
        </p:spPr>
        <p:txBody>
          <a:bodyPr wrap="square" lIns="0" tIns="0" rIns="0" bIns="0" rtlCol="0" anchor="ctr"/>
          <a:lstStyle/>
          <a:p>
            <a:pPr algn="ctr" indent="0" marL="0">
              <a:buNone/>
            </a:pPr>
            <a:r>
              <a:rPr lang="en-US" sz="1250" b="1" dirty="0">
                <a:solidFill>
                  <a:srgbClr val="0B2545"/>
                </a:solidFill>
                <a:latin typeface="Calibri" pitchFamily="34" charset="0"/>
                <a:ea typeface="Calibri" pitchFamily="34" charset="-122"/>
                <a:cs typeface="Calibri" pitchFamily="34" charset="-120"/>
              </a:rPr>
              <a:t>FinWise Dashboard</a:t>
            </a:r>
            <a:endParaRPr lang="en-US" sz="1250" dirty="0"/>
          </a:p>
        </p:txBody>
      </p:sp>
      <p:sp>
        <p:nvSpPr>
          <p:cNvPr id="30" name="Text 28"/>
          <p:cNvSpPr txBox="1"/>
          <p:nvPr/>
        </p:nvSpPr>
        <p:spPr>
          <a:xfrm>
            <a:off x="548640" y="4224528"/>
            <a:ext cx="5120640" cy="274320"/>
          </a:xfrm>
          <a:prstGeom prst="rect">
            <a:avLst/>
          </a:prstGeom>
          <a:noFill/>
          <a:ln/>
        </p:spPr>
        <p:txBody>
          <a:bodyPr wrap="square" lIns="0" tIns="0" rIns="0" bIns="0" rtlCol="0" anchor="ctr"/>
          <a:lstStyle/>
          <a:p>
            <a:pPr indent="0" marL="0">
              <a:buNone/>
            </a:pPr>
            <a:r>
              <a:rPr lang="en-US" sz="1100" i="1" dirty="0">
                <a:solidFill>
                  <a:srgbClr val="5A6B78"/>
                </a:solidFill>
                <a:latin typeface="Calibri" pitchFamily="34" charset="0"/>
                <a:ea typeface="Calibri" pitchFamily="34" charset="-122"/>
                <a:cs typeface="Calibri" pitchFamily="34" charset="-120"/>
              </a:rPr>
              <a:t>Sequence continues left to right, then down to the next row.</a:t>
            </a:r>
            <a:endParaRPr lang="en-US" sz="1100" dirty="0"/>
          </a:p>
        </p:txBody>
      </p:sp>
      <p:sp>
        <p:nvSpPr>
          <p:cNvPr id="31" name="Shape 29"/>
          <p:cNvSpPr/>
          <p:nvPr/>
        </p:nvSpPr>
        <p:spPr>
          <a:xfrm>
            <a:off x="548640" y="4590288"/>
            <a:ext cx="5486400" cy="1481328"/>
          </a:xfrm>
          <a:prstGeom prst="roundRect">
            <a:avLst>
              <a:gd name="adj" fmla="val 5556"/>
            </a:avLst>
          </a:prstGeom>
          <a:solidFill>
            <a:srgbClr val="F1F7F8"/>
          </a:solidFill>
          <a:ln w="12700">
            <a:solidFill>
              <a:srgbClr val="D3E1E5"/>
            </a:solidFill>
            <a:prstDash val="solid"/>
          </a:ln>
        </p:spPr>
      </p:sp>
      <p:sp>
        <p:nvSpPr>
          <p:cNvPr id="32" name="Text 30"/>
          <p:cNvSpPr txBox="1"/>
          <p:nvPr/>
        </p:nvSpPr>
        <p:spPr>
          <a:xfrm>
            <a:off x="777240" y="4700016"/>
            <a:ext cx="502920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Cache layer</a:t>
            </a:r>
            <a:endParaRPr lang="en-US" sz="1400" dirty="0"/>
          </a:p>
        </p:txBody>
      </p:sp>
      <p:sp>
        <p:nvSpPr>
          <p:cNvPr id="33" name="Shape 31"/>
          <p:cNvSpPr/>
          <p:nvPr/>
        </p:nvSpPr>
        <p:spPr>
          <a:xfrm>
            <a:off x="777240" y="5074920"/>
            <a:ext cx="1920240" cy="566928"/>
          </a:xfrm>
          <a:prstGeom prst="roundRect">
            <a:avLst>
              <a:gd name="adj" fmla="val 14516"/>
            </a:avLst>
          </a:prstGeom>
          <a:solidFill>
            <a:srgbClr val="FFFFFF"/>
          </a:solidFill>
          <a:ln w="12700">
            <a:solidFill>
              <a:srgbClr val="17A398"/>
            </a:solidFill>
            <a:prstDash val="solid"/>
          </a:ln>
        </p:spPr>
      </p:sp>
      <p:sp>
        <p:nvSpPr>
          <p:cNvPr id="34" name="Text 32"/>
          <p:cNvSpPr txBox="1"/>
          <p:nvPr/>
        </p:nvSpPr>
        <p:spPr>
          <a:xfrm>
            <a:off x="832104" y="5074920"/>
            <a:ext cx="1810512" cy="566928"/>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ChatOpenAI</a:t>
            </a:r>
            <a:endParaRPr lang="en-US" sz="1200" dirty="0"/>
          </a:p>
        </p:txBody>
      </p:sp>
      <p:sp>
        <p:nvSpPr>
          <p:cNvPr id="35" name="Shape 33"/>
          <p:cNvSpPr/>
          <p:nvPr/>
        </p:nvSpPr>
        <p:spPr>
          <a:xfrm>
            <a:off x="2788920" y="5230368"/>
            <a:ext cx="566928" cy="256032"/>
          </a:xfrm>
          <a:prstGeom prst="leftRightArrow">
            <a:avLst/>
          </a:prstGeom>
          <a:solidFill>
            <a:srgbClr val="17A398"/>
          </a:solidFill>
          <a:ln w="12700">
            <a:solidFill>
              <a:srgbClr val="17A398"/>
            </a:solidFill>
            <a:prstDash val="solid"/>
          </a:ln>
        </p:spPr>
      </p:sp>
      <p:sp>
        <p:nvSpPr>
          <p:cNvPr id="36" name="Shape 34"/>
          <p:cNvSpPr/>
          <p:nvPr/>
        </p:nvSpPr>
        <p:spPr>
          <a:xfrm>
            <a:off x="3447288" y="5074920"/>
            <a:ext cx="2377440" cy="566928"/>
          </a:xfrm>
          <a:prstGeom prst="roundRect">
            <a:avLst>
              <a:gd name="adj" fmla="val 14516"/>
            </a:avLst>
          </a:prstGeom>
          <a:solidFill>
            <a:srgbClr val="FFFFFF"/>
          </a:solidFill>
          <a:ln w="12700">
            <a:solidFill>
              <a:srgbClr val="17A398"/>
            </a:solidFill>
            <a:prstDash val="solid"/>
          </a:ln>
        </p:spPr>
      </p:sp>
      <p:sp>
        <p:nvSpPr>
          <p:cNvPr id="37" name="Text 35"/>
          <p:cNvSpPr txBox="1"/>
          <p:nvPr/>
        </p:nvSpPr>
        <p:spPr>
          <a:xfrm>
            <a:off x="3502152" y="5074920"/>
            <a:ext cx="2267712" cy="566928"/>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InMemoryCache /</a:t>
            </a:r>
            <a:endParaRPr lang="en-US" sz="1150" dirty="0"/>
          </a:p>
          <a:p>
            <a:pPr algn="ctr" indent="0" marL="0">
              <a:buNone/>
            </a:pPr>
            <a:r>
              <a:rPr lang="en-US" sz="1150" b="1" dirty="0">
                <a:solidFill>
                  <a:srgbClr val="0B2545"/>
                </a:solidFill>
                <a:latin typeface="Calibri" pitchFamily="34" charset="0"/>
                <a:ea typeface="Calibri" pitchFamily="34" charset="-122"/>
                <a:cs typeface="Calibri" pitchFamily="34" charset="-120"/>
              </a:rPr>
              <a:t>SQLiteCache</a:t>
            </a:r>
            <a:endParaRPr lang="en-US" sz="1150" dirty="0"/>
          </a:p>
        </p:txBody>
      </p:sp>
      <p:sp>
        <p:nvSpPr>
          <p:cNvPr id="38" name="Text 36"/>
          <p:cNvSpPr txBox="1"/>
          <p:nvPr/>
        </p:nvSpPr>
        <p:spPr>
          <a:xfrm>
            <a:off x="777240" y="5705856"/>
            <a:ext cx="5029200" cy="274320"/>
          </a:xfrm>
          <a:prstGeom prst="rect">
            <a:avLst/>
          </a:prstGeom>
          <a:noFill/>
          <a:ln/>
        </p:spPr>
        <p:txBody>
          <a:bodyPr wrap="square" lIns="0" tIns="0" rIns="0" bIns="0" rtlCol="0" anchor="ctr"/>
          <a:lstStyle/>
          <a:p>
            <a:pPr indent="0" marL="0">
              <a:buNone/>
            </a:pPr>
            <a:r>
              <a:rPr lang="en-US" sz="1100" i="1" dirty="0">
                <a:solidFill>
                  <a:srgbClr val="5A6B78"/>
                </a:solidFill>
                <a:latin typeface="Calibri" pitchFamily="34" charset="0"/>
                <a:ea typeface="Calibri" pitchFamily="34" charset="-122"/>
                <a:cs typeface="Calibri" pitchFamily="34" charset="-120"/>
              </a:rPr>
              <a:t>Same request twice = cached, much faster answer.</a:t>
            </a:r>
            <a:endParaRPr lang="en-US" sz="1100" dirty="0"/>
          </a:p>
        </p:txBody>
      </p:sp>
      <p:sp>
        <p:nvSpPr>
          <p:cNvPr id="39" name="Shape 37"/>
          <p:cNvSpPr/>
          <p:nvPr/>
        </p:nvSpPr>
        <p:spPr>
          <a:xfrm>
            <a:off x="6245352" y="4590288"/>
            <a:ext cx="5394960" cy="1481328"/>
          </a:xfrm>
          <a:prstGeom prst="roundRect">
            <a:avLst>
              <a:gd name="adj" fmla="val 5556"/>
            </a:avLst>
          </a:prstGeom>
          <a:solidFill>
            <a:srgbClr val="F1F7F8"/>
          </a:solidFill>
          <a:ln w="12700">
            <a:solidFill>
              <a:srgbClr val="D3E1E5"/>
            </a:solidFill>
            <a:prstDash val="solid"/>
          </a:ln>
        </p:spPr>
      </p:sp>
      <p:sp>
        <p:nvSpPr>
          <p:cNvPr id="40" name="Text 38"/>
          <p:cNvSpPr txBox="1"/>
          <p:nvPr/>
        </p:nvSpPr>
        <p:spPr>
          <a:xfrm>
            <a:off x="6473952" y="4700016"/>
            <a:ext cx="493776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Streaming path</a:t>
            </a:r>
            <a:endParaRPr lang="en-US" sz="1400" dirty="0"/>
          </a:p>
        </p:txBody>
      </p:sp>
      <p:sp>
        <p:nvSpPr>
          <p:cNvPr id="41" name="Shape 39"/>
          <p:cNvSpPr/>
          <p:nvPr/>
        </p:nvSpPr>
        <p:spPr>
          <a:xfrm>
            <a:off x="6519672" y="5074920"/>
            <a:ext cx="822960" cy="566928"/>
          </a:xfrm>
          <a:prstGeom prst="roundRect">
            <a:avLst>
              <a:gd name="adj" fmla="val 14516"/>
            </a:avLst>
          </a:prstGeom>
          <a:solidFill>
            <a:srgbClr val="FFFFFF"/>
          </a:solidFill>
          <a:ln w="12700">
            <a:solidFill>
              <a:srgbClr val="17A398"/>
            </a:solidFill>
            <a:prstDash val="solid"/>
          </a:ln>
        </p:spPr>
      </p:sp>
      <p:sp>
        <p:nvSpPr>
          <p:cNvPr id="42" name="Text 40"/>
          <p:cNvSpPr txBox="1"/>
          <p:nvPr/>
        </p:nvSpPr>
        <p:spPr>
          <a:xfrm>
            <a:off x="6574536" y="5074920"/>
            <a:ext cx="713232" cy="566928"/>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LLM</a:t>
            </a:r>
            <a:endParaRPr lang="en-US" sz="1000" dirty="0"/>
          </a:p>
        </p:txBody>
      </p:sp>
      <p:sp>
        <p:nvSpPr>
          <p:cNvPr id="43" name="Shape 41"/>
          <p:cNvSpPr/>
          <p:nvPr/>
        </p:nvSpPr>
        <p:spPr>
          <a:xfrm>
            <a:off x="7379208" y="5257800"/>
            <a:ext cx="201168" cy="201168"/>
          </a:xfrm>
          <a:prstGeom prst="rightArrow">
            <a:avLst/>
          </a:prstGeom>
          <a:solidFill>
            <a:srgbClr val="17A398"/>
          </a:solidFill>
          <a:ln w="12700">
            <a:solidFill>
              <a:srgbClr val="17A398"/>
            </a:solidFill>
            <a:prstDash val="solid"/>
          </a:ln>
        </p:spPr>
      </p:sp>
      <p:sp>
        <p:nvSpPr>
          <p:cNvPr id="44" name="Shape 42"/>
          <p:cNvSpPr/>
          <p:nvPr/>
        </p:nvSpPr>
        <p:spPr>
          <a:xfrm>
            <a:off x="7616952" y="5074920"/>
            <a:ext cx="914400" cy="566928"/>
          </a:xfrm>
          <a:prstGeom prst="roundRect">
            <a:avLst>
              <a:gd name="adj" fmla="val 14516"/>
            </a:avLst>
          </a:prstGeom>
          <a:solidFill>
            <a:srgbClr val="FFFFFF"/>
          </a:solidFill>
          <a:ln w="12700">
            <a:solidFill>
              <a:srgbClr val="17A398"/>
            </a:solidFill>
            <a:prstDash val="solid"/>
          </a:ln>
        </p:spPr>
      </p:sp>
      <p:sp>
        <p:nvSpPr>
          <p:cNvPr id="45" name="Text 43"/>
          <p:cNvSpPr txBox="1"/>
          <p:nvPr/>
        </p:nvSpPr>
        <p:spPr>
          <a:xfrm>
            <a:off x="7671816" y="5074920"/>
            <a:ext cx="804672" cy="566928"/>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.stream()</a:t>
            </a:r>
            <a:endParaRPr lang="en-US" sz="1000" dirty="0"/>
          </a:p>
        </p:txBody>
      </p:sp>
      <p:sp>
        <p:nvSpPr>
          <p:cNvPr id="46" name="Shape 44"/>
          <p:cNvSpPr/>
          <p:nvPr/>
        </p:nvSpPr>
        <p:spPr>
          <a:xfrm>
            <a:off x="8567928" y="5257800"/>
            <a:ext cx="201168" cy="201168"/>
          </a:xfrm>
          <a:prstGeom prst="rightArrow">
            <a:avLst/>
          </a:prstGeom>
          <a:solidFill>
            <a:srgbClr val="17A398"/>
          </a:solidFill>
          <a:ln w="12700">
            <a:solidFill>
              <a:srgbClr val="17A398"/>
            </a:solidFill>
            <a:prstDash val="solid"/>
          </a:ln>
        </p:spPr>
      </p:sp>
      <p:sp>
        <p:nvSpPr>
          <p:cNvPr id="47" name="Shape 45"/>
          <p:cNvSpPr/>
          <p:nvPr/>
        </p:nvSpPr>
        <p:spPr>
          <a:xfrm>
            <a:off x="8805672" y="5074920"/>
            <a:ext cx="777240" cy="566928"/>
          </a:xfrm>
          <a:prstGeom prst="roundRect">
            <a:avLst>
              <a:gd name="adj" fmla="val 14516"/>
            </a:avLst>
          </a:prstGeom>
          <a:solidFill>
            <a:srgbClr val="FFFFFF"/>
          </a:solidFill>
          <a:ln w="12700">
            <a:solidFill>
              <a:srgbClr val="17A398"/>
            </a:solidFill>
            <a:prstDash val="solid"/>
          </a:ln>
        </p:spPr>
      </p:sp>
      <p:sp>
        <p:nvSpPr>
          <p:cNvPr id="48" name="Text 46"/>
          <p:cNvSpPr txBox="1"/>
          <p:nvPr/>
        </p:nvSpPr>
        <p:spPr>
          <a:xfrm>
            <a:off x="8860536" y="5074920"/>
            <a:ext cx="667512" cy="566928"/>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chunks</a:t>
            </a:r>
            <a:endParaRPr lang="en-US" sz="1000" dirty="0"/>
          </a:p>
        </p:txBody>
      </p:sp>
      <p:sp>
        <p:nvSpPr>
          <p:cNvPr id="49" name="Shape 47"/>
          <p:cNvSpPr/>
          <p:nvPr/>
        </p:nvSpPr>
        <p:spPr>
          <a:xfrm>
            <a:off x="9619488" y="5257800"/>
            <a:ext cx="201168" cy="201168"/>
          </a:xfrm>
          <a:prstGeom prst="rightArrow">
            <a:avLst/>
          </a:prstGeom>
          <a:solidFill>
            <a:srgbClr val="17A398"/>
          </a:solidFill>
          <a:ln w="12700">
            <a:solidFill>
              <a:srgbClr val="17A398"/>
            </a:solidFill>
            <a:prstDash val="solid"/>
          </a:ln>
        </p:spPr>
      </p:sp>
      <p:sp>
        <p:nvSpPr>
          <p:cNvPr id="50" name="Shape 48"/>
          <p:cNvSpPr/>
          <p:nvPr/>
        </p:nvSpPr>
        <p:spPr>
          <a:xfrm>
            <a:off x="9857232" y="5074920"/>
            <a:ext cx="1417320" cy="566928"/>
          </a:xfrm>
          <a:prstGeom prst="roundRect">
            <a:avLst>
              <a:gd name="adj" fmla="val 14516"/>
            </a:avLst>
          </a:prstGeom>
          <a:solidFill>
            <a:srgbClr val="FFFFFF"/>
          </a:solidFill>
          <a:ln w="12700">
            <a:solidFill>
              <a:srgbClr val="17A398"/>
            </a:solidFill>
            <a:prstDash val="solid"/>
          </a:ln>
        </p:spPr>
      </p:sp>
      <p:sp>
        <p:nvSpPr>
          <p:cNvPr id="51" name="Text 49"/>
          <p:cNvSpPr txBox="1"/>
          <p:nvPr/>
        </p:nvSpPr>
        <p:spPr>
          <a:xfrm>
            <a:off x="9912096" y="5074920"/>
            <a:ext cx="1307592" cy="566928"/>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st.write_stream()</a:t>
            </a:r>
            <a:endParaRPr lang="en-US" sz="1000" dirty="0"/>
          </a:p>
        </p:txBody>
      </p:sp>
      <p:sp>
        <p:nvSpPr>
          <p:cNvPr id="52" name="Text 50"/>
          <p:cNvSpPr txBox="1"/>
          <p:nvPr/>
        </p:nvSpPr>
        <p:spPr>
          <a:xfrm>
            <a:off x="6473952" y="5705856"/>
            <a:ext cx="4937760" cy="274320"/>
          </a:xfrm>
          <a:prstGeom prst="rect">
            <a:avLst/>
          </a:prstGeom>
          <a:noFill/>
          <a:ln/>
        </p:spPr>
        <p:txBody>
          <a:bodyPr wrap="square" lIns="0" tIns="0" rIns="0" bIns="0" rtlCol="0" anchor="ctr"/>
          <a:lstStyle/>
          <a:p>
            <a:pPr indent="0" marL="0">
              <a:buNone/>
            </a:pPr>
            <a:r>
              <a:rPr lang="en-US" sz="1100" i="1" dirty="0">
                <a:solidFill>
                  <a:srgbClr val="5A6B78"/>
                </a:solidFill>
                <a:latin typeface="Calibri" pitchFamily="34" charset="0"/>
                <a:ea typeface="Calibri" pitchFamily="34" charset="-122"/>
                <a:cs typeface="Calibri" pitchFamily="34" charset="-120"/>
              </a:rPr>
              <a:t>Live recommendations appear word by word.</a:t>
            </a:r>
            <a:endParaRPr lang="en-US" sz="1100" dirty="0"/>
          </a:p>
        </p:txBody>
      </p:sp>
      <p:sp>
        <p:nvSpPr>
          <p:cNvPr id="53" name="Text 51"/>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5</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Streamlit User Interface</a:t>
            </a:r>
            <a:endParaRPr lang="en-US" sz="3000" dirty="0"/>
          </a:p>
        </p:txBody>
      </p:sp>
      <p:sp>
        <p:nvSpPr>
          <p:cNvPr id="4" name="Shape 2"/>
          <p:cNvSpPr/>
          <p:nvPr/>
        </p:nvSpPr>
        <p:spPr>
          <a:xfrm>
            <a:off x="548640" y="1298448"/>
            <a:ext cx="3017520" cy="4160520"/>
          </a:xfrm>
          <a:prstGeom prst="roundRect">
            <a:avLst>
              <a:gd name="adj" fmla="val 2727"/>
            </a:avLst>
          </a:prstGeom>
          <a:solidFill>
            <a:srgbClr val="0B2545"/>
          </a:solidFill>
          <a:ln w="12700">
            <a:solidFill>
              <a:srgbClr val="0B2545"/>
            </a:solidFill>
            <a:prstDash val="solid"/>
          </a:ln>
        </p:spPr>
      </p:sp>
      <p:sp>
        <p:nvSpPr>
          <p:cNvPr id="5" name="Text 3"/>
          <p:cNvSpPr txBox="1"/>
          <p:nvPr/>
        </p:nvSpPr>
        <p:spPr>
          <a:xfrm>
            <a:off x="777240" y="1481328"/>
            <a:ext cx="2560320" cy="3200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FinWise AI</a:t>
            </a:r>
            <a:endParaRPr lang="en-US" sz="1800" dirty="0"/>
          </a:p>
        </p:txBody>
      </p:sp>
      <p:sp>
        <p:nvSpPr>
          <p:cNvPr id="6" name="Text 4"/>
          <p:cNvSpPr txBox="1"/>
          <p:nvPr/>
        </p:nvSpPr>
        <p:spPr>
          <a:xfrm>
            <a:off x="777240" y="1801368"/>
            <a:ext cx="2560320" cy="228600"/>
          </a:xfrm>
          <a:prstGeom prst="rect">
            <a:avLst/>
          </a:prstGeom>
          <a:noFill/>
          <a:ln/>
        </p:spPr>
        <p:txBody>
          <a:bodyPr wrap="square" lIns="0" tIns="0" rIns="0" bIns="0" rtlCol="0" anchor="ctr"/>
          <a:lstStyle/>
          <a:p>
            <a:pPr indent="0" marL="0">
              <a:buNone/>
            </a:pPr>
            <a:r>
              <a:rPr lang="en-US" sz="1050" b="1" spc="150" kern="0" dirty="0">
                <a:solidFill>
                  <a:srgbClr val="5AD2C0"/>
                </a:solidFill>
                <a:latin typeface="Calibri" pitchFamily="34" charset="0"/>
                <a:ea typeface="Calibri" pitchFamily="34" charset="-122"/>
                <a:cs typeface="Calibri" pitchFamily="34" charset="-120"/>
              </a:rPr>
              <a:t>Sidebar</a:t>
            </a:r>
            <a:endParaRPr lang="en-US" sz="1050" dirty="0"/>
          </a:p>
        </p:txBody>
      </p:sp>
      <p:sp>
        <p:nvSpPr>
          <p:cNvPr id="7" name="Shape 5"/>
          <p:cNvSpPr/>
          <p:nvPr/>
        </p:nvSpPr>
        <p:spPr>
          <a:xfrm>
            <a:off x="777240" y="2212848"/>
            <a:ext cx="2560320" cy="420624"/>
          </a:xfrm>
          <a:prstGeom prst="roundRect">
            <a:avLst>
              <a:gd name="adj" fmla="val 15217"/>
            </a:avLst>
          </a:prstGeom>
          <a:solidFill>
            <a:srgbClr val="13375B"/>
          </a:solidFill>
          <a:ln w="12700">
            <a:solidFill>
              <a:srgbClr val="2C5273"/>
            </a:solidFill>
            <a:prstDash val="solid"/>
          </a:ln>
        </p:spPr>
      </p:sp>
      <p:sp>
        <p:nvSpPr>
          <p:cNvPr id="8" name="Text 6"/>
          <p:cNvSpPr txBox="1"/>
          <p:nvPr/>
        </p:nvSpPr>
        <p:spPr>
          <a:xfrm>
            <a:off x="914400" y="2212848"/>
            <a:ext cx="2377440" cy="420624"/>
          </a:xfrm>
          <a:prstGeom prst="rect">
            <a:avLst/>
          </a:prstGeom>
          <a:noFill/>
          <a:ln/>
        </p:spPr>
        <p:txBody>
          <a:bodyPr wrap="square" lIns="0" tIns="0" rIns="0" bIns="0" rtlCol="0" anchor="ctr"/>
          <a:lstStyle/>
          <a:p>
            <a:pPr indent="0" marL="0">
              <a:buNone/>
            </a:pPr>
            <a:r>
              <a:rPr lang="en-US" sz="1150" dirty="0">
                <a:solidFill>
                  <a:srgbClr val="D6E6EC"/>
                </a:solidFill>
                <a:latin typeface="Calibri" pitchFamily="34" charset="0"/>
                <a:ea typeface="Calibri" pitchFamily="34" charset="-122"/>
                <a:cs typeface="Calibri" pitchFamily="34" charset="-120"/>
              </a:rPr>
              <a:t>API / model settings</a:t>
            </a:r>
            <a:endParaRPr lang="en-US" sz="1150" dirty="0"/>
          </a:p>
        </p:txBody>
      </p:sp>
      <p:sp>
        <p:nvSpPr>
          <p:cNvPr id="9" name="Shape 7"/>
          <p:cNvSpPr/>
          <p:nvPr/>
        </p:nvSpPr>
        <p:spPr>
          <a:xfrm>
            <a:off x="777240" y="2761488"/>
            <a:ext cx="2560320" cy="420624"/>
          </a:xfrm>
          <a:prstGeom prst="roundRect">
            <a:avLst>
              <a:gd name="adj" fmla="val 15217"/>
            </a:avLst>
          </a:prstGeom>
          <a:solidFill>
            <a:srgbClr val="13375B"/>
          </a:solidFill>
          <a:ln w="12700">
            <a:solidFill>
              <a:srgbClr val="2C5273"/>
            </a:solidFill>
            <a:prstDash val="solid"/>
          </a:ln>
        </p:spPr>
      </p:sp>
      <p:sp>
        <p:nvSpPr>
          <p:cNvPr id="10" name="Text 8"/>
          <p:cNvSpPr txBox="1"/>
          <p:nvPr/>
        </p:nvSpPr>
        <p:spPr>
          <a:xfrm>
            <a:off x="914400" y="2761488"/>
            <a:ext cx="2377440" cy="420624"/>
          </a:xfrm>
          <a:prstGeom prst="rect">
            <a:avLst/>
          </a:prstGeom>
          <a:noFill/>
          <a:ln/>
        </p:spPr>
        <p:txBody>
          <a:bodyPr wrap="square" lIns="0" tIns="0" rIns="0" bIns="0" rtlCol="0" anchor="ctr"/>
          <a:lstStyle/>
          <a:p>
            <a:pPr indent="0" marL="0">
              <a:buNone/>
            </a:pPr>
            <a:r>
              <a:rPr lang="en-US" sz="1150" dirty="0">
                <a:solidFill>
                  <a:srgbClr val="D6E6EC"/>
                </a:solidFill>
                <a:latin typeface="Calibri" pitchFamily="34" charset="0"/>
                <a:ea typeface="Calibri" pitchFamily="34" charset="-122"/>
                <a:cs typeface="Calibri" pitchFamily="34" charset="-120"/>
              </a:rPr>
              <a:t>Cache selection</a:t>
            </a:r>
            <a:endParaRPr lang="en-US" sz="1150" dirty="0"/>
          </a:p>
        </p:txBody>
      </p:sp>
      <p:sp>
        <p:nvSpPr>
          <p:cNvPr id="11" name="Shape 9"/>
          <p:cNvSpPr/>
          <p:nvPr/>
        </p:nvSpPr>
        <p:spPr>
          <a:xfrm>
            <a:off x="777240" y="3310128"/>
            <a:ext cx="2560320" cy="420624"/>
          </a:xfrm>
          <a:prstGeom prst="roundRect">
            <a:avLst>
              <a:gd name="adj" fmla="val 15217"/>
            </a:avLst>
          </a:prstGeom>
          <a:solidFill>
            <a:srgbClr val="13375B"/>
          </a:solidFill>
          <a:ln w="12700">
            <a:solidFill>
              <a:srgbClr val="2C5273"/>
            </a:solidFill>
            <a:prstDash val="solid"/>
          </a:ln>
        </p:spPr>
      </p:sp>
      <p:sp>
        <p:nvSpPr>
          <p:cNvPr id="12" name="Text 10"/>
          <p:cNvSpPr txBox="1"/>
          <p:nvPr/>
        </p:nvSpPr>
        <p:spPr>
          <a:xfrm>
            <a:off x="914400" y="3310128"/>
            <a:ext cx="2377440" cy="420624"/>
          </a:xfrm>
          <a:prstGeom prst="rect">
            <a:avLst/>
          </a:prstGeom>
          <a:noFill/>
          <a:ln/>
        </p:spPr>
        <p:txBody>
          <a:bodyPr wrap="square" lIns="0" tIns="0" rIns="0" bIns="0" rtlCol="0" anchor="ctr"/>
          <a:lstStyle/>
          <a:p>
            <a:pPr indent="0" marL="0">
              <a:buNone/>
            </a:pPr>
            <a:r>
              <a:rPr lang="en-US" sz="1150" dirty="0">
                <a:solidFill>
                  <a:srgbClr val="D6E6EC"/>
                </a:solidFill>
                <a:latin typeface="Calibri" pitchFamily="34" charset="0"/>
                <a:ea typeface="Calibri" pitchFamily="34" charset="-122"/>
                <a:cs typeface="Calibri" pitchFamily="34" charset="-120"/>
              </a:rPr>
              <a:t>Reset session</a:t>
            </a:r>
            <a:endParaRPr lang="en-US" sz="1150" dirty="0"/>
          </a:p>
        </p:txBody>
      </p:sp>
      <p:sp>
        <p:nvSpPr>
          <p:cNvPr id="13" name="Shape 11"/>
          <p:cNvSpPr/>
          <p:nvPr/>
        </p:nvSpPr>
        <p:spPr>
          <a:xfrm>
            <a:off x="777240" y="3950208"/>
            <a:ext cx="2560320" cy="1280160"/>
          </a:xfrm>
          <a:prstGeom prst="roundRect">
            <a:avLst>
              <a:gd name="adj" fmla="val 5000"/>
            </a:avLst>
          </a:prstGeom>
          <a:solidFill>
            <a:srgbClr val="16324F"/>
          </a:solidFill>
          <a:ln w="12700">
            <a:solidFill>
              <a:srgbClr val="2C5273"/>
            </a:solidFill>
            <a:prstDash val="solid"/>
          </a:ln>
        </p:spPr>
      </p:sp>
      <p:sp>
        <p:nvSpPr>
          <p:cNvPr id="14" name="Text 12"/>
          <p:cNvSpPr txBox="1"/>
          <p:nvPr/>
        </p:nvSpPr>
        <p:spPr>
          <a:xfrm>
            <a:off x="914400" y="4059936"/>
            <a:ext cx="2331720" cy="1097280"/>
          </a:xfrm>
          <a:prstGeom prst="rect">
            <a:avLst/>
          </a:prstGeom>
          <a:noFill/>
          <a:ln/>
        </p:spPr>
        <p:txBody>
          <a:bodyPr wrap="square" lIns="0" tIns="0" rIns="0" bIns="0" rtlCol="0" anchor="ctr"/>
          <a:lstStyle/>
          <a:p>
            <a:pPr indent="0" marL="0">
              <a:buNone/>
            </a:pPr>
            <a:r>
              <a:rPr lang="en-US" sz="1050" dirty="0">
                <a:solidFill>
                  <a:srgbClr val="F2C57C"/>
                </a:solidFill>
                <a:latin typeface="Calibri" pitchFamily="34" charset="0"/>
                <a:ea typeface="Calibri" pitchFamily="34" charset="-122"/>
                <a:cs typeface="Calibri" pitchFamily="34" charset="-120"/>
              </a:rPr>
              <a:t>Educational disclaimer</a:t>
            </a:r>
            <a:endParaRPr lang="en-US" sz="1050" dirty="0"/>
          </a:p>
          <a:p>
            <a:pPr indent="0" marL="0">
              <a:buNone/>
            </a:pPr>
            <a:endParaRPr lang="en-US" sz="1050" dirty="0"/>
          </a:p>
          <a:p>
            <a:pPr indent="0" marL="0">
              <a:buNone/>
            </a:pPr>
            <a:r>
              <a:rPr lang="en-US" sz="1050" dirty="0">
                <a:solidFill>
                  <a:srgbClr val="F2C57C"/>
                </a:solidFill>
                <a:latin typeface="Calibri" pitchFamily="34" charset="0"/>
                <a:ea typeface="Calibri" pitchFamily="34" charset="-122"/>
                <a:cs typeface="Calibri" pitchFamily="34" charset="-120"/>
              </a:rPr>
              <a:t>FinWise AI is a learning prototype. It does not provide guaranteed financial advice.</a:t>
            </a:r>
            <a:endParaRPr lang="en-US" sz="1050" dirty="0"/>
          </a:p>
        </p:txBody>
      </p:sp>
      <p:sp>
        <p:nvSpPr>
          <p:cNvPr id="15" name="Shape 13"/>
          <p:cNvSpPr/>
          <p:nvPr/>
        </p:nvSpPr>
        <p:spPr>
          <a:xfrm>
            <a:off x="3749040" y="1298448"/>
            <a:ext cx="7891272" cy="4160520"/>
          </a:xfrm>
          <a:prstGeom prst="roundRect">
            <a:avLst>
              <a:gd name="adj" fmla="val 1978"/>
            </a:avLst>
          </a:prstGeom>
          <a:solidFill>
            <a:srgbClr val="FFFFFF"/>
          </a:solidFill>
          <a:ln w="12700">
            <a:solidFill>
              <a:srgbClr val="D3E1E5"/>
            </a:solidFill>
            <a:prstDash val="solid"/>
          </a:ln>
        </p:spPr>
      </p:sp>
      <p:sp>
        <p:nvSpPr>
          <p:cNvPr id="16" name="Text 14"/>
          <p:cNvSpPr txBox="1"/>
          <p:nvPr/>
        </p:nvSpPr>
        <p:spPr>
          <a:xfrm>
            <a:off x="3977640" y="1444752"/>
            <a:ext cx="4572000" cy="292608"/>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Main input form</a:t>
            </a:r>
            <a:endParaRPr lang="en-US" sz="1450" dirty="0"/>
          </a:p>
        </p:txBody>
      </p:sp>
      <p:sp>
        <p:nvSpPr>
          <p:cNvPr id="17" name="Text 15"/>
          <p:cNvSpPr txBox="1"/>
          <p:nvPr/>
        </p:nvSpPr>
        <p:spPr>
          <a:xfrm>
            <a:off x="9966960" y="1463040"/>
            <a:ext cx="1463040" cy="274320"/>
          </a:xfrm>
          <a:prstGeom prst="rect">
            <a:avLst/>
          </a:prstGeom>
          <a:noFill/>
          <a:ln/>
        </p:spPr>
        <p:txBody>
          <a:bodyPr wrap="square" lIns="0" tIns="0" rIns="0" bIns="0" rtlCol="0" anchor="ctr"/>
          <a:lstStyle/>
          <a:p>
            <a:pPr algn="r" indent="0" marL="0">
              <a:buNone/>
            </a:pPr>
            <a:r>
              <a:rPr lang="en-US" sz="1050" dirty="0">
                <a:solidFill>
                  <a:srgbClr val="0E7C7B"/>
                </a:solidFill>
                <a:latin typeface="Courier New" pitchFamily="34" charset="0"/>
                <a:ea typeface="Courier New" pitchFamily="34" charset="-122"/>
                <a:cs typeface="Courier New" pitchFamily="34" charset="-120"/>
              </a:rPr>
              <a:t>st.form(...)</a:t>
            </a:r>
            <a:endParaRPr lang="en-US" sz="1050" dirty="0"/>
          </a:p>
        </p:txBody>
      </p:sp>
      <p:sp>
        <p:nvSpPr>
          <p:cNvPr id="18" name="Text 16"/>
          <p:cNvSpPr txBox="1"/>
          <p:nvPr/>
        </p:nvSpPr>
        <p:spPr>
          <a:xfrm>
            <a:off x="3977640" y="1847088"/>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Monthly income</a:t>
            </a:r>
            <a:endParaRPr lang="en-US" sz="1050" dirty="0"/>
          </a:p>
        </p:txBody>
      </p:sp>
      <p:sp>
        <p:nvSpPr>
          <p:cNvPr id="19" name="Shape 17"/>
          <p:cNvSpPr/>
          <p:nvPr/>
        </p:nvSpPr>
        <p:spPr>
          <a:xfrm>
            <a:off x="3977640" y="2048256"/>
            <a:ext cx="2331720" cy="347472"/>
          </a:xfrm>
          <a:prstGeom prst="roundRect">
            <a:avLst>
              <a:gd name="adj" fmla="val 15789"/>
            </a:avLst>
          </a:prstGeom>
          <a:solidFill>
            <a:srgbClr val="F1F7F8"/>
          </a:solidFill>
          <a:ln w="12700">
            <a:solidFill>
              <a:srgbClr val="D3E1E5"/>
            </a:solidFill>
            <a:prstDash val="solid"/>
          </a:ln>
        </p:spPr>
      </p:sp>
      <p:sp>
        <p:nvSpPr>
          <p:cNvPr id="20" name="Text 18"/>
          <p:cNvSpPr txBox="1"/>
          <p:nvPr/>
        </p:nvSpPr>
        <p:spPr>
          <a:xfrm>
            <a:off x="6519672" y="1847088"/>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Housing</a:t>
            </a:r>
            <a:endParaRPr lang="en-US" sz="1050" dirty="0"/>
          </a:p>
        </p:txBody>
      </p:sp>
      <p:sp>
        <p:nvSpPr>
          <p:cNvPr id="21" name="Shape 19"/>
          <p:cNvSpPr/>
          <p:nvPr/>
        </p:nvSpPr>
        <p:spPr>
          <a:xfrm>
            <a:off x="6519672" y="2048256"/>
            <a:ext cx="2331720" cy="347472"/>
          </a:xfrm>
          <a:prstGeom prst="roundRect">
            <a:avLst>
              <a:gd name="adj" fmla="val 15789"/>
            </a:avLst>
          </a:prstGeom>
          <a:solidFill>
            <a:srgbClr val="F1F7F8"/>
          </a:solidFill>
          <a:ln w="12700">
            <a:solidFill>
              <a:srgbClr val="D3E1E5"/>
            </a:solidFill>
            <a:prstDash val="solid"/>
          </a:ln>
        </p:spPr>
      </p:sp>
      <p:sp>
        <p:nvSpPr>
          <p:cNvPr id="22" name="Text 20"/>
          <p:cNvSpPr txBox="1"/>
          <p:nvPr/>
        </p:nvSpPr>
        <p:spPr>
          <a:xfrm>
            <a:off x="9061704" y="1847088"/>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Food</a:t>
            </a:r>
            <a:endParaRPr lang="en-US" sz="1050" dirty="0"/>
          </a:p>
        </p:txBody>
      </p:sp>
      <p:sp>
        <p:nvSpPr>
          <p:cNvPr id="23" name="Shape 21"/>
          <p:cNvSpPr/>
          <p:nvPr/>
        </p:nvSpPr>
        <p:spPr>
          <a:xfrm>
            <a:off x="9061704" y="2048256"/>
            <a:ext cx="2331720" cy="347472"/>
          </a:xfrm>
          <a:prstGeom prst="roundRect">
            <a:avLst>
              <a:gd name="adj" fmla="val 15789"/>
            </a:avLst>
          </a:prstGeom>
          <a:solidFill>
            <a:srgbClr val="F1F7F8"/>
          </a:solidFill>
          <a:ln w="12700">
            <a:solidFill>
              <a:srgbClr val="D3E1E5"/>
            </a:solidFill>
            <a:prstDash val="solid"/>
          </a:ln>
        </p:spPr>
      </p:sp>
      <p:sp>
        <p:nvSpPr>
          <p:cNvPr id="24" name="Text 22"/>
          <p:cNvSpPr txBox="1"/>
          <p:nvPr/>
        </p:nvSpPr>
        <p:spPr>
          <a:xfrm>
            <a:off x="3977640" y="2505456"/>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Transportation</a:t>
            </a:r>
            <a:endParaRPr lang="en-US" sz="1050" dirty="0"/>
          </a:p>
        </p:txBody>
      </p:sp>
      <p:sp>
        <p:nvSpPr>
          <p:cNvPr id="25" name="Shape 23"/>
          <p:cNvSpPr/>
          <p:nvPr/>
        </p:nvSpPr>
        <p:spPr>
          <a:xfrm>
            <a:off x="3977640" y="2706624"/>
            <a:ext cx="2331720" cy="347472"/>
          </a:xfrm>
          <a:prstGeom prst="roundRect">
            <a:avLst>
              <a:gd name="adj" fmla="val 15789"/>
            </a:avLst>
          </a:prstGeom>
          <a:solidFill>
            <a:srgbClr val="F1F7F8"/>
          </a:solidFill>
          <a:ln w="12700">
            <a:solidFill>
              <a:srgbClr val="D3E1E5"/>
            </a:solidFill>
            <a:prstDash val="solid"/>
          </a:ln>
        </p:spPr>
      </p:sp>
      <p:sp>
        <p:nvSpPr>
          <p:cNvPr id="26" name="Text 24"/>
          <p:cNvSpPr txBox="1"/>
          <p:nvPr/>
        </p:nvSpPr>
        <p:spPr>
          <a:xfrm>
            <a:off x="6519672" y="2505456"/>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Utilities</a:t>
            </a:r>
            <a:endParaRPr lang="en-US" sz="1050" dirty="0"/>
          </a:p>
        </p:txBody>
      </p:sp>
      <p:sp>
        <p:nvSpPr>
          <p:cNvPr id="27" name="Shape 25"/>
          <p:cNvSpPr/>
          <p:nvPr/>
        </p:nvSpPr>
        <p:spPr>
          <a:xfrm>
            <a:off x="6519672" y="2706624"/>
            <a:ext cx="2331720" cy="347472"/>
          </a:xfrm>
          <a:prstGeom prst="roundRect">
            <a:avLst>
              <a:gd name="adj" fmla="val 15789"/>
            </a:avLst>
          </a:prstGeom>
          <a:solidFill>
            <a:srgbClr val="F1F7F8"/>
          </a:solidFill>
          <a:ln w="12700">
            <a:solidFill>
              <a:srgbClr val="D3E1E5"/>
            </a:solidFill>
            <a:prstDash val="solid"/>
          </a:ln>
        </p:spPr>
      </p:sp>
      <p:sp>
        <p:nvSpPr>
          <p:cNvPr id="28" name="Text 26"/>
          <p:cNvSpPr txBox="1"/>
          <p:nvPr/>
        </p:nvSpPr>
        <p:spPr>
          <a:xfrm>
            <a:off x="9061704" y="2505456"/>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Education</a:t>
            </a:r>
            <a:endParaRPr lang="en-US" sz="1050" dirty="0"/>
          </a:p>
        </p:txBody>
      </p:sp>
      <p:sp>
        <p:nvSpPr>
          <p:cNvPr id="29" name="Shape 27"/>
          <p:cNvSpPr/>
          <p:nvPr/>
        </p:nvSpPr>
        <p:spPr>
          <a:xfrm>
            <a:off x="9061704" y="2706624"/>
            <a:ext cx="2331720" cy="347472"/>
          </a:xfrm>
          <a:prstGeom prst="roundRect">
            <a:avLst>
              <a:gd name="adj" fmla="val 15789"/>
            </a:avLst>
          </a:prstGeom>
          <a:solidFill>
            <a:srgbClr val="F1F7F8"/>
          </a:solidFill>
          <a:ln w="12700">
            <a:solidFill>
              <a:srgbClr val="D3E1E5"/>
            </a:solidFill>
            <a:prstDash val="solid"/>
          </a:ln>
        </p:spPr>
      </p:sp>
      <p:sp>
        <p:nvSpPr>
          <p:cNvPr id="30" name="Text 28"/>
          <p:cNvSpPr txBox="1"/>
          <p:nvPr/>
        </p:nvSpPr>
        <p:spPr>
          <a:xfrm>
            <a:off x="3977640" y="3163824"/>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Healthcare</a:t>
            </a:r>
            <a:endParaRPr lang="en-US" sz="1050" dirty="0"/>
          </a:p>
        </p:txBody>
      </p:sp>
      <p:sp>
        <p:nvSpPr>
          <p:cNvPr id="31" name="Shape 29"/>
          <p:cNvSpPr/>
          <p:nvPr/>
        </p:nvSpPr>
        <p:spPr>
          <a:xfrm>
            <a:off x="3977640" y="3364992"/>
            <a:ext cx="2331720" cy="347472"/>
          </a:xfrm>
          <a:prstGeom prst="roundRect">
            <a:avLst>
              <a:gd name="adj" fmla="val 15789"/>
            </a:avLst>
          </a:prstGeom>
          <a:solidFill>
            <a:srgbClr val="F1F7F8"/>
          </a:solidFill>
          <a:ln w="12700">
            <a:solidFill>
              <a:srgbClr val="D3E1E5"/>
            </a:solidFill>
            <a:prstDash val="solid"/>
          </a:ln>
        </p:spPr>
      </p:sp>
      <p:sp>
        <p:nvSpPr>
          <p:cNvPr id="32" name="Text 30"/>
          <p:cNvSpPr txBox="1"/>
          <p:nvPr/>
        </p:nvSpPr>
        <p:spPr>
          <a:xfrm>
            <a:off x="6519672" y="3163824"/>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Entertainment</a:t>
            </a:r>
            <a:endParaRPr lang="en-US" sz="1050" dirty="0"/>
          </a:p>
        </p:txBody>
      </p:sp>
      <p:sp>
        <p:nvSpPr>
          <p:cNvPr id="33" name="Shape 31"/>
          <p:cNvSpPr/>
          <p:nvPr/>
        </p:nvSpPr>
        <p:spPr>
          <a:xfrm>
            <a:off x="6519672" y="3364992"/>
            <a:ext cx="2331720" cy="347472"/>
          </a:xfrm>
          <a:prstGeom prst="roundRect">
            <a:avLst>
              <a:gd name="adj" fmla="val 15789"/>
            </a:avLst>
          </a:prstGeom>
          <a:solidFill>
            <a:srgbClr val="F1F7F8"/>
          </a:solidFill>
          <a:ln w="12700">
            <a:solidFill>
              <a:srgbClr val="D3E1E5"/>
            </a:solidFill>
            <a:prstDash val="solid"/>
          </a:ln>
        </p:spPr>
      </p:sp>
      <p:sp>
        <p:nvSpPr>
          <p:cNvPr id="34" name="Text 32"/>
          <p:cNvSpPr txBox="1"/>
          <p:nvPr/>
        </p:nvSpPr>
        <p:spPr>
          <a:xfrm>
            <a:off x="9061704" y="3163824"/>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Loan / debt</a:t>
            </a:r>
            <a:endParaRPr lang="en-US" sz="1050" dirty="0"/>
          </a:p>
        </p:txBody>
      </p:sp>
      <p:sp>
        <p:nvSpPr>
          <p:cNvPr id="35" name="Shape 33"/>
          <p:cNvSpPr/>
          <p:nvPr/>
        </p:nvSpPr>
        <p:spPr>
          <a:xfrm>
            <a:off x="9061704" y="3364992"/>
            <a:ext cx="2331720" cy="347472"/>
          </a:xfrm>
          <a:prstGeom prst="roundRect">
            <a:avLst>
              <a:gd name="adj" fmla="val 15789"/>
            </a:avLst>
          </a:prstGeom>
          <a:solidFill>
            <a:srgbClr val="F1F7F8"/>
          </a:solidFill>
          <a:ln w="12700">
            <a:solidFill>
              <a:srgbClr val="D3E1E5"/>
            </a:solidFill>
            <a:prstDash val="solid"/>
          </a:ln>
        </p:spPr>
      </p:sp>
      <p:sp>
        <p:nvSpPr>
          <p:cNvPr id="36" name="Text 34"/>
          <p:cNvSpPr txBox="1"/>
          <p:nvPr/>
        </p:nvSpPr>
        <p:spPr>
          <a:xfrm>
            <a:off x="3977640" y="3822192"/>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Other</a:t>
            </a:r>
            <a:endParaRPr lang="en-US" sz="1050" dirty="0"/>
          </a:p>
        </p:txBody>
      </p:sp>
      <p:sp>
        <p:nvSpPr>
          <p:cNvPr id="37" name="Shape 35"/>
          <p:cNvSpPr/>
          <p:nvPr/>
        </p:nvSpPr>
        <p:spPr>
          <a:xfrm>
            <a:off x="3977640" y="4023360"/>
            <a:ext cx="2331720" cy="347472"/>
          </a:xfrm>
          <a:prstGeom prst="roundRect">
            <a:avLst>
              <a:gd name="adj" fmla="val 15789"/>
            </a:avLst>
          </a:prstGeom>
          <a:solidFill>
            <a:srgbClr val="F1F7F8"/>
          </a:solidFill>
          <a:ln w="12700">
            <a:solidFill>
              <a:srgbClr val="D3E1E5"/>
            </a:solidFill>
            <a:prstDash val="solid"/>
          </a:ln>
        </p:spPr>
      </p:sp>
      <p:sp>
        <p:nvSpPr>
          <p:cNvPr id="38" name="Text 36"/>
          <p:cNvSpPr txBox="1"/>
          <p:nvPr/>
        </p:nvSpPr>
        <p:spPr>
          <a:xfrm>
            <a:off x="6519672" y="3822192"/>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Current savings</a:t>
            </a:r>
            <a:endParaRPr lang="en-US" sz="1050" dirty="0"/>
          </a:p>
        </p:txBody>
      </p:sp>
      <p:sp>
        <p:nvSpPr>
          <p:cNvPr id="39" name="Shape 37"/>
          <p:cNvSpPr/>
          <p:nvPr/>
        </p:nvSpPr>
        <p:spPr>
          <a:xfrm>
            <a:off x="6519672" y="4023360"/>
            <a:ext cx="2331720" cy="347472"/>
          </a:xfrm>
          <a:prstGeom prst="roundRect">
            <a:avLst>
              <a:gd name="adj" fmla="val 15789"/>
            </a:avLst>
          </a:prstGeom>
          <a:solidFill>
            <a:srgbClr val="F1F7F8"/>
          </a:solidFill>
          <a:ln w="12700">
            <a:solidFill>
              <a:srgbClr val="D3E1E5"/>
            </a:solidFill>
            <a:prstDash val="solid"/>
          </a:ln>
        </p:spPr>
      </p:sp>
      <p:sp>
        <p:nvSpPr>
          <p:cNvPr id="40" name="Text 38"/>
          <p:cNvSpPr txBox="1"/>
          <p:nvPr/>
        </p:nvSpPr>
        <p:spPr>
          <a:xfrm>
            <a:off x="9061704" y="3822192"/>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Financial goal</a:t>
            </a:r>
            <a:endParaRPr lang="en-US" sz="1050" dirty="0"/>
          </a:p>
        </p:txBody>
      </p:sp>
      <p:sp>
        <p:nvSpPr>
          <p:cNvPr id="41" name="Shape 39"/>
          <p:cNvSpPr/>
          <p:nvPr/>
        </p:nvSpPr>
        <p:spPr>
          <a:xfrm>
            <a:off x="9061704" y="4023360"/>
            <a:ext cx="2331720" cy="347472"/>
          </a:xfrm>
          <a:prstGeom prst="roundRect">
            <a:avLst>
              <a:gd name="adj" fmla="val 15789"/>
            </a:avLst>
          </a:prstGeom>
          <a:solidFill>
            <a:srgbClr val="F1F7F8"/>
          </a:solidFill>
          <a:ln w="12700">
            <a:solidFill>
              <a:srgbClr val="D3E1E5"/>
            </a:solidFill>
            <a:prstDash val="solid"/>
          </a:ln>
        </p:spPr>
      </p:sp>
      <p:sp>
        <p:nvSpPr>
          <p:cNvPr id="42" name="Text 40"/>
          <p:cNvSpPr txBox="1"/>
          <p:nvPr/>
        </p:nvSpPr>
        <p:spPr>
          <a:xfrm>
            <a:off x="3977640" y="4498848"/>
            <a:ext cx="2377440" cy="201168"/>
          </a:xfrm>
          <a:prstGeom prst="rect">
            <a:avLst/>
          </a:prstGeom>
          <a:noFill/>
          <a:ln/>
        </p:spPr>
        <p:txBody>
          <a:bodyPr wrap="square" lIns="0" tIns="0" rIns="0" bIns="0" rtlCol="0" anchor="ctr"/>
          <a:lstStyle/>
          <a:p>
            <a:pPr indent="0" marL="0">
              <a:buNone/>
            </a:pPr>
            <a:r>
              <a:rPr lang="en-US" sz="1050" b="1" dirty="0">
                <a:solidFill>
                  <a:srgbClr val="5A6B78"/>
                </a:solidFill>
                <a:latin typeface="Calibri" pitchFamily="34" charset="0"/>
                <a:ea typeface="Calibri" pitchFamily="34" charset="-122"/>
                <a:cs typeface="Calibri" pitchFamily="34" charset="-120"/>
              </a:rPr>
              <a:t>Currency</a:t>
            </a:r>
            <a:endParaRPr lang="en-US" sz="1050" dirty="0"/>
          </a:p>
        </p:txBody>
      </p:sp>
      <p:sp>
        <p:nvSpPr>
          <p:cNvPr id="43" name="Shape 41"/>
          <p:cNvSpPr/>
          <p:nvPr/>
        </p:nvSpPr>
        <p:spPr>
          <a:xfrm>
            <a:off x="3977640" y="4700016"/>
            <a:ext cx="2331720" cy="347472"/>
          </a:xfrm>
          <a:prstGeom prst="roundRect">
            <a:avLst>
              <a:gd name="adj" fmla="val 15789"/>
            </a:avLst>
          </a:prstGeom>
          <a:solidFill>
            <a:srgbClr val="F1F7F8"/>
          </a:solidFill>
          <a:ln w="12700">
            <a:solidFill>
              <a:srgbClr val="D3E1E5"/>
            </a:solidFill>
            <a:prstDash val="solid"/>
          </a:ln>
        </p:spPr>
      </p:sp>
      <p:sp>
        <p:nvSpPr>
          <p:cNvPr id="44" name="Text 42"/>
          <p:cNvSpPr txBox="1"/>
          <p:nvPr/>
        </p:nvSpPr>
        <p:spPr>
          <a:xfrm>
            <a:off x="4114800" y="4700016"/>
            <a:ext cx="2103120" cy="347472"/>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USD  /  PKR  /  EUR</a:t>
            </a:r>
            <a:endParaRPr lang="en-US" sz="1050" dirty="0"/>
          </a:p>
        </p:txBody>
      </p:sp>
      <p:sp>
        <p:nvSpPr>
          <p:cNvPr id="45" name="Shape 43"/>
          <p:cNvSpPr/>
          <p:nvPr/>
        </p:nvSpPr>
        <p:spPr>
          <a:xfrm>
            <a:off x="6519672" y="4700016"/>
            <a:ext cx="2286000" cy="420624"/>
          </a:xfrm>
          <a:prstGeom prst="roundRect">
            <a:avLst>
              <a:gd name="adj" fmla="val 17391"/>
            </a:avLst>
          </a:prstGeom>
          <a:solidFill>
            <a:srgbClr val="0E7C7B"/>
          </a:solidFill>
          <a:ln w="12700">
            <a:solidFill>
              <a:srgbClr val="0E7C7B"/>
            </a:solidFill>
            <a:prstDash val="solid"/>
          </a:ln>
        </p:spPr>
      </p:sp>
      <p:sp>
        <p:nvSpPr>
          <p:cNvPr id="46" name="Text 44"/>
          <p:cNvSpPr txBox="1"/>
          <p:nvPr/>
        </p:nvSpPr>
        <p:spPr>
          <a:xfrm>
            <a:off x="6519672" y="4700016"/>
            <a:ext cx="22860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Analyse my finances</a:t>
            </a:r>
            <a:endParaRPr lang="en-US" sz="1200" dirty="0"/>
          </a:p>
        </p:txBody>
      </p:sp>
      <p:sp>
        <p:nvSpPr>
          <p:cNvPr id="47" name="Shape 45"/>
          <p:cNvSpPr/>
          <p:nvPr/>
        </p:nvSpPr>
        <p:spPr>
          <a:xfrm>
            <a:off x="548640" y="5669280"/>
            <a:ext cx="1997964" cy="420624"/>
          </a:xfrm>
          <a:prstGeom prst="roundRect">
            <a:avLst>
              <a:gd name="adj" fmla="val 50000"/>
            </a:avLst>
          </a:prstGeom>
          <a:solidFill>
            <a:srgbClr val="E7F1F3"/>
          </a:solidFill>
          <a:ln w="12700">
            <a:solidFill>
              <a:srgbClr val="D3E1E5"/>
            </a:solidFill>
            <a:prstDash val="solid"/>
          </a:ln>
        </p:spPr>
      </p:sp>
      <p:sp>
        <p:nvSpPr>
          <p:cNvPr id="48" name="Text 46"/>
          <p:cNvSpPr txBox="1"/>
          <p:nvPr/>
        </p:nvSpPr>
        <p:spPr>
          <a:xfrm>
            <a:off x="548640" y="5669280"/>
            <a:ext cx="1997964" cy="420624"/>
          </a:xfrm>
          <a:prstGeom prst="rect">
            <a:avLst/>
          </a:prstGeom>
          <a:noFill/>
          <a:ln/>
        </p:spPr>
        <p:txBody>
          <a:bodyPr wrap="square" lIns="0" tIns="0" rIns="0" bIns="0" rtlCol="0" anchor="ctr"/>
          <a:lstStyle/>
          <a:p>
            <a:pPr algn="ctr" indent="0" marL="0">
              <a:buNone/>
            </a:pPr>
            <a:r>
              <a:rPr lang="en-US" sz="1100" b="1" dirty="0">
                <a:solidFill>
                  <a:srgbClr val="0B2545"/>
                </a:solidFill>
                <a:latin typeface="Courier New" pitchFamily="34" charset="0"/>
                <a:ea typeface="Courier New" pitchFamily="34" charset="-122"/>
                <a:cs typeface="Courier New" pitchFamily="34" charset="-120"/>
              </a:rPr>
              <a:t>st.number_input()</a:t>
            </a:r>
            <a:endParaRPr lang="en-US" sz="1100" dirty="0"/>
          </a:p>
        </p:txBody>
      </p:sp>
      <p:sp>
        <p:nvSpPr>
          <p:cNvPr id="49" name="Shape 47"/>
          <p:cNvSpPr/>
          <p:nvPr/>
        </p:nvSpPr>
        <p:spPr>
          <a:xfrm>
            <a:off x="2729484" y="5669280"/>
            <a:ext cx="1709928" cy="420624"/>
          </a:xfrm>
          <a:prstGeom prst="roundRect">
            <a:avLst>
              <a:gd name="adj" fmla="val 50000"/>
            </a:avLst>
          </a:prstGeom>
          <a:solidFill>
            <a:srgbClr val="E7F1F3"/>
          </a:solidFill>
          <a:ln w="12700">
            <a:solidFill>
              <a:srgbClr val="D3E1E5"/>
            </a:solidFill>
            <a:prstDash val="solid"/>
          </a:ln>
        </p:spPr>
      </p:sp>
      <p:sp>
        <p:nvSpPr>
          <p:cNvPr id="50" name="Text 48"/>
          <p:cNvSpPr txBox="1"/>
          <p:nvPr/>
        </p:nvSpPr>
        <p:spPr>
          <a:xfrm>
            <a:off x="2729484" y="5669280"/>
            <a:ext cx="1709928" cy="420624"/>
          </a:xfrm>
          <a:prstGeom prst="rect">
            <a:avLst/>
          </a:prstGeom>
          <a:noFill/>
          <a:ln/>
        </p:spPr>
        <p:txBody>
          <a:bodyPr wrap="square" lIns="0" tIns="0" rIns="0" bIns="0" rtlCol="0" anchor="ctr"/>
          <a:lstStyle/>
          <a:p>
            <a:pPr algn="ctr" indent="0" marL="0">
              <a:buNone/>
            </a:pPr>
            <a:r>
              <a:rPr lang="en-US" sz="1100" b="1" dirty="0">
                <a:solidFill>
                  <a:srgbClr val="0B2545"/>
                </a:solidFill>
                <a:latin typeface="Courier New" pitchFamily="34" charset="0"/>
                <a:ea typeface="Courier New" pitchFamily="34" charset="-122"/>
                <a:cs typeface="Courier New" pitchFamily="34" charset="-120"/>
              </a:rPr>
              <a:t>st.selectbox()</a:t>
            </a:r>
            <a:endParaRPr lang="en-US" sz="1100" dirty="0"/>
          </a:p>
        </p:txBody>
      </p:sp>
      <p:sp>
        <p:nvSpPr>
          <p:cNvPr id="51" name="Shape 49"/>
          <p:cNvSpPr/>
          <p:nvPr/>
        </p:nvSpPr>
        <p:spPr>
          <a:xfrm>
            <a:off x="4622292" y="5669280"/>
            <a:ext cx="1229868" cy="420624"/>
          </a:xfrm>
          <a:prstGeom prst="roundRect">
            <a:avLst>
              <a:gd name="adj" fmla="val 50000"/>
            </a:avLst>
          </a:prstGeom>
          <a:solidFill>
            <a:srgbClr val="E7F1F3"/>
          </a:solidFill>
          <a:ln w="12700">
            <a:solidFill>
              <a:srgbClr val="D3E1E5"/>
            </a:solidFill>
            <a:prstDash val="solid"/>
          </a:ln>
        </p:spPr>
      </p:sp>
      <p:sp>
        <p:nvSpPr>
          <p:cNvPr id="52" name="Text 50"/>
          <p:cNvSpPr txBox="1"/>
          <p:nvPr/>
        </p:nvSpPr>
        <p:spPr>
          <a:xfrm>
            <a:off x="4622292" y="5669280"/>
            <a:ext cx="1229868" cy="420624"/>
          </a:xfrm>
          <a:prstGeom prst="rect">
            <a:avLst/>
          </a:prstGeom>
          <a:noFill/>
          <a:ln/>
        </p:spPr>
        <p:txBody>
          <a:bodyPr wrap="square" lIns="0" tIns="0" rIns="0" bIns="0" rtlCol="0" anchor="ctr"/>
          <a:lstStyle/>
          <a:p>
            <a:pPr algn="ctr" indent="0" marL="0">
              <a:buNone/>
            </a:pPr>
            <a:r>
              <a:rPr lang="en-US" sz="1100" b="1" dirty="0">
                <a:solidFill>
                  <a:srgbClr val="0B2545"/>
                </a:solidFill>
                <a:latin typeface="Courier New" pitchFamily="34" charset="0"/>
                <a:ea typeface="Courier New" pitchFamily="34" charset="-122"/>
                <a:cs typeface="Courier New" pitchFamily="34" charset="-120"/>
              </a:rPr>
              <a:t>st.form()</a:t>
            </a:r>
            <a:endParaRPr lang="en-US" sz="1100" dirty="0"/>
          </a:p>
        </p:txBody>
      </p:sp>
      <p:sp>
        <p:nvSpPr>
          <p:cNvPr id="53" name="Shape 51"/>
          <p:cNvSpPr/>
          <p:nvPr/>
        </p:nvSpPr>
        <p:spPr>
          <a:xfrm>
            <a:off x="6035040" y="5669280"/>
            <a:ext cx="1421892" cy="420624"/>
          </a:xfrm>
          <a:prstGeom prst="roundRect">
            <a:avLst>
              <a:gd name="adj" fmla="val 50000"/>
            </a:avLst>
          </a:prstGeom>
          <a:solidFill>
            <a:srgbClr val="E7F1F3"/>
          </a:solidFill>
          <a:ln w="12700">
            <a:solidFill>
              <a:srgbClr val="D3E1E5"/>
            </a:solidFill>
            <a:prstDash val="solid"/>
          </a:ln>
        </p:spPr>
      </p:sp>
      <p:sp>
        <p:nvSpPr>
          <p:cNvPr id="54" name="Text 52"/>
          <p:cNvSpPr txBox="1"/>
          <p:nvPr/>
        </p:nvSpPr>
        <p:spPr>
          <a:xfrm>
            <a:off x="6035040" y="5669280"/>
            <a:ext cx="1421892" cy="420624"/>
          </a:xfrm>
          <a:prstGeom prst="rect">
            <a:avLst/>
          </a:prstGeom>
          <a:noFill/>
          <a:ln/>
        </p:spPr>
        <p:txBody>
          <a:bodyPr wrap="square" lIns="0" tIns="0" rIns="0" bIns="0" rtlCol="0" anchor="ctr"/>
          <a:lstStyle/>
          <a:p>
            <a:pPr algn="ctr" indent="0" marL="0">
              <a:buNone/>
            </a:pPr>
            <a:r>
              <a:rPr lang="en-US" sz="1100" b="1" dirty="0">
                <a:solidFill>
                  <a:srgbClr val="0B2545"/>
                </a:solidFill>
                <a:latin typeface="Courier New" pitchFamily="34" charset="0"/>
                <a:ea typeface="Courier New" pitchFamily="34" charset="-122"/>
                <a:cs typeface="Courier New" pitchFamily="34" charset="-120"/>
              </a:rPr>
              <a:t>st.button()</a:t>
            </a:r>
            <a:endParaRPr lang="en-US" sz="1100" dirty="0"/>
          </a:p>
        </p:txBody>
      </p:sp>
      <p:sp>
        <p:nvSpPr>
          <p:cNvPr id="55" name="Text 53"/>
          <p:cNvSpPr txBox="1"/>
          <p:nvPr/>
        </p:nvSpPr>
        <p:spPr>
          <a:xfrm>
            <a:off x="7731252" y="5669280"/>
            <a:ext cx="3200400" cy="420624"/>
          </a:xfrm>
          <a:prstGeom prst="rect">
            <a:avLst/>
          </a:prstGeom>
          <a:noFill/>
          <a:ln/>
        </p:spPr>
        <p:txBody>
          <a:bodyPr wrap="square" lIns="0" tIns="0" rIns="0" bIns="0" rtlCol="0" anchor="ctr"/>
          <a:lstStyle/>
          <a:p>
            <a:pPr indent="0" marL="0">
              <a:buNone/>
            </a:pPr>
            <a:r>
              <a:rPr lang="en-US" sz="1150" i="1" dirty="0">
                <a:solidFill>
                  <a:srgbClr val="5A6B78"/>
                </a:solidFill>
                <a:latin typeface="Calibri" pitchFamily="34" charset="0"/>
                <a:ea typeface="Calibri" pitchFamily="34" charset="-122"/>
                <a:cs typeface="Calibri" pitchFamily="34" charset="-120"/>
              </a:rPr>
              <a:t>Widgets used in the form</a:t>
            </a:r>
            <a:endParaRPr lang="en-US" sz="1150" dirty="0"/>
          </a:p>
        </p:txBody>
      </p:sp>
      <p:sp>
        <p:nvSpPr>
          <p:cNvPr id="56" name="Text 54"/>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6</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Python Financial Calculations</a:t>
            </a:r>
            <a:endParaRPr lang="en-US" sz="3000" dirty="0"/>
          </a:p>
        </p:txBody>
      </p:sp>
      <p:sp>
        <p:nvSpPr>
          <p:cNvPr id="4" name="Shape 2"/>
          <p:cNvSpPr/>
          <p:nvPr/>
        </p:nvSpPr>
        <p:spPr>
          <a:xfrm>
            <a:off x="548640" y="1280160"/>
            <a:ext cx="11091672" cy="502920"/>
          </a:xfrm>
          <a:prstGeom prst="roundRect">
            <a:avLst>
              <a:gd name="adj" fmla="val 14545"/>
            </a:avLst>
          </a:prstGeom>
          <a:solidFill>
            <a:srgbClr val="0B2545"/>
          </a:solidFill>
          <a:ln w="12700">
            <a:solidFill>
              <a:srgbClr val="0B2545"/>
            </a:solidFill>
            <a:prstDash val="solid"/>
          </a:ln>
        </p:spPr>
      </p:sp>
      <p:sp>
        <p:nvSpPr>
          <p:cNvPr id="5" name="Text 3"/>
          <p:cNvSpPr txBox="1"/>
          <p:nvPr/>
        </p:nvSpPr>
        <p:spPr>
          <a:xfrm>
            <a:off x="777240" y="1280160"/>
            <a:ext cx="1069848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These numbers are calculated by Python - deterministic, repeatable, never invented by the language model.</a:t>
            </a:r>
            <a:endParaRPr lang="en-US" sz="1350" dirty="0"/>
          </a:p>
        </p:txBody>
      </p:sp>
      <p:sp>
        <p:nvSpPr>
          <p:cNvPr id="6" name="Shape 4"/>
          <p:cNvSpPr/>
          <p:nvPr/>
        </p:nvSpPr>
        <p:spPr>
          <a:xfrm>
            <a:off x="548640" y="1965960"/>
            <a:ext cx="5440680" cy="1051560"/>
          </a:xfrm>
          <a:prstGeom prst="roundRect">
            <a:avLst>
              <a:gd name="adj" fmla="val 7826"/>
            </a:avLst>
          </a:prstGeom>
          <a:solidFill>
            <a:srgbClr val="F1F7F8"/>
          </a:solidFill>
          <a:ln w="12700">
            <a:solidFill>
              <a:srgbClr val="D3E1E5"/>
            </a:solidFill>
            <a:prstDash val="solid"/>
          </a:ln>
        </p:spPr>
      </p:sp>
      <p:sp>
        <p:nvSpPr>
          <p:cNvPr id="7" name="Text 5"/>
          <p:cNvSpPr txBox="1"/>
          <p:nvPr/>
        </p:nvSpPr>
        <p:spPr>
          <a:xfrm>
            <a:off x="777240" y="2075688"/>
            <a:ext cx="4937760" cy="256032"/>
          </a:xfrm>
          <a:prstGeom prst="rect">
            <a:avLst/>
          </a:prstGeom>
          <a:noFill/>
          <a:ln/>
        </p:spPr>
        <p:txBody>
          <a:bodyPr wrap="square" lIns="0" tIns="0" rIns="0" bIns="0" rtlCol="0" anchor="ctr"/>
          <a:lstStyle/>
          <a:p>
            <a:pPr indent="0" marL="0">
              <a:buNone/>
            </a:pPr>
            <a:r>
              <a:rPr lang="en-US" sz="1350" b="1" dirty="0">
                <a:solidFill>
                  <a:srgbClr val="0E7C7B"/>
                </a:solidFill>
                <a:latin typeface="Calibri" pitchFamily="34" charset="0"/>
                <a:ea typeface="Calibri" pitchFamily="34" charset="-122"/>
                <a:cs typeface="Calibri" pitchFamily="34" charset="-120"/>
              </a:rPr>
              <a:t>Total expenses</a:t>
            </a:r>
            <a:endParaRPr lang="en-US" sz="1350" dirty="0"/>
          </a:p>
        </p:txBody>
      </p:sp>
      <p:sp>
        <p:nvSpPr>
          <p:cNvPr id="8" name="Text 6"/>
          <p:cNvSpPr txBox="1"/>
          <p:nvPr/>
        </p:nvSpPr>
        <p:spPr>
          <a:xfrm>
            <a:off x="777240" y="2350008"/>
            <a:ext cx="5029200" cy="27432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total_expenses = sum(expenses)</a:t>
            </a:r>
            <a:endParaRPr lang="en-US" sz="1200" dirty="0"/>
          </a:p>
        </p:txBody>
      </p:sp>
      <p:sp>
        <p:nvSpPr>
          <p:cNvPr id="9" name="Text 7"/>
          <p:cNvSpPr txBox="1"/>
          <p:nvPr/>
        </p:nvSpPr>
        <p:spPr>
          <a:xfrm>
            <a:off x="777240" y="2642616"/>
            <a:ext cx="4937760" cy="256032"/>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All nine categories added together</a:t>
            </a:r>
            <a:endParaRPr lang="en-US" sz="1150" dirty="0"/>
          </a:p>
        </p:txBody>
      </p:sp>
      <p:sp>
        <p:nvSpPr>
          <p:cNvPr id="10" name="Shape 8"/>
          <p:cNvSpPr/>
          <p:nvPr/>
        </p:nvSpPr>
        <p:spPr>
          <a:xfrm>
            <a:off x="6199632" y="1965960"/>
            <a:ext cx="5440680" cy="1051560"/>
          </a:xfrm>
          <a:prstGeom prst="roundRect">
            <a:avLst>
              <a:gd name="adj" fmla="val 7826"/>
            </a:avLst>
          </a:prstGeom>
          <a:solidFill>
            <a:srgbClr val="F1F7F8"/>
          </a:solidFill>
          <a:ln w="12700">
            <a:solidFill>
              <a:srgbClr val="D3E1E5"/>
            </a:solidFill>
            <a:prstDash val="solid"/>
          </a:ln>
        </p:spPr>
      </p:sp>
      <p:sp>
        <p:nvSpPr>
          <p:cNvPr id="11" name="Text 9"/>
          <p:cNvSpPr txBox="1"/>
          <p:nvPr/>
        </p:nvSpPr>
        <p:spPr>
          <a:xfrm>
            <a:off x="6428232" y="2075688"/>
            <a:ext cx="4937760" cy="256032"/>
          </a:xfrm>
          <a:prstGeom prst="rect">
            <a:avLst/>
          </a:prstGeom>
          <a:noFill/>
          <a:ln/>
        </p:spPr>
        <p:txBody>
          <a:bodyPr wrap="square" lIns="0" tIns="0" rIns="0" bIns="0" rtlCol="0" anchor="ctr"/>
          <a:lstStyle/>
          <a:p>
            <a:pPr indent="0" marL="0">
              <a:buNone/>
            </a:pPr>
            <a:r>
              <a:rPr lang="en-US" sz="1350" b="1" dirty="0">
                <a:solidFill>
                  <a:srgbClr val="0E7C7B"/>
                </a:solidFill>
                <a:latin typeface="Calibri" pitchFamily="34" charset="0"/>
                <a:ea typeface="Calibri" pitchFamily="34" charset="-122"/>
                <a:cs typeface="Calibri" pitchFamily="34" charset="-120"/>
              </a:rPr>
              <a:t>Remaining income</a:t>
            </a:r>
            <a:endParaRPr lang="en-US" sz="1350" dirty="0"/>
          </a:p>
        </p:txBody>
      </p:sp>
      <p:sp>
        <p:nvSpPr>
          <p:cNvPr id="12" name="Text 10"/>
          <p:cNvSpPr txBox="1"/>
          <p:nvPr/>
        </p:nvSpPr>
        <p:spPr>
          <a:xfrm>
            <a:off x="6428232" y="2350008"/>
            <a:ext cx="5029200" cy="27432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remaining_income = income - total_expenses</a:t>
            </a:r>
            <a:endParaRPr lang="en-US" sz="1200" dirty="0"/>
          </a:p>
        </p:txBody>
      </p:sp>
      <p:sp>
        <p:nvSpPr>
          <p:cNvPr id="13" name="Text 11"/>
          <p:cNvSpPr txBox="1"/>
          <p:nvPr/>
        </p:nvSpPr>
        <p:spPr>
          <a:xfrm>
            <a:off x="6428232" y="2642616"/>
            <a:ext cx="4937760" cy="256032"/>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What is left at the end of the month</a:t>
            </a:r>
            <a:endParaRPr lang="en-US" sz="1150" dirty="0"/>
          </a:p>
        </p:txBody>
      </p:sp>
      <p:sp>
        <p:nvSpPr>
          <p:cNvPr id="14" name="Shape 12"/>
          <p:cNvSpPr/>
          <p:nvPr/>
        </p:nvSpPr>
        <p:spPr>
          <a:xfrm>
            <a:off x="548640" y="3172968"/>
            <a:ext cx="5440680" cy="1051560"/>
          </a:xfrm>
          <a:prstGeom prst="roundRect">
            <a:avLst>
              <a:gd name="adj" fmla="val 7826"/>
            </a:avLst>
          </a:prstGeom>
          <a:solidFill>
            <a:srgbClr val="F1F7F8"/>
          </a:solidFill>
          <a:ln w="12700">
            <a:solidFill>
              <a:srgbClr val="D3E1E5"/>
            </a:solidFill>
            <a:prstDash val="solid"/>
          </a:ln>
        </p:spPr>
      </p:sp>
      <p:sp>
        <p:nvSpPr>
          <p:cNvPr id="15" name="Text 13"/>
          <p:cNvSpPr txBox="1"/>
          <p:nvPr/>
        </p:nvSpPr>
        <p:spPr>
          <a:xfrm>
            <a:off x="777240" y="3282696"/>
            <a:ext cx="4937760" cy="256032"/>
          </a:xfrm>
          <a:prstGeom prst="rect">
            <a:avLst/>
          </a:prstGeom>
          <a:noFill/>
          <a:ln/>
        </p:spPr>
        <p:txBody>
          <a:bodyPr wrap="square" lIns="0" tIns="0" rIns="0" bIns="0" rtlCol="0" anchor="ctr"/>
          <a:lstStyle/>
          <a:p>
            <a:pPr indent="0" marL="0">
              <a:buNone/>
            </a:pPr>
            <a:r>
              <a:rPr lang="en-US" sz="1350" b="1" dirty="0">
                <a:solidFill>
                  <a:srgbClr val="0E7C7B"/>
                </a:solidFill>
                <a:latin typeface="Calibri" pitchFamily="34" charset="0"/>
                <a:ea typeface="Calibri" pitchFamily="34" charset="-122"/>
                <a:cs typeface="Calibri" pitchFamily="34" charset="-120"/>
              </a:rPr>
              <a:t>Savings ratio</a:t>
            </a:r>
            <a:endParaRPr lang="en-US" sz="1350" dirty="0"/>
          </a:p>
        </p:txBody>
      </p:sp>
      <p:sp>
        <p:nvSpPr>
          <p:cNvPr id="16" name="Text 14"/>
          <p:cNvSpPr txBox="1"/>
          <p:nvPr/>
        </p:nvSpPr>
        <p:spPr>
          <a:xfrm>
            <a:off x="777240" y="3557016"/>
            <a:ext cx="5029200" cy="27432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savings_ratio = savings / income * 100</a:t>
            </a:r>
            <a:endParaRPr lang="en-US" sz="1200" dirty="0"/>
          </a:p>
        </p:txBody>
      </p:sp>
      <p:sp>
        <p:nvSpPr>
          <p:cNvPr id="17" name="Text 15"/>
          <p:cNvSpPr txBox="1"/>
          <p:nvPr/>
        </p:nvSpPr>
        <p:spPr>
          <a:xfrm>
            <a:off x="777240" y="3849624"/>
            <a:ext cx="4937760" cy="256032"/>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Share of income already saved</a:t>
            </a:r>
            <a:endParaRPr lang="en-US" sz="1150" dirty="0"/>
          </a:p>
        </p:txBody>
      </p:sp>
      <p:sp>
        <p:nvSpPr>
          <p:cNvPr id="18" name="Shape 16"/>
          <p:cNvSpPr/>
          <p:nvPr/>
        </p:nvSpPr>
        <p:spPr>
          <a:xfrm>
            <a:off x="6199632" y="3172968"/>
            <a:ext cx="5440680" cy="1051560"/>
          </a:xfrm>
          <a:prstGeom prst="roundRect">
            <a:avLst>
              <a:gd name="adj" fmla="val 7826"/>
            </a:avLst>
          </a:prstGeom>
          <a:solidFill>
            <a:srgbClr val="F1F7F8"/>
          </a:solidFill>
          <a:ln w="12700">
            <a:solidFill>
              <a:srgbClr val="D3E1E5"/>
            </a:solidFill>
            <a:prstDash val="solid"/>
          </a:ln>
        </p:spPr>
      </p:sp>
      <p:sp>
        <p:nvSpPr>
          <p:cNvPr id="19" name="Text 17"/>
          <p:cNvSpPr txBox="1"/>
          <p:nvPr/>
        </p:nvSpPr>
        <p:spPr>
          <a:xfrm>
            <a:off x="6428232" y="3282696"/>
            <a:ext cx="4937760" cy="256032"/>
          </a:xfrm>
          <a:prstGeom prst="rect">
            <a:avLst/>
          </a:prstGeom>
          <a:noFill/>
          <a:ln/>
        </p:spPr>
        <p:txBody>
          <a:bodyPr wrap="square" lIns="0" tIns="0" rIns="0" bIns="0" rtlCol="0" anchor="ctr"/>
          <a:lstStyle/>
          <a:p>
            <a:pPr indent="0" marL="0">
              <a:buNone/>
            </a:pPr>
            <a:r>
              <a:rPr lang="en-US" sz="1350" b="1" dirty="0">
                <a:solidFill>
                  <a:srgbClr val="0E7C7B"/>
                </a:solidFill>
                <a:latin typeface="Calibri" pitchFamily="34" charset="0"/>
                <a:ea typeface="Calibri" pitchFamily="34" charset="-122"/>
                <a:cs typeface="Calibri" pitchFamily="34" charset="-120"/>
              </a:rPr>
              <a:t>Expense ratio</a:t>
            </a:r>
            <a:endParaRPr lang="en-US" sz="1350" dirty="0"/>
          </a:p>
        </p:txBody>
      </p:sp>
      <p:sp>
        <p:nvSpPr>
          <p:cNvPr id="20" name="Text 18"/>
          <p:cNvSpPr txBox="1"/>
          <p:nvPr/>
        </p:nvSpPr>
        <p:spPr>
          <a:xfrm>
            <a:off x="6428232" y="3557016"/>
            <a:ext cx="5029200" cy="274320"/>
          </a:xfrm>
          <a:prstGeom prst="rect">
            <a:avLst/>
          </a:prstGeom>
          <a:noFill/>
          <a:ln/>
        </p:spPr>
        <p:txBody>
          <a:bodyPr wrap="square" lIns="0" tIns="0" rIns="0" bIns="0" rtlCol="0" anchor="ctr"/>
          <a:lstStyle/>
          <a:p>
            <a:pPr indent="0" marL="0">
              <a:buNone/>
            </a:pPr>
            <a:r>
              <a:rPr lang="en-US" sz="1200" b="1" dirty="0">
                <a:solidFill>
                  <a:srgbClr val="0B2545"/>
                </a:solidFill>
                <a:latin typeface="Courier New" pitchFamily="34" charset="0"/>
                <a:ea typeface="Courier New" pitchFamily="34" charset="-122"/>
                <a:cs typeface="Courier New" pitchFamily="34" charset="-120"/>
              </a:rPr>
              <a:t>expense_ratio = expenses / income * 100</a:t>
            </a:r>
            <a:endParaRPr lang="en-US" sz="1200" dirty="0"/>
          </a:p>
        </p:txBody>
      </p:sp>
      <p:sp>
        <p:nvSpPr>
          <p:cNvPr id="21" name="Text 19"/>
          <p:cNvSpPr txBox="1"/>
          <p:nvPr/>
        </p:nvSpPr>
        <p:spPr>
          <a:xfrm>
            <a:off x="6428232" y="3849624"/>
            <a:ext cx="4937760" cy="256032"/>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Share of income being spent</a:t>
            </a:r>
            <a:endParaRPr lang="en-US" sz="1150" dirty="0"/>
          </a:p>
        </p:txBody>
      </p:sp>
      <p:sp>
        <p:nvSpPr>
          <p:cNvPr id="22" name="Shape 20"/>
          <p:cNvSpPr/>
          <p:nvPr/>
        </p:nvSpPr>
        <p:spPr>
          <a:xfrm>
            <a:off x="548640" y="4434840"/>
            <a:ext cx="7680960" cy="1298448"/>
          </a:xfrm>
          <a:prstGeom prst="roundRect">
            <a:avLst>
              <a:gd name="adj" fmla="val 6338"/>
            </a:avLst>
          </a:prstGeom>
          <a:solidFill>
            <a:srgbClr val="E7F1F3"/>
          </a:solidFill>
          <a:ln w="12700">
            <a:solidFill>
              <a:srgbClr val="D3E1E5"/>
            </a:solidFill>
            <a:prstDash val="solid"/>
          </a:ln>
        </p:spPr>
      </p:sp>
      <p:sp>
        <p:nvSpPr>
          <p:cNvPr id="23" name="Text 21"/>
          <p:cNvSpPr txBox="1"/>
          <p:nvPr/>
        </p:nvSpPr>
        <p:spPr>
          <a:xfrm>
            <a:off x="777240" y="4544568"/>
            <a:ext cx="4572000" cy="29260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Preliminary Score  (0 - 100)</a:t>
            </a:r>
            <a:endParaRPr lang="en-US" sz="1500" dirty="0"/>
          </a:p>
        </p:txBody>
      </p:sp>
      <p:sp>
        <p:nvSpPr>
          <p:cNvPr id="24" name="Text 22"/>
          <p:cNvSpPr txBox="1"/>
          <p:nvPr/>
        </p:nvSpPr>
        <p:spPr>
          <a:xfrm>
            <a:off x="777240" y="4828032"/>
            <a:ext cx="7315200" cy="237744"/>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Computed in Python before the AI is called, from four inputs:</a:t>
            </a:r>
            <a:endParaRPr lang="en-US" sz="1150" dirty="0"/>
          </a:p>
        </p:txBody>
      </p:sp>
      <p:sp>
        <p:nvSpPr>
          <p:cNvPr id="25" name="Shape 23"/>
          <p:cNvSpPr/>
          <p:nvPr/>
        </p:nvSpPr>
        <p:spPr>
          <a:xfrm>
            <a:off x="777240" y="5120640"/>
            <a:ext cx="1719072" cy="457200"/>
          </a:xfrm>
          <a:prstGeom prst="roundRect">
            <a:avLst>
              <a:gd name="adj" fmla="val 16000"/>
            </a:avLst>
          </a:prstGeom>
          <a:solidFill>
            <a:srgbClr val="FFFFFF"/>
          </a:solidFill>
          <a:ln w="12700">
            <a:solidFill>
              <a:srgbClr val="17A398"/>
            </a:solidFill>
            <a:prstDash val="solid"/>
          </a:ln>
        </p:spPr>
      </p:sp>
      <p:sp>
        <p:nvSpPr>
          <p:cNvPr id="26" name="Text 24"/>
          <p:cNvSpPr txBox="1"/>
          <p:nvPr/>
        </p:nvSpPr>
        <p:spPr>
          <a:xfrm>
            <a:off x="777240" y="5120640"/>
            <a:ext cx="1719072" cy="4572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Savings</a:t>
            </a:r>
            <a:endParaRPr lang="en-US" sz="1150" dirty="0"/>
          </a:p>
        </p:txBody>
      </p:sp>
      <p:sp>
        <p:nvSpPr>
          <p:cNvPr id="27" name="Shape 25"/>
          <p:cNvSpPr/>
          <p:nvPr/>
        </p:nvSpPr>
        <p:spPr>
          <a:xfrm>
            <a:off x="2624328" y="5120640"/>
            <a:ext cx="1719072" cy="457200"/>
          </a:xfrm>
          <a:prstGeom prst="roundRect">
            <a:avLst>
              <a:gd name="adj" fmla="val 16000"/>
            </a:avLst>
          </a:prstGeom>
          <a:solidFill>
            <a:srgbClr val="FFFFFF"/>
          </a:solidFill>
          <a:ln w="12700">
            <a:solidFill>
              <a:srgbClr val="17A398"/>
            </a:solidFill>
            <a:prstDash val="solid"/>
          </a:ln>
        </p:spPr>
      </p:sp>
      <p:sp>
        <p:nvSpPr>
          <p:cNvPr id="28" name="Text 26"/>
          <p:cNvSpPr txBox="1"/>
          <p:nvPr/>
        </p:nvSpPr>
        <p:spPr>
          <a:xfrm>
            <a:off x="2624328" y="5120640"/>
            <a:ext cx="1719072" cy="4572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Leftover income</a:t>
            </a:r>
            <a:endParaRPr lang="en-US" sz="1150" dirty="0"/>
          </a:p>
        </p:txBody>
      </p:sp>
      <p:sp>
        <p:nvSpPr>
          <p:cNvPr id="29" name="Shape 27"/>
          <p:cNvSpPr/>
          <p:nvPr/>
        </p:nvSpPr>
        <p:spPr>
          <a:xfrm>
            <a:off x="4471416" y="5120640"/>
            <a:ext cx="1719072" cy="457200"/>
          </a:xfrm>
          <a:prstGeom prst="roundRect">
            <a:avLst>
              <a:gd name="adj" fmla="val 16000"/>
            </a:avLst>
          </a:prstGeom>
          <a:solidFill>
            <a:srgbClr val="FFFFFF"/>
          </a:solidFill>
          <a:ln w="12700">
            <a:solidFill>
              <a:srgbClr val="17A398"/>
            </a:solidFill>
            <a:prstDash val="solid"/>
          </a:ln>
        </p:spPr>
      </p:sp>
      <p:sp>
        <p:nvSpPr>
          <p:cNvPr id="30" name="Text 28"/>
          <p:cNvSpPr txBox="1"/>
          <p:nvPr/>
        </p:nvSpPr>
        <p:spPr>
          <a:xfrm>
            <a:off x="4471416" y="5120640"/>
            <a:ext cx="1719072" cy="4572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Expense ratio</a:t>
            </a:r>
            <a:endParaRPr lang="en-US" sz="1150" dirty="0"/>
          </a:p>
        </p:txBody>
      </p:sp>
      <p:sp>
        <p:nvSpPr>
          <p:cNvPr id="31" name="Shape 29"/>
          <p:cNvSpPr/>
          <p:nvPr/>
        </p:nvSpPr>
        <p:spPr>
          <a:xfrm>
            <a:off x="6318504" y="5120640"/>
            <a:ext cx="1719072" cy="457200"/>
          </a:xfrm>
          <a:prstGeom prst="roundRect">
            <a:avLst>
              <a:gd name="adj" fmla="val 16000"/>
            </a:avLst>
          </a:prstGeom>
          <a:solidFill>
            <a:srgbClr val="FFFFFF"/>
          </a:solidFill>
          <a:ln w="12700">
            <a:solidFill>
              <a:srgbClr val="17A398"/>
            </a:solidFill>
            <a:prstDash val="solid"/>
          </a:ln>
        </p:spPr>
      </p:sp>
      <p:sp>
        <p:nvSpPr>
          <p:cNvPr id="32" name="Text 30"/>
          <p:cNvSpPr txBox="1"/>
          <p:nvPr/>
        </p:nvSpPr>
        <p:spPr>
          <a:xfrm>
            <a:off x="6318504" y="5120640"/>
            <a:ext cx="1719072" cy="457200"/>
          </a:xfrm>
          <a:prstGeom prst="rect">
            <a:avLst/>
          </a:prstGeom>
          <a:noFill/>
          <a:ln/>
        </p:spPr>
        <p:txBody>
          <a:bodyPr wrap="square" lIns="0" tIns="0" rIns="0" bIns="0" rtlCol="0" anchor="ctr"/>
          <a:lstStyle/>
          <a:p>
            <a:pPr algn="ctr" indent="0" marL="0">
              <a:buNone/>
            </a:pPr>
            <a:r>
              <a:rPr lang="en-US" sz="1150" b="1" dirty="0">
                <a:solidFill>
                  <a:srgbClr val="0B2545"/>
                </a:solidFill>
                <a:latin typeface="Calibri" pitchFamily="34" charset="0"/>
                <a:ea typeface="Calibri" pitchFamily="34" charset="-122"/>
                <a:cs typeface="Calibri" pitchFamily="34" charset="-120"/>
              </a:rPr>
              <a:t>Debt burden</a:t>
            </a:r>
            <a:endParaRPr lang="en-US" sz="1150" dirty="0"/>
          </a:p>
        </p:txBody>
      </p:sp>
      <p:sp>
        <p:nvSpPr>
          <p:cNvPr id="33" name="Shape 31"/>
          <p:cNvSpPr/>
          <p:nvPr/>
        </p:nvSpPr>
        <p:spPr>
          <a:xfrm>
            <a:off x="8412480" y="4434840"/>
            <a:ext cx="3227832" cy="1298448"/>
          </a:xfrm>
          <a:prstGeom prst="roundRect">
            <a:avLst>
              <a:gd name="adj" fmla="val 6338"/>
            </a:avLst>
          </a:prstGeom>
          <a:solidFill>
            <a:srgbClr val="FDF3E3"/>
          </a:solidFill>
          <a:ln w="12700">
            <a:solidFill>
              <a:srgbClr val="EAD3A8"/>
            </a:solidFill>
            <a:prstDash val="solid"/>
          </a:ln>
        </p:spPr>
      </p:sp>
      <p:sp>
        <p:nvSpPr>
          <p:cNvPr id="34" name="Text 32"/>
          <p:cNvSpPr txBox="1"/>
          <p:nvPr/>
        </p:nvSpPr>
        <p:spPr>
          <a:xfrm>
            <a:off x="8613648" y="4544568"/>
            <a:ext cx="2834640" cy="274320"/>
          </a:xfrm>
          <a:prstGeom prst="rect">
            <a:avLst/>
          </a:prstGeom>
          <a:noFill/>
          <a:ln/>
        </p:spPr>
        <p:txBody>
          <a:bodyPr wrap="square" lIns="0" tIns="0" rIns="0" bIns="0" rtlCol="0" anchor="ctr"/>
          <a:lstStyle/>
          <a:p>
            <a:pPr indent="0" marL="0">
              <a:buNone/>
            </a:pPr>
            <a:r>
              <a:rPr lang="en-US" sz="1300" b="1" dirty="0">
                <a:solidFill>
                  <a:srgbClr val="8A5A12"/>
                </a:solidFill>
                <a:latin typeface="Calibri" pitchFamily="34" charset="0"/>
                <a:ea typeface="Calibri" pitchFamily="34" charset="-122"/>
                <a:cs typeface="Calibri" pitchFamily="34" charset="-120"/>
              </a:rPr>
              <a:t>Divide-by-zero protection</a:t>
            </a:r>
            <a:endParaRPr lang="en-US" sz="1300" dirty="0"/>
          </a:p>
        </p:txBody>
      </p:sp>
      <p:sp>
        <p:nvSpPr>
          <p:cNvPr id="35" name="Text 33"/>
          <p:cNvSpPr txBox="1"/>
          <p:nvPr/>
        </p:nvSpPr>
        <p:spPr>
          <a:xfrm>
            <a:off x="8613648" y="4846320"/>
            <a:ext cx="2834640" cy="777240"/>
          </a:xfrm>
          <a:prstGeom prst="rect">
            <a:avLst/>
          </a:prstGeom>
          <a:noFill/>
          <a:ln/>
        </p:spPr>
        <p:txBody>
          <a:bodyPr wrap="square" lIns="0" tIns="0" rIns="0" bIns="0" rtlCol="0" anchor="ctr"/>
          <a:lstStyle/>
          <a:p>
            <a:pPr indent="0" marL="0">
              <a:buNone/>
            </a:pPr>
            <a:r>
              <a:rPr lang="en-US" sz="1100" dirty="0">
                <a:solidFill>
                  <a:srgbClr val="8A5A12"/>
                </a:solidFill>
                <a:latin typeface="Calibri" pitchFamily="34" charset="0"/>
                <a:ea typeface="Calibri" pitchFamily="34" charset="-122"/>
                <a:cs typeface="Calibri" pitchFamily="34" charset="-120"/>
              </a:rPr>
              <a:t>If income is 0, ratios are not calculated - the app shows a validation message instead of crashing.</a:t>
            </a:r>
            <a:endParaRPr lang="en-US" sz="1100" dirty="0"/>
          </a:p>
        </p:txBody>
      </p:sp>
      <p:sp>
        <p:nvSpPr>
          <p:cNvPr id="36" name="Text 34"/>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7</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LangChain Prompt Engineering</a:t>
            </a:r>
            <a:endParaRPr lang="en-US" sz="3000" dirty="0"/>
          </a:p>
        </p:txBody>
      </p:sp>
      <p:sp>
        <p:nvSpPr>
          <p:cNvPr id="4" name="Shape 2"/>
          <p:cNvSpPr/>
          <p:nvPr/>
        </p:nvSpPr>
        <p:spPr>
          <a:xfrm>
            <a:off x="548640" y="1325880"/>
            <a:ext cx="5852160" cy="3977640"/>
          </a:xfrm>
          <a:prstGeom prst="roundRect">
            <a:avLst>
              <a:gd name="adj" fmla="val 2069"/>
            </a:avLst>
          </a:prstGeom>
          <a:solidFill>
            <a:srgbClr val="F1F7F8"/>
          </a:solidFill>
          <a:ln w="12700">
            <a:solidFill>
              <a:srgbClr val="D3E1E5"/>
            </a:solidFill>
            <a:prstDash val="solid"/>
          </a:ln>
        </p:spPr>
      </p:sp>
      <p:sp>
        <p:nvSpPr>
          <p:cNvPr id="5" name="Shape 3"/>
          <p:cNvSpPr/>
          <p:nvPr/>
        </p:nvSpPr>
        <p:spPr>
          <a:xfrm>
            <a:off x="777240" y="1536192"/>
            <a:ext cx="365760" cy="365760"/>
          </a:xfrm>
          <a:prstGeom prst="ellipse">
            <a:avLst/>
          </a:prstGeom>
          <a:solidFill>
            <a:srgbClr val="0E7C7B"/>
          </a:solidFill>
          <a:ln w="12700">
            <a:solidFill>
              <a:srgbClr val="0E7C7B"/>
            </a:solidFill>
            <a:prstDash val="solid"/>
          </a:ln>
        </p:spPr>
      </p:sp>
      <p:sp>
        <p:nvSpPr>
          <p:cNvPr id="6" name="Text 4"/>
          <p:cNvSpPr txBox="1"/>
          <p:nvPr/>
        </p:nvSpPr>
        <p:spPr>
          <a:xfrm>
            <a:off x="777240" y="15361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61872" y="1536192"/>
            <a:ext cx="4937760" cy="36576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PromptTemplate</a:t>
            </a:r>
            <a:endParaRPr lang="en-US" sz="1900" dirty="0"/>
          </a:p>
        </p:txBody>
      </p:sp>
      <p:sp>
        <p:nvSpPr>
          <p:cNvPr id="8" name="Text 6"/>
          <p:cNvSpPr txBox="1"/>
          <p:nvPr/>
        </p:nvSpPr>
        <p:spPr>
          <a:xfrm>
            <a:off x="777240" y="1965960"/>
            <a:ext cx="5394960" cy="457200"/>
          </a:xfrm>
          <a:prstGeom prst="rect">
            <a:avLst/>
          </a:prstGeom>
          <a:noFill/>
          <a:ln/>
        </p:spPr>
        <p:txBody>
          <a:bodyPr wrap="square" lIns="0" tIns="0" rIns="0" bIns="0" rtlCol="0" anchor="ctr"/>
          <a:lstStyle/>
          <a:p>
            <a:pPr indent="0" marL="0">
              <a:buNone/>
            </a:pPr>
            <a:r>
              <a:rPr lang="en-US" sz="1250" dirty="0">
                <a:solidFill>
                  <a:srgbClr val="5A6B78"/>
                </a:solidFill>
                <a:latin typeface="Calibri" pitchFamily="34" charset="0"/>
                <a:ea typeface="Calibri" pitchFamily="34" charset="-122"/>
                <a:cs typeface="Calibri" pitchFamily="34" charset="-120"/>
              </a:rPr>
              <a:t>One reusable financial prompt with placeholders that are filled in for every user.</a:t>
            </a:r>
            <a:endParaRPr lang="en-US" sz="1250" dirty="0"/>
          </a:p>
        </p:txBody>
      </p:sp>
      <p:sp>
        <p:nvSpPr>
          <p:cNvPr id="9" name="Shape 7"/>
          <p:cNvSpPr/>
          <p:nvPr/>
        </p:nvSpPr>
        <p:spPr>
          <a:xfrm>
            <a:off x="777240" y="2487168"/>
            <a:ext cx="2606040" cy="438912"/>
          </a:xfrm>
          <a:prstGeom prst="roundRect">
            <a:avLst>
              <a:gd name="adj" fmla="val 14583"/>
            </a:avLst>
          </a:prstGeom>
          <a:solidFill>
            <a:srgbClr val="FFFFFF"/>
          </a:solidFill>
          <a:ln w="12700">
            <a:solidFill>
              <a:srgbClr val="D3E1E5"/>
            </a:solidFill>
            <a:prstDash val="solid"/>
          </a:ln>
        </p:spPr>
      </p:sp>
      <p:sp>
        <p:nvSpPr>
          <p:cNvPr id="10" name="Text 8"/>
          <p:cNvSpPr txBox="1"/>
          <p:nvPr/>
        </p:nvSpPr>
        <p:spPr>
          <a:xfrm>
            <a:off x="886968" y="248716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{monthly_income}</a:t>
            </a:r>
            <a:endParaRPr lang="en-US" sz="1100" dirty="0"/>
          </a:p>
        </p:txBody>
      </p:sp>
      <p:sp>
        <p:nvSpPr>
          <p:cNvPr id="11" name="Shape 9"/>
          <p:cNvSpPr/>
          <p:nvPr/>
        </p:nvSpPr>
        <p:spPr>
          <a:xfrm>
            <a:off x="3566160" y="2487168"/>
            <a:ext cx="2606040" cy="438912"/>
          </a:xfrm>
          <a:prstGeom prst="roundRect">
            <a:avLst>
              <a:gd name="adj" fmla="val 14583"/>
            </a:avLst>
          </a:prstGeom>
          <a:solidFill>
            <a:srgbClr val="FFFFFF"/>
          </a:solidFill>
          <a:ln w="12700">
            <a:solidFill>
              <a:srgbClr val="D3E1E5"/>
            </a:solidFill>
            <a:prstDash val="solid"/>
          </a:ln>
        </p:spPr>
      </p:sp>
      <p:sp>
        <p:nvSpPr>
          <p:cNvPr id="12" name="Text 10"/>
          <p:cNvSpPr txBox="1"/>
          <p:nvPr/>
        </p:nvSpPr>
        <p:spPr>
          <a:xfrm>
            <a:off x="3675888" y="248716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{total_expenses}</a:t>
            </a:r>
            <a:endParaRPr lang="en-US" sz="1100" dirty="0"/>
          </a:p>
        </p:txBody>
      </p:sp>
      <p:sp>
        <p:nvSpPr>
          <p:cNvPr id="13" name="Shape 11"/>
          <p:cNvSpPr/>
          <p:nvPr/>
        </p:nvSpPr>
        <p:spPr>
          <a:xfrm>
            <a:off x="777240" y="3035808"/>
            <a:ext cx="2606040" cy="438912"/>
          </a:xfrm>
          <a:prstGeom prst="roundRect">
            <a:avLst>
              <a:gd name="adj" fmla="val 14583"/>
            </a:avLst>
          </a:prstGeom>
          <a:solidFill>
            <a:srgbClr val="FFFFFF"/>
          </a:solidFill>
          <a:ln w="12700">
            <a:solidFill>
              <a:srgbClr val="D3E1E5"/>
            </a:solidFill>
            <a:prstDash val="solid"/>
          </a:ln>
        </p:spPr>
      </p:sp>
      <p:sp>
        <p:nvSpPr>
          <p:cNvPr id="14" name="Text 12"/>
          <p:cNvSpPr txBox="1"/>
          <p:nvPr/>
        </p:nvSpPr>
        <p:spPr>
          <a:xfrm>
            <a:off x="886968" y="303580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{remaining_income}</a:t>
            </a:r>
            <a:endParaRPr lang="en-US" sz="1100" dirty="0"/>
          </a:p>
        </p:txBody>
      </p:sp>
      <p:sp>
        <p:nvSpPr>
          <p:cNvPr id="15" name="Shape 13"/>
          <p:cNvSpPr/>
          <p:nvPr/>
        </p:nvSpPr>
        <p:spPr>
          <a:xfrm>
            <a:off x="3566160" y="3035808"/>
            <a:ext cx="2606040" cy="438912"/>
          </a:xfrm>
          <a:prstGeom prst="roundRect">
            <a:avLst>
              <a:gd name="adj" fmla="val 14583"/>
            </a:avLst>
          </a:prstGeom>
          <a:solidFill>
            <a:srgbClr val="FFFFFF"/>
          </a:solidFill>
          <a:ln w="12700">
            <a:solidFill>
              <a:srgbClr val="D3E1E5"/>
            </a:solidFill>
            <a:prstDash val="solid"/>
          </a:ln>
        </p:spPr>
      </p:sp>
      <p:sp>
        <p:nvSpPr>
          <p:cNvPr id="16" name="Text 14"/>
          <p:cNvSpPr txBox="1"/>
          <p:nvPr/>
        </p:nvSpPr>
        <p:spPr>
          <a:xfrm>
            <a:off x="3675888" y="303580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{savings}</a:t>
            </a:r>
            <a:endParaRPr lang="en-US" sz="1100" dirty="0"/>
          </a:p>
        </p:txBody>
      </p:sp>
      <p:sp>
        <p:nvSpPr>
          <p:cNvPr id="17" name="Shape 15"/>
          <p:cNvSpPr/>
          <p:nvPr/>
        </p:nvSpPr>
        <p:spPr>
          <a:xfrm>
            <a:off x="777240" y="3584448"/>
            <a:ext cx="2606040" cy="438912"/>
          </a:xfrm>
          <a:prstGeom prst="roundRect">
            <a:avLst>
              <a:gd name="adj" fmla="val 14583"/>
            </a:avLst>
          </a:prstGeom>
          <a:solidFill>
            <a:srgbClr val="FFFFFF"/>
          </a:solidFill>
          <a:ln w="12700">
            <a:solidFill>
              <a:srgbClr val="D3E1E5"/>
            </a:solidFill>
            <a:prstDash val="solid"/>
          </a:ln>
        </p:spPr>
      </p:sp>
      <p:sp>
        <p:nvSpPr>
          <p:cNvPr id="18" name="Text 16"/>
          <p:cNvSpPr txBox="1"/>
          <p:nvPr/>
        </p:nvSpPr>
        <p:spPr>
          <a:xfrm>
            <a:off x="886968" y="358444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{savings_ratio}</a:t>
            </a:r>
            <a:endParaRPr lang="en-US" sz="1100" dirty="0"/>
          </a:p>
        </p:txBody>
      </p:sp>
      <p:sp>
        <p:nvSpPr>
          <p:cNvPr id="19" name="Shape 17"/>
          <p:cNvSpPr/>
          <p:nvPr/>
        </p:nvSpPr>
        <p:spPr>
          <a:xfrm>
            <a:off x="3566160" y="3584448"/>
            <a:ext cx="2606040" cy="438912"/>
          </a:xfrm>
          <a:prstGeom prst="roundRect">
            <a:avLst>
              <a:gd name="adj" fmla="val 14583"/>
            </a:avLst>
          </a:prstGeom>
          <a:solidFill>
            <a:srgbClr val="FFFFFF"/>
          </a:solidFill>
          <a:ln w="12700">
            <a:solidFill>
              <a:srgbClr val="D3E1E5"/>
            </a:solidFill>
            <a:prstDash val="solid"/>
          </a:ln>
        </p:spPr>
      </p:sp>
      <p:sp>
        <p:nvSpPr>
          <p:cNvPr id="20" name="Text 18"/>
          <p:cNvSpPr txBox="1"/>
          <p:nvPr/>
        </p:nvSpPr>
        <p:spPr>
          <a:xfrm>
            <a:off x="3675888" y="358444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{expense_ratio}</a:t>
            </a:r>
            <a:endParaRPr lang="en-US" sz="1100" dirty="0"/>
          </a:p>
        </p:txBody>
      </p:sp>
      <p:sp>
        <p:nvSpPr>
          <p:cNvPr id="21" name="Shape 19"/>
          <p:cNvSpPr/>
          <p:nvPr/>
        </p:nvSpPr>
        <p:spPr>
          <a:xfrm>
            <a:off x="777240" y="4133088"/>
            <a:ext cx="2606040" cy="438912"/>
          </a:xfrm>
          <a:prstGeom prst="roundRect">
            <a:avLst>
              <a:gd name="adj" fmla="val 14583"/>
            </a:avLst>
          </a:prstGeom>
          <a:solidFill>
            <a:srgbClr val="FFFFFF"/>
          </a:solidFill>
          <a:ln w="12700">
            <a:solidFill>
              <a:srgbClr val="D3E1E5"/>
            </a:solidFill>
            <a:prstDash val="solid"/>
          </a:ln>
        </p:spPr>
      </p:sp>
      <p:sp>
        <p:nvSpPr>
          <p:cNvPr id="22" name="Text 20"/>
          <p:cNvSpPr txBox="1"/>
          <p:nvPr/>
        </p:nvSpPr>
        <p:spPr>
          <a:xfrm>
            <a:off x="886968" y="413308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{financial_goal}</a:t>
            </a:r>
            <a:endParaRPr lang="en-US" sz="1100" dirty="0"/>
          </a:p>
        </p:txBody>
      </p:sp>
      <p:sp>
        <p:nvSpPr>
          <p:cNvPr id="23" name="Shape 21"/>
          <p:cNvSpPr/>
          <p:nvPr/>
        </p:nvSpPr>
        <p:spPr>
          <a:xfrm>
            <a:off x="3566160" y="4133088"/>
            <a:ext cx="2606040" cy="438912"/>
          </a:xfrm>
          <a:prstGeom prst="roundRect">
            <a:avLst>
              <a:gd name="adj" fmla="val 14583"/>
            </a:avLst>
          </a:prstGeom>
          <a:solidFill>
            <a:srgbClr val="FFFFFF"/>
          </a:solidFill>
          <a:ln w="12700">
            <a:solidFill>
              <a:srgbClr val="D3E1E5"/>
            </a:solidFill>
            <a:prstDash val="solid"/>
          </a:ln>
        </p:spPr>
      </p:sp>
      <p:sp>
        <p:nvSpPr>
          <p:cNvPr id="24" name="Text 22"/>
          <p:cNvSpPr txBox="1"/>
          <p:nvPr/>
        </p:nvSpPr>
        <p:spPr>
          <a:xfrm>
            <a:off x="3675888" y="4133088"/>
            <a:ext cx="2377440" cy="438912"/>
          </a:xfrm>
          <a:prstGeom prst="rect">
            <a:avLst/>
          </a:prstGeom>
          <a:noFill/>
          <a:ln/>
        </p:spPr>
        <p:txBody>
          <a:bodyPr wrap="square" lIns="0" tIns="0" rIns="0" bIns="0" rtlCol="0" anchor="ctr"/>
          <a:lstStyle/>
          <a:p>
            <a:pPr indent="0" marL="0">
              <a:buNone/>
            </a:pPr>
            <a:r>
              <a:rPr lang="en-US" sz="1100" b="1" dirty="0">
                <a:solidFill>
                  <a:srgbClr val="13375B"/>
                </a:solidFill>
                <a:latin typeface="Courier New" pitchFamily="34" charset="0"/>
                <a:ea typeface="Courier New" pitchFamily="34" charset="-122"/>
                <a:cs typeface="Courier New" pitchFamily="34" charset="-120"/>
              </a:rPr>
              <a:t>{expense_breakdown}</a:t>
            </a:r>
            <a:endParaRPr lang="en-US" sz="1100" dirty="0"/>
          </a:p>
        </p:txBody>
      </p:sp>
      <p:sp>
        <p:nvSpPr>
          <p:cNvPr id="25" name="Text 23"/>
          <p:cNvSpPr txBox="1"/>
          <p:nvPr/>
        </p:nvSpPr>
        <p:spPr>
          <a:xfrm>
            <a:off x="777240" y="4828032"/>
            <a:ext cx="5394960" cy="274320"/>
          </a:xfrm>
          <a:prstGeom prst="rect">
            <a:avLst/>
          </a:prstGeom>
          <a:noFill/>
          <a:ln/>
        </p:spPr>
        <p:txBody>
          <a:bodyPr wrap="square" lIns="0" tIns="0" rIns="0" bIns="0" rtlCol="0" anchor="ctr"/>
          <a:lstStyle/>
          <a:p>
            <a:pPr indent="0" marL="0">
              <a:buNone/>
            </a:pPr>
            <a:r>
              <a:rPr lang="en-US" sz="1150" i="1" dirty="0">
                <a:solidFill>
                  <a:srgbClr val="5A6B78"/>
                </a:solidFill>
                <a:latin typeface="Calibri" pitchFamily="34" charset="0"/>
                <a:ea typeface="Calibri" pitchFamily="34" charset="-122"/>
                <a:cs typeface="Calibri" pitchFamily="34" charset="-120"/>
              </a:rPr>
              <a:t>8 variables - the same template serves every user.</a:t>
            </a:r>
            <a:endParaRPr lang="en-US" sz="1150" dirty="0"/>
          </a:p>
        </p:txBody>
      </p:sp>
      <p:sp>
        <p:nvSpPr>
          <p:cNvPr id="26" name="Shape 24"/>
          <p:cNvSpPr/>
          <p:nvPr/>
        </p:nvSpPr>
        <p:spPr>
          <a:xfrm>
            <a:off x="6583680" y="1325880"/>
            <a:ext cx="5056632" cy="3977640"/>
          </a:xfrm>
          <a:prstGeom prst="roundRect">
            <a:avLst>
              <a:gd name="adj" fmla="val 2069"/>
            </a:avLst>
          </a:prstGeom>
          <a:solidFill>
            <a:srgbClr val="E7F1F3"/>
          </a:solidFill>
          <a:ln w="12700">
            <a:solidFill>
              <a:srgbClr val="D3E1E5"/>
            </a:solidFill>
            <a:prstDash val="solid"/>
          </a:ln>
        </p:spPr>
      </p:sp>
      <p:sp>
        <p:nvSpPr>
          <p:cNvPr id="27" name="Shape 25"/>
          <p:cNvSpPr/>
          <p:nvPr/>
        </p:nvSpPr>
        <p:spPr>
          <a:xfrm>
            <a:off x="6812280" y="1536192"/>
            <a:ext cx="365760" cy="365760"/>
          </a:xfrm>
          <a:prstGeom prst="ellipse">
            <a:avLst/>
          </a:prstGeom>
          <a:solidFill>
            <a:srgbClr val="0B2545"/>
          </a:solidFill>
          <a:ln w="12700">
            <a:solidFill>
              <a:srgbClr val="0B2545"/>
            </a:solidFill>
            <a:prstDash val="solid"/>
          </a:ln>
        </p:spPr>
      </p:sp>
      <p:sp>
        <p:nvSpPr>
          <p:cNvPr id="28" name="Text 26"/>
          <p:cNvSpPr txBox="1"/>
          <p:nvPr/>
        </p:nvSpPr>
        <p:spPr>
          <a:xfrm>
            <a:off x="6812280" y="15361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7"/>
          <p:cNvSpPr txBox="1"/>
          <p:nvPr/>
        </p:nvSpPr>
        <p:spPr>
          <a:xfrm>
            <a:off x="7296912" y="1536192"/>
            <a:ext cx="4206240" cy="36576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ChatPromptTemplate</a:t>
            </a:r>
            <a:endParaRPr lang="en-US" sz="1900" dirty="0"/>
          </a:p>
        </p:txBody>
      </p:sp>
      <p:sp>
        <p:nvSpPr>
          <p:cNvPr id="30" name="Text 28"/>
          <p:cNvSpPr txBox="1"/>
          <p:nvPr/>
        </p:nvSpPr>
        <p:spPr>
          <a:xfrm>
            <a:off x="6812280" y="1965960"/>
            <a:ext cx="4617720" cy="457200"/>
          </a:xfrm>
          <a:prstGeom prst="rect">
            <a:avLst/>
          </a:prstGeom>
          <a:noFill/>
          <a:ln/>
        </p:spPr>
        <p:txBody>
          <a:bodyPr wrap="square" lIns="0" tIns="0" rIns="0" bIns="0" rtlCol="0" anchor="ctr"/>
          <a:lstStyle/>
          <a:p>
            <a:pPr indent="0" marL="0">
              <a:buNone/>
            </a:pPr>
            <a:r>
              <a:rPr lang="en-US" sz="1250" dirty="0">
                <a:solidFill>
                  <a:srgbClr val="5A6B78"/>
                </a:solidFill>
                <a:latin typeface="Calibri" pitchFamily="34" charset="0"/>
                <a:ea typeface="Calibri" pitchFamily="34" charset="-122"/>
                <a:cs typeface="Calibri" pitchFamily="34" charset="-120"/>
              </a:rPr>
              <a:t>Combines fixed system instructions with the user's live financial data.</a:t>
            </a:r>
            <a:endParaRPr lang="en-US" sz="1250" dirty="0"/>
          </a:p>
        </p:txBody>
      </p:sp>
      <p:sp>
        <p:nvSpPr>
          <p:cNvPr id="31" name="Shape 29"/>
          <p:cNvSpPr/>
          <p:nvPr/>
        </p:nvSpPr>
        <p:spPr>
          <a:xfrm>
            <a:off x="6812280" y="2487168"/>
            <a:ext cx="4617720" cy="530352"/>
          </a:xfrm>
          <a:prstGeom prst="roundRect">
            <a:avLst>
              <a:gd name="adj" fmla="val 13793"/>
            </a:avLst>
          </a:prstGeom>
          <a:solidFill>
            <a:srgbClr val="FFFFFF"/>
          </a:solidFill>
          <a:ln w="12700">
            <a:solidFill>
              <a:srgbClr val="17A398"/>
            </a:solidFill>
            <a:prstDash val="solid"/>
          </a:ln>
        </p:spPr>
      </p:sp>
      <p:sp>
        <p:nvSpPr>
          <p:cNvPr id="32" name="Text 30"/>
          <p:cNvSpPr txBox="1"/>
          <p:nvPr/>
        </p:nvSpPr>
        <p:spPr>
          <a:xfrm>
            <a:off x="6967728" y="2523744"/>
            <a:ext cx="2194560" cy="2286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System Instructions</a:t>
            </a:r>
            <a:endParaRPr lang="en-US" sz="1250" dirty="0"/>
          </a:p>
        </p:txBody>
      </p:sp>
      <p:sp>
        <p:nvSpPr>
          <p:cNvPr id="33" name="Text 31"/>
          <p:cNvSpPr txBox="1"/>
          <p:nvPr/>
        </p:nvSpPr>
        <p:spPr>
          <a:xfrm>
            <a:off x="6967728" y="2752344"/>
            <a:ext cx="4297680" cy="2286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role, safety rules, JSON format</a:t>
            </a:r>
            <a:endParaRPr lang="en-US" sz="1050" dirty="0"/>
          </a:p>
        </p:txBody>
      </p:sp>
      <p:sp>
        <p:nvSpPr>
          <p:cNvPr id="34" name="Shape 32"/>
          <p:cNvSpPr/>
          <p:nvPr/>
        </p:nvSpPr>
        <p:spPr>
          <a:xfrm>
            <a:off x="9006840" y="3035808"/>
            <a:ext cx="201168" cy="118872"/>
          </a:xfrm>
          <a:prstGeom prst="downArrow">
            <a:avLst/>
          </a:prstGeom>
          <a:solidFill>
            <a:srgbClr val="17A398"/>
          </a:solidFill>
          <a:ln w="12700">
            <a:solidFill>
              <a:srgbClr val="17A398"/>
            </a:solidFill>
            <a:prstDash val="solid"/>
          </a:ln>
        </p:spPr>
      </p:sp>
      <p:sp>
        <p:nvSpPr>
          <p:cNvPr id="35" name="Shape 33"/>
          <p:cNvSpPr/>
          <p:nvPr/>
        </p:nvSpPr>
        <p:spPr>
          <a:xfrm>
            <a:off x="6812280" y="3172968"/>
            <a:ext cx="4617720" cy="530352"/>
          </a:xfrm>
          <a:prstGeom prst="roundRect">
            <a:avLst>
              <a:gd name="adj" fmla="val 13793"/>
            </a:avLst>
          </a:prstGeom>
          <a:solidFill>
            <a:srgbClr val="FFFFFF"/>
          </a:solidFill>
          <a:ln w="12700">
            <a:solidFill>
              <a:srgbClr val="17A398"/>
            </a:solidFill>
            <a:prstDash val="solid"/>
          </a:ln>
        </p:spPr>
      </p:sp>
      <p:sp>
        <p:nvSpPr>
          <p:cNvPr id="36" name="Text 34"/>
          <p:cNvSpPr txBox="1"/>
          <p:nvPr/>
        </p:nvSpPr>
        <p:spPr>
          <a:xfrm>
            <a:off x="6967728" y="3209544"/>
            <a:ext cx="2194560" cy="2286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Human Financial Data</a:t>
            </a:r>
            <a:endParaRPr lang="en-US" sz="1250" dirty="0"/>
          </a:p>
        </p:txBody>
      </p:sp>
      <p:sp>
        <p:nvSpPr>
          <p:cNvPr id="37" name="Text 35"/>
          <p:cNvSpPr txBox="1"/>
          <p:nvPr/>
        </p:nvSpPr>
        <p:spPr>
          <a:xfrm>
            <a:off x="6967728" y="3438144"/>
            <a:ext cx="4297680" cy="2286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income, expenses, ratios, goal</a:t>
            </a:r>
            <a:endParaRPr lang="en-US" sz="1050" dirty="0"/>
          </a:p>
        </p:txBody>
      </p:sp>
      <p:sp>
        <p:nvSpPr>
          <p:cNvPr id="38" name="Shape 36"/>
          <p:cNvSpPr/>
          <p:nvPr/>
        </p:nvSpPr>
        <p:spPr>
          <a:xfrm>
            <a:off x="9006840" y="3721608"/>
            <a:ext cx="201168" cy="118872"/>
          </a:xfrm>
          <a:prstGeom prst="downArrow">
            <a:avLst/>
          </a:prstGeom>
          <a:solidFill>
            <a:srgbClr val="17A398"/>
          </a:solidFill>
          <a:ln w="12700">
            <a:solidFill>
              <a:srgbClr val="17A398"/>
            </a:solidFill>
            <a:prstDash val="solid"/>
          </a:ln>
        </p:spPr>
      </p:sp>
      <p:sp>
        <p:nvSpPr>
          <p:cNvPr id="39" name="Shape 37"/>
          <p:cNvSpPr/>
          <p:nvPr/>
        </p:nvSpPr>
        <p:spPr>
          <a:xfrm>
            <a:off x="6812280" y="3858768"/>
            <a:ext cx="4617720" cy="530352"/>
          </a:xfrm>
          <a:prstGeom prst="roundRect">
            <a:avLst>
              <a:gd name="adj" fmla="val 13793"/>
            </a:avLst>
          </a:prstGeom>
          <a:solidFill>
            <a:srgbClr val="FFFFFF"/>
          </a:solidFill>
          <a:ln w="12700">
            <a:solidFill>
              <a:srgbClr val="17A398"/>
            </a:solidFill>
            <a:prstDash val="solid"/>
          </a:ln>
        </p:spPr>
      </p:sp>
      <p:sp>
        <p:nvSpPr>
          <p:cNvPr id="40" name="Text 38"/>
          <p:cNvSpPr txBox="1"/>
          <p:nvPr/>
        </p:nvSpPr>
        <p:spPr>
          <a:xfrm>
            <a:off x="6967728" y="3895344"/>
            <a:ext cx="2194560" cy="2286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ChatPromptTemplate</a:t>
            </a:r>
            <a:endParaRPr lang="en-US" sz="1250" dirty="0"/>
          </a:p>
        </p:txBody>
      </p:sp>
      <p:sp>
        <p:nvSpPr>
          <p:cNvPr id="41" name="Text 39"/>
          <p:cNvSpPr txBox="1"/>
          <p:nvPr/>
        </p:nvSpPr>
        <p:spPr>
          <a:xfrm>
            <a:off x="6967728" y="4123944"/>
            <a:ext cx="4297680" cy="2286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one combined conversation</a:t>
            </a:r>
            <a:endParaRPr lang="en-US" sz="1050" dirty="0"/>
          </a:p>
        </p:txBody>
      </p:sp>
      <p:sp>
        <p:nvSpPr>
          <p:cNvPr id="42" name="Shape 40"/>
          <p:cNvSpPr/>
          <p:nvPr/>
        </p:nvSpPr>
        <p:spPr>
          <a:xfrm>
            <a:off x="9006840" y="4407408"/>
            <a:ext cx="201168" cy="118872"/>
          </a:xfrm>
          <a:prstGeom prst="downArrow">
            <a:avLst/>
          </a:prstGeom>
          <a:solidFill>
            <a:srgbClr val="17A398"/>
          </a:solidFill>
          <a:ln w="12700">
            <a:solidFill>
              <a:srgbClr val="17A398"/>
            </a:solidFill>
            <a:prstDash val="solid"/>
          </a:ln>
        </p:spPr>
      </p:sp>
      <p:sp>
        <p:nvSpPr>
          <p:cNvPr id="43" name="Shape 41"/>
          <p:cNvSpPr/>
          <p:nvPr/>
        </p:nvSpPr>
        <p:spPr>
          <a:xfrm>
            <a:off x="6812280" y="4544568"/>
            <a:ext cx="4617720" cy="530352"/>
          </a:xfrm>
          <a:prstGeom prst="roundRect">
            <a:avLst>
              <a:gd name="adj" fmla="val 13793"/>
            </a:avLst>
          </a:prstGeom>
          <a:solidFill>
            <a:srgbClr val="FFFFFF"/>
          </a:solidFill>
          <a:ln w="12700">
            <a:solidFill>
              <a:srgbClr val="0B2545"/>
            </a:solidFill>
            <a:prstDash val="solid"/>
          </a:ln>
        </p:spPr>
      </p:sp>
      <p:sp>
        <p:nvSpPr>
          <p:cNvPr id="44" name="Text 42"/>
          <p:cNvSpPr txBox="1"/>
          <p:nvPr/>
        </p:nvSpPr>
        <p:spPr>
          <a:xfrm>
            <a:off x="6967728" y="4581144"/>
            <a:ext cx="2194560" cy="22860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LLM</a:t>
            </a:r>
            <a:endParaRPr lang="en-US" sz="1250" dirty="0"/>
          </a:p>
        </p:txBody>
      </p:sp>
      <p:sp>
        <p:nvSpPr>
          <p:cNvPr id="45" name="Text 43"/>
          <p:cNvSpPr txBox="1"/>
          <p:nvPr/>
        </p:nvSpPr>
        <p:spPr>
          <a:xfrm>
            <a:off x="6967728" y="4809744"/>
            <a:ext cx="4297680" cy="228600"/>
          </a:xfrm>
          <a:prstGeom prst="rect">
            <a:avLst/>
          </a:prstGeom>
          <a:noFill/>
          <a:ln/>
        </p:spPr>
        <p:txBody>
          <a:bodyPr wrap="square" lIns="0" tIns="0" rIns="0" bIns="0" rtlCol="0" anchor="ctr"/>
          <a:lstStyle/>
          <a:p>
            <a:pPr indent="0" marL="0">
              <a:buNone/>
            </a:pPr>
            <a:r>
              <a:rPr lang="en-US" sz="1050" dirty="0">
                <a:solidFill>
                  <a:srgbClr val="5A6B78"/>
                </a:solidFill>
                <a:latin typeface="Calibri" pitchFamily="34" charset="0"/>
                <a:ea typeface="Calibri" pitchFamily="34" charset="-122"/>
                <a:cs typeface="Calibri" pitchFamily="34" charset="-120"/>
              </a:rPr>
              <a:t>ChatOpenAI writes the analysis</a:t>
            </a:r>
            <a:endParaRPr lang="en-US" sz="1050" dirty="0"/>
          </a:p>
        </p:txBody>
      </p:sp>
      <p:sp>
        <p:nvSpPr>
          <p:cNvPr id="46" name="Shape 44"/>
          <p:cNvSpPr/>
          <p:nvPr/>
        </p:nvSpPr>
        <p:spPr>
          <a:xfrm>
            <a:off x="548640" y="5532120"/>
            <a:ext cx="11091672" cy="475488"/>
          </a:xfrm>
          <a:prstGeom prst="roundRect">
            <a:avLst>
              <a:gd name="adj" fmla="val 15385"/>
            </a:avLst>
          </a:prstGeom>
          <a:solidFill>
            <a:srgbClr val="FDF3E3"/>
          </a:solidFill>
          <a:ln w="12700">
            <a:solidFill>
              <a:srgbClr val="EAD3A8"/>
            </a:solidFill>
            <a:prstDash val="solid"/>
          </a:ln>
        </p:spPr>
      </p:sp>
      <p:sp>
        <p:nvSpPr>
          <p:cNvPr id="47" name="Text 45"/>
          <p:cNvSpPr txBox="1"/>
          <p:nvPr/>
        </p:nvSpPr>
        <p:spPr>
          <a:xfrm>
            <a:off x="731520" y="5532120"/>
            <a:ext cx="10789920" cy="475488"/>
          </a:xfrm>
          <a:prstGeom prst="rect">
            <a:avLst/>
          </a:prstGeom>
          <a:noFill/>
          <a:ln/>
        </p:spPr>
        <p:txBody>
          <a:bodyPr wrap="square" lIns="0" tIns="0" rIns="0" bIns="0" rtlCol="0" anchor="ctr"/>
          <a:lstStyle/>
          <a:p>
            <a:pPr indent="0" marL="0">
              <a:buNone/>
            </a:pPr>
            <a:r>
              <a:rPr lang="en-US" sz="1250" b="1" dirty="0">
                <a:solidFill>
                  <a:srgbClr val="8A5A12"/>
                </a:solidFill>
                <a:latin typeface="Calibri" pitchFamily="34" charset="0"/>
                <a:ea typeface="Calibri" pitchFamily="34" charset="-122"/>
                <a:cs typeface="Calibri" pitchFamily="34" charset="-120"/>
              </a:rPr>
              <a:t>The safety rules live in the system instructions, so user input can never remove them.</a:t>
            </a:r>
            <a:endParaRPr lang="en-US" sz="1250" dirty="0"/>
          </a:p>
        </p:txBody>
      </p:sp>
      <p:sp>
        <p:nvSpPr>
          <p:cNvPr id="48" name="Text 46"/>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8</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Messages and LLMChain</a:t>
            </a:r>
            <a:endParaRPr lang="en-US" sz="3000" dirty="0"/>
          </a:p>
        </p:txBody>
      </p:sp>
      <p:sp>
        <p:nvSpPr>
          <p:cNvPr id="4" name="Shape 2"/>
          <p:cNvSpPr/>
          <p:nvPr/>
        </p:nvSpPr>
        <p:spPr>
          <a:xfrm>
            <a:off x="548640" y="1325880"/>
            <a:ext cx="3575304" cy="1965960"/>
          </a:xfrm>
          <a:prstGeom prst="roundRect">
            <a:avLst>
              <a:gd name="adj" fmla="val 4186"/>
            </a:avLst>
          </a:prstGeom>
          <a:solidFill>
            <a:srgbClr val="F1F7F8"/>
          </a:solidFill>
          <a:ln w="12700">
            <a:solidFill>
              <a:srgbClr val="D3E1E5"/>
            </a:solidFill>
            <a:prstDash val="solid"/>
          </a:ln>
        </p:spPr>
      </p:sp>
      <p:sp>
        <p:nvSpPr>
          <p:cNvPr id="5" name="Shape 3"/>
          <p:cNvSpPr/>
          <p:nvPr/>
        </p:nvSpPr>
        <p:spPr>
          <a:xfrm>
            <a:off x="548640" y="1325880"/>
            <a:ext cx="3575304" cy="475488"/>
          </a:xfrm>
          <a:prstGeom prst="roundRect">
            <a:avLst>
              <a:gd name="adj" fmla="val 17308"/>
            </a:avLst>
          </a:prstGeom>
          <a:solidFill>
            <a:srgbClr val="0E7C7B"/>
          </a:solidFill>
          <a:ln w="12700">
            <a:solidFill>
              <a:srgbClr val="0E7C7B"/>
            </a:solidFill>
            <a:prstDash val="solid"/>
          </a:ln>
        </p:spPr>
      </p:sp>
      <p:sp>
        <p:nvSpPr>
          <p:cNvPr id="6" name="Text 4"/>
          <p:cNvSpPr txBox="1"/>
          <p:nvPr/>
        </p:nvSpPr>
        <p:spPr>
          <a:xfrm>
            <a:off x="777240" y="1325880"/>
            <a:ext cx="3108960" cy="47548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SystemMessage</a:t>
            </a:r>
            <a:endParaRPr lang="en-US" sz="1500" dirty="0"/>
          </a:p>
        </p:txBody>
      </p:sp>
      <p:sp>
        <p:nvSpPr>
          <p:cNvPr id="7" name="Text 5"/>
          <p:cNvSpPr txBox="1"/>
          <p:nvPr/>
        </p:nvSpPr>
        <p:spPr>
          <a:xfrm>
            <a:off x="777240" y="1938528"/>
            <a:ext cx="3154680" cy="1188720"/>
          </a:xfrm>
          <a:prstGeom prst="rect">
            <a:avLst/>
          </a:prstGeom>
          <a:noFill/>
          <a:ln/>
        </p:spPr>
        <p:txBody>
          <a:bodyPr wrap="square" lIns="0" tIns="0" rIns="0" bIns="0" rtlCol="0" anchor="ctr"/>
          <a:lstStyle/>
          <a:p>
            <a:pPr indent="0" marL="0">
              <a:buNone/>
            </a:pPr>
            <a:r>
              <a:rPr lang="en-US" sz="1250" dirty="0">
                <a:solidFill>
                  <a:srgbClr val="12222F"/>
                </a:solidFill>
                <a:latin typeface="Calibri" pitchFamily="34" charset="0"/>
                <a:ea typeface="Calibri" pitchFamily="34" charset="-122"/>
                <a:cs typeface="Calibri" pitchFamily="34" charset="-120"/>
              </a:rPr>
              <a:t>The AI's role and financial safety rules: educational only, no guaranteed advice, no risky recommendations.</a:t>
            </a:r>
            <a:endParaRPr lang="en-US" sz="1250" dirty="0"/>
          </a:p>
        </p:txBody>
      </p:sp>
      <p:sp>
        <p:nvSpPr>
          <p:cNvPr id="8" name="Shape 6"/>
          <p:cNvSpPr/>
          <p:nvPr/>
        </p:nvSpPr>
        <p:spPr>
          <a:xfrm>
            <a:off x="4306824" y="1325880"/>
            <a:ext cx="3575304" cy="1965960"/>
          </a:xfrm>
          <a:prstGeom prst="roundRect">
            <a:avLst>
              <a:gd name="adj" fmla="val 4186"/>
            </a:avLst>
          </a:prstGeom>
          <a:solidFill>
            <a:srgbClr val="F1F7F8"/>
          </a:solidFill>
          <a:ln w="12700">
            <a:solidFill>
              <a:srgbClr val="D3E1E5"/>
            </a:solidFill>
            <a:prstDash val="solid"/>
          </a:ln>
        </p:spPr>
      </p:sp>
      <p:sp>
        <p:nvSpPr>
          <p:cNvPr id="9" name="Shape 7"/>
          <p:cNvSpPr/>
          <p:nvPr/>
        </p:nvSpPr>
        <p:spPr>
          <a:xfrm>
            <a:off x="4306824" y="1325880"/>
            <a:ext cx="3575304" cy="475488"/>
          </a:xfrm>
          <a:prstGeom prst="roundRect">
            <a:avLst>
              <a:gd name="adj" fmla="val 17308"/>
            </a:avLst>
          </a:prstGeom>
          <a:solidFill>
            <a:srgbClr val="0B2545"/>
          </a:solidFill>
          <a:ln w="12700">
            <a:solidFill>
              <a:srgbClr val="0B2545"/>
            </a:solidFill>
            <a:prstDash val="solid"/>
          </a:ln>
        </p:spPr>
      </p:sp>
      <p:sp>
        <p:nvSpPr>
          <p:cNvPr id="10" name="Text 8"/>
          <p:cNvSpPr txBox="1"/>
          <p:nvPr/>
        </p:nvSpPr>
        <p:spPr>
          <a:xfrm>
            <a:off x="4535424" y="1325880"/>
            <a:ext cx="3108960" cy="47548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HumanMessage</a:t>
            </a:r>
            <a:endParaRPr lang="en-US" sz="1500" dirty="0"/>
          </a:p>
        </p:txBody>
      </p:sp>
      <p:sp>
        <p:nvSpPr>
          <p:cNvPr id="11" name="Text 9"/>
          <p:cNvSpPr txBox="1"/>
          <p:nvPr/>
        </p:nvSpPr>
        <p:spPr>
          <a:xfrm>
            <a:off x="4535424" y="1938528"/>
            <a:ext cx="3154680" cy="1188720"/>
          </a:xfrm>
          <a:prstGeom prst="rect">
            <a:avLst/>
          </a:prstGeom>
          <a:noFill/>
          <a:ln/>
        </p:spPr>
        <p:txBody>
          <a:bodyPr wrap="square" lIns="0" tIns="0" rIns="0" bIns="0" rtlCol="0" anchor="ctr"/>
          <a:lstStyle/>
          <a:p>
            <a:pPr indent="0" marL="0">
              <a:buNone/>
            </a:pPr>
            <a:r>
              <a:rPr lang="en-US" sz="1250" dirty="0">
                <a:solidFill>
                  <a:srgbClr val="12222F"/>
                </a:solidFill>
                <a:latin typeface="Calibri" pitchFamily="34" charset="0"/>
                <a:ea typeface="Calibri" pitchFamily="34" charset="-122"/>
                <a:cs typeface="Calibri" pitchFamily="34" charset="-120"/>
              </a:rPr>
              <a:t>The user's financial information: income, expense breakdown, savings, ratios and goal.</a:t>
            </a:r>
            <a:endParaRPr lang="en-US" sz="1250" dirty="0"/>
          </a:p>
        </p:txBody>
      </p:sp>
      <p:sp>
        <p:nvSpPr>
          <p:cNvPr id="12" name="Shape 10"/>
          <p:cNvSpPr/>
          <p:nvPr/>
        </p:nvSpPr>
        <p:spPr>
          <a:xfrm>
            <a:off x="8065008" y="1325880"/>
            <a:ext cx="3575304" cy="1965960"/>
          </a:xfrm>
          <a:prstGeom prst="roundRect">
            <a:avLst>
              <a:gd name="adj" fmla="val 4186"/>
            </a:avLst>
          </a:prstGeom>
          <a:solidFill>
            <a:srgbClr val="F1F7F8"/>
          </a:solidFill>
          <a:ln w="12700">
            <a:solidFill>
              <a:srgbClr val="D3E1E5"/>
            </a:solidFill>
            <a:prstDash val="solid"/>
          </a:ln>
        </p:spPr>
      </p:sp>
      <p:sp>
        <p:nvSpPr>
          <p:cNvPr id="13" name="Shape 11"/>
          <p:cNvSpPr/>
          <p:nvPr/>
        </p:nvSpPr>
        <p:spPr>
          <a:xfrm>
            <a:off x="8065008" y="1325880"/>
            <a:ext cx="3575304" cy="475488"/>
          </a:xfrm>
          <a:prstGeom prst="roundRect">
            <a:avLst>
              <a:gd name="adj" fmla="val 17308"/>
            </a:avLst>
          </a:prstGeom>
          <a:solidFill>
            <a:srgbClr val="17A398"/>
          </a:solidFill>
          <a:ln w="12700">
            <a:solidFill>
              <a:srgbClr val="17A398"/>
            </a:solidFill>
            <a:prstDash val="solid"/>
          </a:ln>
        </p:spPr>
      </p:sp>
      <p:sp>
        <p:nvSpPr>
          <p:cNvPr id="14" name="Text 12"/>
          <p:cNvSpPr txBox="1"/>
          <p:nvPr/>
        </p:nvSpPr>
        <p:spPr>
          <a:xfrm>
            <a:off x="8293608" y="1325880"/>
            <a:ext cx="3108960" cy="47548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AIMessage</a:t>
            </a:r>
            <a:endParaRPr lang="en-US" sz="1500" dirty="0"/>
          </a:p>
        </p:txBody>
      </p:sp>
      <p:sp>
        <p:nvSpPr>
          <p:cNvPr id="15" name="Text 13"/>
          <p:cNvSpPr txBox="1"/>
          <p:nvPr/>
        </p:nvSpPr>
        <p:spPr>
          <a:xfrm>
            <a:off x="8293608" y="1938528"/>
            <a:ext cx="3154680" cy="1188720"/>
          </a:xfrm>
          <a:prstGeom prst="rect">
            <a:avLst/>
          </a:prstGeom>
          <a:noFill/>
          <a:ln/>
        </p:spPr>
        <p:txBody>
          <a:bodyPr wrap="square" lIns="0" tIns="0" rIns="0" bIns="0" rtlCol="0" anchor="ctr"/>
          <a:lstStyle/>
          <a:p>
            <a:pPr indent="0" marL="0">
              <a:buNone/>
            </a:pPr>
            <a:r>
              <a:rPr lang="en-US" sz="1250" dirty="0">
                <a:solidFill>
                  <a:srgbClr val="12222F"/>
                </a:solidFill>
                <a:latin typeface="Calibri" pitchFamily="34" charset="0"/>
                <a:ea typeface="Calibri" pitchFamily="34" charset="-122"/>
                <a:cs typeface="Calibri" pitchFamily="34" charset="-120"/>
              </a:rPr>
              <a:t>The assistant's response - also used to keep earlier turns of the conversation.</a:t>
            </a:r>
            <a:endParaRPr lang="en-US" sz="1250" dirty="0"/>
          </a:p>
        </p:txBody>
      </p:sp>
      <p:sp>
        <p:nvSpPr>
          <p:cNvPr id="16" name="Shape 14"/>
          <p:cNvSpPr/>
          <p:nvPr/>
        </p:nvSpPr>
        <p:spPr>
          <a:xfrm>
            <a:off x="548640" y="3520440"/>
            <a:ext cx="11091672" cy="1600200"/>
          </a:xfrm>
          <a:prstGeom prst="roundRect">
            <a:avLst>
              <a:gd name="adj" fmla="val 5143"/>
            </a:avLst>
          </a:prstGeom>
          <a:solidFill>
            <a:srgbClr val="E7F1F3"/>
          </a:solidFill>
          <a:ln w="12700">
            <a:solidFill>
              <a:srgbClr val="D3E1E5"/>
            </a:solidFill>
            <a:prstDash val="solid"/>
          </a:ln>
        </p:spPr>
      </p:sp>
      <p:sp>
        <p:nvSpPr>
          <p:cNvPr id="17" name="Text 15"/>
          <p:cNvSpPr txBox="1"/>
          <p:nvPr/>
        </p:nvSpPr>
        <p:spPr>
          <a:xfrm>
            <a:off x="777240" y="3639312"/>
            <a:ext cx="2743200" cy="32004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LLMChain</a:t>
            </a:r>
            <a:endParaRPr lang="en-US" sz="2000" dirty="0"/>
          </a:p>
        </p:txBody>
      </p:sp>
      <p:sp>
        <p:nvSpPr>
          <p:cNvPr id="18" name="Text 16"/>
          <p:cNvSpPr txBox="1"/>
          <p:nvPr/>
        </p:nvSpPr>
        <p:spPr>
          <a:xfrm>
            <a:off x="2926080" y="3675888"/>
            <a:ext cx="8503920" cy="274320"/>
          </a:xfrm>
          <a:prstGeom prst="rect">
            <a:avLst/>
          </a:prstGeom>
          <a:noFill/>
          <a:ln/>
        </p:spPr>
        <p:txBody>
          <a:bodyPr wrap="square" lIns="0" tIns="0" rIns="0" bIns="0" rtlCol="0" anchor="ctr"/>
          <a:lstStyle/>
          <a:p>
            <a:pPr indent="0" marL="0">
              <a:buNone/>
            </a:pPr>
            <a:r>
              <a:rPr lang="en-US" sz="1200" dirty="0">
                <a:solidFill>
                  <a:srgbClr val="5A6B78"/>
                </a:solidFill>
                <a:latin typeface="Calibri" pitchFamily="34" charset="0"/>
                <a:ea typeface="Calibri" pitchFamily="34" charset="-122"/>
                <a:cs typeface="Calibri" pitchFamily="34" charset="-120"/>
              </a:rPr>
              <a:t>One reusable object that joins the prompt to the model, so the app calls it with a simple dictionary of values.</a:t>
            </a:r>
            <a:endParaRPr lang="en-US" sz="1200" dirty="0"/>
          </a:p>
        </p:txBody>
      </p:sp>
      <p:sp>
        <p:nvSpPr>
          <p:cNvPr id="19" name="Shape 17"/>
          <p:cNvSpPr/>
          <p:nvPr/>
        </p:nvSpPr>
        <p:spPr>
          <a:xfrm>
            <a:off x="777240" y="4114800"/>
            <a:ext cx="1920240" cy="658368"/>
          </a:xfrm>
          <a:prstGeom prst="roundRect">
            <a:avLst>
              <a:gd name="adj" fmla="val 12500"/>
            </a:avLst>
          </a:prstGeom>
          <a:solidFill>
            <a:srgbClr val="FFFFFF"/>
          </a:solidFill>
          <a:ln w="12700">
            <a:solidFill>
              <a:srgbClr val="17A398"/>
            </a:solidFill>
            <a:prstDash val="solid"/>
          </a:ln>
        </p:spPr>
      </p:sp>
      <p:sp>
        <p:nvSpPr>
          <p:cNvPr id="20" name="Text 18"/>
          <p:cNvSpPr txBox="1"/>
          <p:nvPr/>
        </p:nvSpPr>
        <p:spPr>
          <a:xfrm>
            <a:off x="832104" y="4114800"/>
            <a:ext cx="1810512" cy="658368"/>
          </a:xfrm>
          <a:prstGeom prst="rect">
            <a:avLst/>
          </a:prstGeom>
          <a:noFill/>
          <a:ln/>
        </p:spPr>
        <p:txBody>
          <a:bodyPr wrap="square" lIns="0" tIns="0" rIns="0" bIns="0" rtlCol="0" anchor="ctr"/>
          <a:lstStyle/>
          <a:p>
            <a:pPr algn="ctr" indent="0" marL="0">
              <a:buNone/>
            </a:pPr>
            <a:r>
              <a:rPr lang="en-US" sz="1350" b="1" dirty="0">
                <a:solidFill>
                  <a:srgbClr val="0B2545"/>
                </a:solidFill>
                <a:latin typeface="Calibri" pitchFamily="34" charset="0"/>
                <a:ea typeface="Calibri" pitchFamily="34" charset="-122"/>
                <a:cs typeface="Calibri" pitchFamily="34" charset="-120"/>
              </a:rPr>
              <a:t>Prompt</a:t>
            </a:r>
            <a:endParaRPr lang="en-US" sz="1350" dirty="0"/>
          </a:p>
        </p:txBody>
      </p:sp>
      <p:sp>
        <p:nvSpPr>
          <p:cNvPr id="21" name="Shape 19"/>
          <p:cNvSpPr/>
          <p:nvPr/>
        </p:nvSpPr>
        <p:spPr>
          <a:xfrm>
            <a:off x="2807208" y="4334256"/>
            <a:ext cx="365760" cy="219456"/>
          </a:xfrm>
          <a:prstGeom prst="rightArrow">
            <a:avLst/>
          </a:prstGeom>
          <a:solidFill>
            <a:srgbClr val="17A398"/>
          </a:solidFill>
          <a:ln w="12700">
            <a:solidFill>
              <a:srgbClr val="17A398"/>
            </a:solidFill>
            <a:prstDash val="solid"/>
          </a:ln>
        </p:spPr>
      </p:sp>
      <p:sp>
        <p:nvSpPr>
          <p:cNvPr id="22" name="Shape 20"/>
          <p:cNvSpPr/>
          <p:nvPr/>
        </p:nvSpPr>
        <p:spPr>
          <a:xfrm>
            <a:off x="3282696" y="4114800"/>
            <a:ext cx="1920240" cy="658368"/>
          </a:xfrm>
          <a:prstGeom prst="roundRect">
            <a:avLst>
              <a:gd name="adj" fmla="val 12500"/>
            </a:avLst>
          </a:prstGeom>
          <a:solidFill>
            <a:srgbClr val="FFFFFF"/>
          </a:solidFill>
          <a:ln w="12700">
            <a:solidFill>
              <a:srgbClr val="17A398"/>
            </a:solidFill>
            <a:prstDash val="solid"/>
          </a:ln>
        </p:spPr>
      </p:sp>
      <p:sp>
        <p:nvSpPr>
          <p:cNvPr id="23" name="Text 21"/>
          <p:cNvSpPr txBox="1"/>
          <p:nvPr/>
        </p:nvSpPr>
        <p:spPr>
          <a:xfrm>
            <a:off x="3337560" y="4114800"/>
            <a:ext cx="1810512" cy="658368"/>
          </a:xfrm>
          <a:prstGeom prst="rect">
            <a:avLst/>
          </a:prstGeom>
          <a:noFill/>
          <a:ln/>
        </p:spPr>
        <p:txBody>
          <a:bodyPr wrap="square" lIns="0" tIns="0" rIns="0" bIns="0" rtlCol="0" anchor="ctr"/>
          <a:lstStyle/>
          <a:p>
            <a:pPr algn="ctr" indent="0" marL="0">
              <a:buNone/>
            </a:pPr>
            <a:r>
              <a:rPr lang="en-US" sz="1350" b="1" dirty="0">
                <a:solidFill>
                  <a:srgbClr val="0B2545"/>
                </a:solidFill>
                <a:latin typeface="Calibri" pitchFamily="34" charset="0"/>
                <a:ea typeface="Calibri" pitchFamily="34" charset="-122"/>
                <a:cs typeface="Calibri" pitchFamily="34" charset="-120"/>
              </a:rPr>
              <a:t>ChatOpenAI</a:t>
            </a:r>
            <a:endParaRPr lang="en-US" sz="1350" dirty="0"/>
          </a:p>
        </p:txBody>
      </p:sp>
      <p:sp>
        <p:nvSpPr>
          <p:cNvPr id="24" name="Shape 22"/>
          <p:cNvSpPr/>
          <p:nvPr/>
        </p:nvSpPr>
        <p:spPr>
          <a:xfrm>
            <a:off x="5312664" y="4334256"/>
            <a:ext cx="365760" cy="219456"/>
          </a:xfrm>
          <a:prstGeom prst="rightArrow">
            <a:avLst/>
          </a:prstGeom>
          <a:solidFill>
            <a:srgbClr val="17A398"/>
          </a:solidFill>
          <a:ln w="12700">
            <a:solidFill>
              <a:srgbClr val="17A398"/>
            </a:solidFill>
            <a:prstDash val="solid"/>
          </a:ln>
        </p:spPr>
      </p:sp>
      <p:sp>
        <p:nvSpPr>
          <p:cNvPr id="25" name="Shape 23"/>
          <p:cNvSpPr/>
          <p:nvPr/>
        </p:nvSpPr>
        <p:spPr>
          <a:xfrm>
            <a:off x="5788152" y="4114800"/>
            <a:ext cx="1920240" cy="658368"/>
          </a:xfrm>
          <a:prstGeom prst="roundRect">
            <a:avLst>
              <a:gd name="adj" fmla="val 12500"/>
            </a:avLst>
          </a:prstGeom>
          <a:solidFill>
            <a:srgbClr val="FFFFFF"/>
          </a:solidFill>
          <a:ln w="12700">
            <a:solidFill>
              <a:srgbClr val="17A398"/>
            </a:solidFill>
            <a:prstDash val="solid"/>
          </a:ln>
        </p:spPr>
      </p:sp>
      <p:sp>
        <p:nvSpPr>
          <p:cNvPr id="26" name="Text 24"/>
          <p:cNvSpPr txBox="1"/>
          <p:nvPr/>
        </p:nvSpPr>
        <p:spPr>
          <a:xfrm>
            <a:off x="5843016" y="4114800"/>
            <a:ext cx="1810512" cy="658368"/>
          </a:xfrm>
          <a:prstGeom prst="rect">
            <a:avLst/>
          </a:prstGeom>
          <a:noFill/>
          <a:ln/>
        </p:spPr>
        <p:txBody>
          <a:bodyPr wrap="square" lIns="0" tIns="0" rIns="0" bIns="0" rtlCol="0" anchor="ctr"/>
          <a:lstStyle/>
          <a:p>
            <a:pPr algn="ctr" indent="0" marL="0">
              <a:buNone/>
            </a:pPr>
            <a:r>
              <a:rPr lang="en-US" sz="1350" b="1" dirty="0">
                <a:solidFill>
                  <a:srgbClr val="0B2545"/>
                </a:solidFill>
                <a:latin typeface="Calibri" pitchFamily="34" charset="0"/>
                <a:ea typeface="Calibri" pitchFamily="34" charset="-122"/>
                <a:cs typeface="Calibri" pitchFamily="34" charset="-120"/>
              </a:rPr>
              <a:t>Response</a:t>
            </a:r>
            <a:endParaRPr lang="en-US" sz="1350" dirty="0"/>
          </a:p>
        </p:txBody>
      </p:sp>
      <p:sp>
        <p:nvSpPr>
          <p:cNvPr id="27" name="Shape 25"/>
          <p:cNvSpPr/>
          <p:nvPr/>
        </p:nvSpPr>
        <p:spPr>
          <a:xfrm>
            <a:off x="8001000" y="4114800"/>
            <a:ext cx="3429000" cy="658368"/>
          </a:xfrm>
          <a:prstGeom prst="roundRect">
            <a:avLst>
              <a:gd name="adj" fmla="val 11111"/>
            </a:avLst>
          </a:prstGeom>
          <a:solidFill>
            <a:srgbClr val="0B2545"/>
          </a:solidFill>
          <a:ln w="12700">
            <a:solidFill>
              <a:srgbClr val="0B2545"/>
            </a:solidFill>
            <a:prstDash val="solid"/>
          </a:ln>
        </p:spPr>
      </p:sp>
      <p:sp>
        <p:nvSpPr>
          <p:cNvPr id="28" name="Text 26"/>
          <p:cNvSpPr txBox="1"/>
          <p:nvPr/>
        </p:nvSpPr>
        <p:spPr>
          <a:xfrm>
            <a:off x="8138160" y="4114800"/>
            <a:ext cx="3200400" cy="658368"/>
          </a:xfrm>
          <a:prstGeom prst="rect">
            <a:avLst/>
          </a:prstGeom>
          <a:noFill/>
          <a:ln/>
        </p:spPr>
        <p:txBody>
          <a:bodyPr wrap="square" lIns="0" tIns="0" rIns="0" bIns="0" rtlCol="0" anchor="ctr"/>
          <a:lstStyle/>
          <a:p>
            <a:pPr indent="0" marL="0">
              <a:buNone/>
            </a:pPr>
            <a:r>
              <a:rPr lang="en-US" sz="1050" dirty="0">
                <a:solidFill>
                  <a:srgbClr val="9EE6DA"/>
                </a:solidFill>
                <a:latin typeface="Courier New" pitchFamily="34" charset="0"/>
                <a:ea typeface="Courier New" pitchFamily="34" charset="-122"/>
                <a:cs typeface="Courier New" pitchFamily="34" charset="-120"/>
              </a:rPr>
              <a:t>chain = LLMChain(llm=llm,</a:t>
            </a:r>
            <a:endParaRPr lang="en-US" sz="1050" dirty="0"/>
          </a:p>
          <a:p>
            <a:pPr indent="0" marL="0">
              <a:buNone/>
            </a:pPr>
            <a:r>
              <a:rPr lang="en-US" sz="1050" dirty="0">
                <a:solidFill>
                  <a:srgbClr val="9EE6DA"/>
                </a:solidFill>
                <a:latin typeface="Courier New" pitchFamily="34" charset="0"/>
                <a:ea typeface="Courier New" pitchFamily="34" charset="-122"/>
                <a:cs typeface="Courier New" pitchFamily="34" charset="-120"/>
              </a:rPr>
              <a:t>                 prompt=prompt)</a:t>
            </a:r>
            <a:endParaRPr lang="en-US" sz="1050" dirty="0"/>
          </a:p>
        </p:txBody>
      </p:sp>
      <p:sp>
        <p:nvSpPr>
          <p:cNvPr id="29" name="Shape 27"/>
          <p:cNvSpPr/>
          <p:nvPr/>
        </p:nvSpPr>
        <p:spPr>
          <a:xfrm>
            <a:off x="548640" y="5349240"/>
            <a:ext cx="11091672" cy="475488"/>
          </a:xfrm>
          <a:prstGeom prst="roundRect">
            <a:avLst>
              <a:gd name="adj" fmla="val 15385"/>
            </a:avLst>
          </a:prstGeom>
          <a:solidFill>
            <a:srgbClr val="FDF3E3"/>
          </a:solidFill>
          <a:ln w="12700">
            <a:solidFill>
              <a:srgbClr val="EAD3A8"/>
            </a:solidFill>
            <a:prstDash val="solid"/>
          </a:ln>
        </p:spPr>
      </p:sp>
      <p:sp>
        <p:nvSpPr>
          <p:cNvPr id="30" name="Text 28"/>
          <p:cNvSpPr txBox="1"/>
          <p:nvPr/>
        </p:nvSpPr>
        <p:spPr>
          <a:xfrm>
            <a:off x="731520" y="5349240"/>
            <a:ext cx="10789920" cy="475488"/>
          </a:xfrm>
          <a:prstGeom prst="rect">
            <a:avLst/>
          </a:prstGeom>
          <a:noFill/>
          <a:ln/>
        </p:spPr>
        <p:txBody>
          <a:bodyPr wrap="square" lIns="0" tIns="0" rIns="0" bIns="0" rtlCol="0" anchor="ctr"/>
          <a:lstStyle/>
          <a:p>
            <a:pPr indent="0" marL="0">
              <a:buNone/>
            </a:pPr>
            <a:r>
              <a:rPr lang="en-US" sz="1250" b="1" dirty="0">
                <a:solidFill>
                  <a:srgbClr val="8A5A12"/>
                </a:solidFill>
                <a:latin typeface="Calibri" pitchFamily="34" charset="0"/>
                <a:ea typeface="Calibri" pitchFamily="34" charset="-122"/>
                <a:cs typeface="Calibri" pitchFamily="34" charset="-120"/>
              </a:rPr>
              <a:t>Note: LLMChain is deprecated in newer LangChain versions but still supported - the assignment requires it, so we use it and document the compatibility.</a:t>
            </a:r>
            <a:endParaRPr lang="en-US" sz="1250" dirty="0"/>
          </a:p>
        </p:txBody>
      </p:sp>
      <p:sp>
        <p:nvSpPr>
          <p:cNvPr id="31" name="Text 29"/>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9</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Structured JSON Output</a:t>
            </a:r>
            <a:endParaRPr lang="en-US" sz="3000" dirty="0"/>
          </a:p>
        </p:txBody>
      </p:sp>
      <p:sp>
        <p:nvSpPr>
          <p:cNvPr id="4" name="Shape 2"/>
          <p:cNvSpPr/>
          <p:nvPr/>
        </p:nvSpPr>
        <p:spPr>
          <a:xfrm>
            <a:off x="548640" y="1325880"/>
            <a:ext cx="5852160" cy="3703320"/>
          </a:xfrm>
          <a:prstGeom prst="roundRect">
            <a:avLst>
              <a:gd name="adj" fmla="val 2222"/>
            </a:avLst>
          </a:prstGeom>
          <a:solidFill>
            <a:srgbClr val="0B2545"/>
          </a:solidFill>
          <a:ln w="12700">
            <a:solidFill>
              <a:srgbClr val="0B2545"/>
            </a:solidFill>
            <a:prstDash val="solid"/>
          </a:ln>
        </p:spPr>
      </p:sp>
      <p:sp>
        <p:nvSpPr>
          <p:cNvPr id="5" name="Text 3"/>
          <p:cNvSpPr txBox="1"/>
          <p:nvPr/>
        </p:nvSpPr>
        <p:spPr>
          <a:xfrm>
            <a:off x="777240" y="1463040"/>
            <a:ext cx="5394960" cy="274320"/>
          </a:xfrm>
          <a:prstGeom prst="rect">
            <a:avLst/>
          </a:prstGeom>
          <a:noFill/>
          <a:ln/>
        </p:spPr>
        <p:txBody>
          <a:bodyPr wrap="square" lIns="0" tIns="0" rIns="0" bIns="0" rtlCol="0" anchor="ctr"/>
          <a:lstStyle/>
          <a:p>
            <a:pPr indent="0" marL="0">
              <a:buNone/>
            </a:pPr>
            <a:r>
              <a:rPr lang="en-US" sz="1300" b="1" dirty="0">
                <a:solidFill>
                  <a:srgbClr val="5AD2C0"/>
                </a:solidFill>
                <a:latin typeface="Calibri" pitchFamily="34" charset="0"/>
                <a:ea typeface="Calibri" pitchFamily="34" charset="-122"/>
                <a:cs typeface="Calibri" pitchFamily="34" charset="-120"/>
              </a:rPr>
              <a:t>Response schema</a:t>
            </a:r>
            <a:endParaRPr lang="en-US" sz="1300" dirty="0"/>
          </a:p>
        </p:txBody>
      </p:sp>
      <p:sp>
        <p:nvSpPr>
          <p:cNvPr id="6" name="Text 4"/>
          <p:cNvSpPr txBox="1"/>
          <p:nvPr/>
        </p:nvSpPr>
        <p:spPr>
          <a:xfrm>
            <a:off x="777240" y="1810512"/>
            <a:ext cx="5394960" cy="3063240"/>
          </a:xfrm>
          <a:prstGeom prst="rect">
            <a:avLst/>
          </a:prstGeom>
          <a:noFill/>
          <a:ln/>
        </p:spPr>
        <p:txBody>
          <a:bodyPr wrap="square" lIns="0" tIns="0" rIns="0" bIns="0" rtlCol="0" anchor="ctr"/>
          <a:lstStyle/>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"financial_summary": "",</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"financial_health_score": 0,</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"spending_analysis": [],</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"risk_level": "",</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"top_priorities": [],</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"budget_recommendations": [],</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"savings_strategy": [],</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  "next_month_action_plan": []</a:t>
            </a:r>
            <a:endParaRPr lang="en-US" sz="1350" dirty="0"/>
          </a:p>
          <a:p>
            <a:pPr indent="0" marL="0">
              <a:lnSpc>
                <a:spcPts val="2200"/>
              </a:lnSpc>
              <a:buNone/>
            </a:pPr>
            <a:r>
              <a:rPr lang="en-US" sz="1350" dirty="0">
                <a:solidFill>
                  <a:srgbClr val="D9F2EC"/>
                </a:solidFill>
                <a:latin typeface="Courier New" pitchFamily="34" charset="0"/>
                <a:ea typeface="Courier New" pitchFamily="34" charset="-122"/>
                <a:cs typeface="Courier New" pitchFamily="34" charset="-120"/>
              </a:rPr>
              <a:t>}</a:t>
            </a:r>
            <a:endParaRPr lang="en-US" sz="1350" dirty="0"/>
          </a:p>
        </p:txBody>
      </p:sp>
      <p:sp>
        <p:nvSpPr>
          <p:cNvPr id="7" name="Shape 5"/>
          <p:cNvSpPr/>
          <p:nvPr/>
        </p:nvSpPr>
        <p:spPr>
          <a:xfrm>
            <a:off x="6583680" y="1325880"/>
            <a:ext cx="5056632" cy="1783080"/>
          </a:xfrm>
          <a:prstGeom prst="roundRect">
            <a:avLst>
              <a:gd name="adj" fmla="val 4615"/>
            </a:avLst>
          </a:prstGeom>
          <a:solidFill>
            <a:srgbClr val="F1F7F8"/>
          </a:solidFill>
          <a:ln w="12700">
            <a:solidFill>
              <a:srgbClr val="D3E1E5"/>
            </a:solidFill>
            <a:prstDash val="solid"/>
          </a:ln>
        </p:spPr>
      </p:sp>
      <p:sp>
        <p:nvSpPr>
          <p:cNvPr id="8" name="Text 6"/>
          <p:cNvSpPr txBox="1"/>
          <p:nvPr/>
        </p:nvSpPr>
        <p:spPr>
          <a:xfrm>
            <a:off x="6812280" y="1444752"/>
            <a:ext cx="4572000" cy="29260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Why structured JSON?</a:t>
            </a:r>
            <a:endParaRPr lang="en-US" sz="1500" dirty="0"/>
          </a:p>
        </p:txBody>
      </p:sp>
      <p:sp>
        <p:nvSpPr>
          <p:cNvPr id="9" name="Text 7"/>
          <p:cNvSpPr txBox="1"/>
          <p:nvPr/>
        </p:nvSpPr>
        <p:spPr>
          <a:xfrm>
            <a:off x="6858000" y="1783080"/>
            <a:ext cx="4572000" cy="1234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2222F"/>
                </a:solidFill>
                <a:latin typeface="Calibri" pitchFamily="34" charset="0"/>
                <a:ea typeface="Calibri" pitchFamily="34" charset="-122"/>
                <a:cs typeface="Calibri" pitchFamily="34" charset="-120"/>
              </a:rPr>
              <a:t>Predictable output the app can rely on</a:t>
            </a:r>
            <a:endParaRPr lang="en-US" sz="1250" dirty="0"/>
          </a:p>
          <a:p>
            <a:pPr marL="342900" indent="-342900">
              <a:spcAft>
                <a:spcPts val="500"/>
              </a:spcAft>
              <a:buSzPct val="100000"/>
              <a:buChar char="•"/>
            </a:pPr>
            <a:r>
              <a:rPr lang="en-US" sz="1250" dirty="0">
                <a:solidFill>
                  <a:srgbClr val="12222F"/>
                </a:solidFill>
                <a:latin typeface="Calibri" pitchFamily="34" charset="0"/>
                <a:ea typeface="Calibri" pitchFamily="34" charset="-122"/>
                <a:cs typeface="Calibri" pitchFamily="34" charset="-120"/>
              </a:rPr>
              <a:t>Easy to validate before it is displayed</a:t>
            </a:r>
            <a:endParaRPr lang="en-US" sz="1250" dirty="0"/>
          </a:p>
          <a:p>
            <a:pPr marL="342900" indent="-342900">
              <a:spcAft>
                <a:spcPts val="500"/>
              </a:spcAft>
              <a:buSzPct val="100000"/>
              <a:buChar char="•"/>
            </a:pPr>
            <a:r>
              <a:rPr lang="en-US" sz="1250" dirty="0">
                <a:solidFill>
                  <a:srgbClr val="12222F"/>
                </a:solidFill>
                <a:latin typeface="Calibri" pitchFamily="34" charset="0"/>
                <a:ea typeface="Calibri" pitchFamily="34" charset="-122"/>
                <a:cs typeface="Calibri" pitchFamily="34" charset="-120"/>
              </a:rPr>
              <a:t>Easy to render in Streamlit components</a:t>
            </a:r>
            <a:endParaRPr lang="en-US" sz="1250" dirty="0"/>
          </a:p>
          <a:p>
            <a:pPr marL="342900" indent="-342900">
              <a:spcAft>
                <a:spcPts val="500"/>
              </a:spcAft>
              <a:buSzPct val="100000"/>
              <a:buChar char="•"/>
            </a:pPr>
            <a:r>
              <a:rPr lang="en-US" sz="1250" dirty="0">
                <a:solidFill>
                  <a:srgbClr val="12222F"/>
                </a:solidFill>
                <a:latin typeface="Calibri" pitchFamily="34" charset="0"/>
                <a:ea typeface="Calibri" pitchFamily="34" charset="-122"/>
                <a:cs typeface="Calibri" pitchFamily="34" charset="-120"/>
              </a:rPr>
              <a:t>Gives the dashboard a reliable structure</a:t>
            </a:r>
            <a:endParaRPr lang="en-US" sz="1250" dirty="0"/>
          </a:p>
        </p:txBody>
      </p:sp>
      <p:sp>
        <p:nvSpPr>
          <p:cNvPr id="10" name="Shape 8"/>
          <p:cNvSpPr/>
          <p:nvPr/>
        </p:nvSpPr>
        <p:spPr>
          <a:xfrm>
            <a:off x="6583680" y="3246120"/>
            <a:ext cx="5056632" cy="1783080"/>
          </a:xfrm>
          <a:prstGeom prst="roundRect">
            <a:avLst>
              <a:gd name="adj" fmla="val 4615"/>
            </a:avLst>
          </a:prstGeom>
          <a:solidFill>
            <a:srgbClr val="E7F1F3"/>
          </a:solidFill>
          <a:ln w="12700">
            <a:solidFill>
              <a:srgbClr val="D3E1E5"/>
            </a:solidFill>
            <a:prstDash val="solid"/>
          </a:ln>
        </p:spPr>
      </p:sp>
      <p:sp>
        <p:nvSpPr>
          <p:cNvPr id="11" name="Text 9"/>
          <p:cNvSpPr txBox="1"/>
          <p:nvPr/>
        </p:nvSpPr>
        <p:spPr>
          <a:xfrm>
            <a:off x="6812280" y="3346704"/>
            <a:ext cx="4572000" cy="27432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Financial health score bands</a:t>
            </a:r>
            <a:endParaRPr lang="en-US" sz="1500" dirty="0"/>
          </a:p>
        </p:txBody>
      </p:sp>
      <p:sp>
        <p:nvSpPr>
          <p:cNvPr id="12" name="Shape 10"/>
          <p:cNvSpPr/>
          <p:nvPr/>
        </p:nvSpPr>
        <p:spPr>
          <a:xfrm>
            <a:off x="6812280" y="3685032"/>
            <a:ext cx="1234440" cy="274320"/>
          </a:xfrm>
          <a:prstGeom prst="roundRect">
            <a:avLst>
              <a:gd name="adj" fmla="val 20000"/>
            </a:avLst>
          </a:prstGeom>
          <a:solidFill>
            <a:srgbClr val="1F7A54"/>
          </a:solidFill>
          <a:ln w="12700">
            <a:solidFill>
              <a:srgbClr val="1F7A54"/>
            </a:solidFill>
            <a:prstDash val="solid"/>
          </a:ln>
        </p:spPr>
      </p:sp>
      <p:sp>
        <p:nvSpPr>
          <p:cNvPr id="13" name="Text 11"/>
          <p:cNvSpPr txBox="1"/>
          <p:nvPr/>
        </p:nvSpPr>
        <p:spPr>
          <a:xfrm>
            <a:off x="6812280" y="3685032"/>
            <a:ext cx="12344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80 - 100</a:t>
            </a:r>
            <a:endParaRPr lang="en-US" sz="1100" dirty="0"/>
          </a:p>
        </p:txBody>
      </p:sp>
      <p:sp>
        <p:nvSpPr>
          <p:cNvPr id="14" name="Text 12"/>
          <p:cNvSpPr txBox="1"/>
          <p:nvPr/>
        </p:nvSpPr>
        <p:spPr>
          <a:xfrm>
            <a:off x="8183880" y="3685032"/>
            <a:ext cx="3200400" cy="274320"/>
          </a:xfrm>
          <a:prstGeom prst="rect">
            <a:avLst/>
          </a:prstGeom>
          <a:noFill/>
          <a:ln/>
        </p:spPr>
        <p:txBody>
          <a:bodyPr wrap="square" lIns="0" tIns="0" rIns="0" bIns="0" rtlCol="0" anchor="ctr"/>
          <a:lstStyle/>
          <a:p>
            <a:pPr indent="0" marL="0">
              <a:buNone/>
            </a:pPr>
            <a:r>
              <a:rPr lang="en-US" sz="1250" b="1" dirty="0">
                <a:solidFill>
                  <a:srgbClr val="12222F"/>
                </a:solidFill>
                <a:latin typeface="Calibri" pitchFamily="34" charset="0"/>
                <a:ea typeface="Calibri" pitchFamily="34" charset="-122"/>
                <a:cs typeface="Calibri" pitchFamily="34" charset="-120"/>
              </a:rPr>
              <a:t>Strong</a:t>
            </a:r>
            <a:endParaRPr lang="en-US" sz="1250" dirty="0"/>
          </a:p>
        </p:txBody>
      </p:sp>
      <p:sp>
        <p:nvSpPr>
          <p:cNvPr id="15" name="Shape 13"/>
          <p:cNvSpPr/>
          <p:nvPr/>
        </p:nvSpPr>
        <p:spPr>
          <a:xfrm>
            <a:off x="6812280" y="4014216"/>
            <a:ext cx="1234440" cy="274320"/>
          </a:xfrm>
          <a:prstGeom prst="roundRect">
            <a:avLst>
              <a:gd name="adj" fmla="val 20000"/>
            </a:avLst>
          </a:prstGeom>
          <a:solidFill>
            <a:srgbClr val="0E7C7B"/>
          </a:solidFill>
          <a:ln w="12700">
            <a:solidFill>
              <a:srgbClr val="0E7C7B"/>
            </a:solidFill>
            <a:prstDash val="solid"/>
          </a:ln>
        </p:spPr>
      </p:sp>
      <p:sp>
        <p:nvSpPr>
          <p:cNvPr id="16" name="Text 14"/>
          <p:cNvSpPr txBox="1"/>
          <p:nvPr/>
        </p:nvSpPr>
        <p:spPr>
          <a:xfrm>
            <a:off x="6812280" y="4014216"/>
            <a:ext cx="12344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60 - 79</a:t>
            </a:r>
            <a:endParaRPr lang="en-US" sz="1100" dirty="0"/>
          </a:p>
        </p:txBody>
      </p:sp>
      <p:sp>
        <p:nvSpPr>
          <p:cNvPr id="17" name="Text 15"/>
          <p:cNvSpPr txBox="1"/>
          <p:nvPr/>
        </p:nvSpPr>
        <p:spPr>
          <a:xfrm>
            <a:off x="8183880" y="4014216"/>
            <a:ext cx="3200400" cy="274320"/>
          </a:xfrm>
          <a:prstGeom prst="rect">
            <a:avLst/>
          </a:prstGeom>
          <a:noFill/>
          <a:ln/>
        </p:spPr>
        <p:txBody>
          <a:bodyPr wrap="square" lIns="0" tIns="0" rIns="0" bIns="0" rtlCol="0" anchor="ctr"/>
          <a:lstStyle/>
          <a:p>
            <a:pPr indent="0" marL="0">
              <a:buNone/>
            </a:pPr>
            <a:r>
              <a:rPr lang="en-US" sz="1250" b="1" dirty="0">
                <a:solidFill>
                  <a:srgbClr val="12222F"/>
                </a:solidFill>
                <a:latin typeface="Calibri" pitchFamily="34" charset="0"/>
                <a:ea typeface="Calibri" pitchFamily="34" charset="-122"/>
                <a:cs typeface="Calibri" pitchFamily="34" charset="-120"/>
              </a:rPr>
              <a:t>Generally Healthy</a:t>
            </a:r>
            <a:endParaRPr lang="en-US" sz="1250" dirty="0"/>
          </a:p>
        </p:txBody>
      </p:sp>
      <p:sp>
        <p:nvSpPr>
          <p:cNvPr id="18" name="Shape 16"/>
          <p:cNvSpPr/>
          <p:nvPr/>
        </p:nvSpPr>
        <p:spPr>
          <a:xfrm>
            <a:off x="6812280" y="4343400"/>
            <a:ext cx="1234440" cy="274320"/>
          </a:xfrm>
          <a:prstGeom prst="roundRect">
            <a:avLst>
              <a:gd name="adj" fmla="val 20000"/>
            </a:avLst>
          </a:prstGeom>
          <a:solidFill>
            <a:srgbClr val="C4771A"/>
          </a:solidFill>
          <a:ln w="12700">
            <a:solidFill>
              <a:srgbClr val="C4771A"/>
            </a:solidFill>
            <a:prstDash val="solid"/>
          </a:ln>
        </p:spPr>
      </p:sp>
      <p:sp>
        <p:nvSpPr>
          <p:cNvPr id="19" name="Text 17"/>
          <p:cNvSpPr txBox="1"/>
          <p:nvPr/>
        </p:nvSpPr>
        <p:spPr>
          <a:xfrm>
            <a:off x="6812280" y="4343400"/>
            <a:ext cx="12344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40 - 59</a:t>
            </a:r>
            <a:endParaRPr lang="en-US" sz="1100" dirty="0"/>
          </a:p>
        </p:txBody>
      </p:sp>
      <p:sp>
        <p:nvSpPr>
          <p:cNvPr id="20" name="Text 18"/>
          <p:cNvSpPr txBox="1"/>
          <p:nvPr/>
        </p:nvSpPr>
        <p:spPr>
          <a:xfrm>
            <a:off x="8183880" y="4343400"/>
            <a:ext cx="3200400" cy="274320"/>
          </a:xfrm>
          <a:prstGeom prst="rect">
            <a:avLst/>
          </a:prstGeom>
          <a:noFill/>
          <a:ln/>
        </p:spPr>
        <p:txBody>
          <a:bodyPr wrap="square" lIns="0" tIns="0" rIns="0" bIns="0" rtlCol="0" anchor="ctr"/>
          <a:lstStyle/>
          <a:p>
            <a:pPr indent="0" marL="0">
              <a:buNone/>
            </a:pPr>
            <a:r>
              <a:rPr lang="en-US" sz="1250" b="1" dirty="0">
                <a:solidFill>
                  <a:srgbClr val="12222F"/>
                </a:solidFill>
                <a:latin typeface="Calibri" pitchFamily="34" charset="0"/>
                <a:ea typeface="Calibri" pitchFamily="34" charset="-122"/>
                <a:cs typeface="Calibri" pitchFamily="34" charset="-120"/>
              </a:rPr>
              <a:t>Needs Improvement</a:t>
            </a:r>
            <a:endParaRPr lang="en-US" sz="1250" dirty="0"/>
          </a:p>
        </p:txBody>
      </p:sp>
      <p:sp>
        <p:nvSpPr>
          <p:cNvPr id="21" name="Shape 19"/>
          <p:cNvSpPr/>
          <p:nvPr/>
        </p:nvSpPr>
        <p:spPr>
          <a:xfrm>
            <a:off x="6812280" y="4672584"/>
            <a:ext cx="1234440" cy="274320"/>
          </a:xfrm>
          <a:prstGeom prst="roundRect">
            <a:avLst>
              <a:gd name="adj" fmla="val 20000"/>
            </a:avLst>
          </a:prstGeom>
          <a:solidFill>
            <a:srgbClr val="B3322B"/>
          </a:solidFill>
          <a:ln w="12700">
            <a:solidFill>
              <a:srgbClr val="B3322B"/>
            </a:solidFill>
            <a:prstDash val="solid"/>
          </a:ln>
        </p:spPr>
      </p:sp>
      <p:sp>
        <p:nvSpPr>
          <p:cNvPr id="22" name="Text 20"/>
          <p:cNvSpPr txBox="1"/>
          <p:nvPr/>
        </p:nvSpPr>
        <p:spPr>
          <a:xfrm>
            <a:off x="6812280" y="4672584"/>
            <a:ext cx="12344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Below 40</a:t>
            </a:r>
            <a:endParaRPr lang="en-US" sz="1100" dirty="0"/>
          </a:p>
        </p:txBody>
      </p:sp>
      <p:sp>
        <p:nvSpPr>
          <p:cNvPr id="23" name="Text 21"/>
          <p:cNvSpPr txBox="1"/>
          <p:nvPr/>
        </p:nvSpPr>
        <p:spPr>
          <a:xfrm>
            <a:off x="8183880" y="4672584"/>
            <a:ext cx="3200400" cy="274320"/>
          </a:xfrm>
          <a:prstGeom prst="rect">
            <a:avLst/>
          </a:prstGeom>
          <a:noFill/>
          <a:ln/>
        </p:spPr>
        <p:txBody>
          <a:bodyPr wrap="square" lIns="0" tIns="0" rIns="0" bIns="0" rtlCol="0" anchor="ctr"/>
          <a:lstStyle/>
          <a:p>
            <a:pPr indent="0" marL="0">
              <a:buNone/>
            </a:pPr>
            <a:r>
              <a:rPr lang="en-US" sz="1250" b="1" dirty="0">
                <a:solidFill>
                  <a:srgbClr val="12222F"/>
                </a:solidFill>
                <a:latin typeface="Calibri" pitchFamily="34" charset="0"/>
                <a:ea typeface="Calibri" pitchFamily="34" charset="-122"/>
                <a:cs typeface="Calibri" pitchFamily="34" charset="-120"/>
              </a:rPr>
              <a:t>High Attention</a:t>
            </a:r>
            <a:endParaRPr lang="en-US" sz="1250" dirty="0"/>
          </a:p>
        </p:txBody>
      </p:sp>
      <p:sp>
        <p:nvSpPr>
          <p:cNvPr id="24" name="Shape 22"/>
          <p:cNvSpPr/>
          <p:nvPr/>
        </p:nvSpPr>
        <p:spPr>
          <a:xfrm>
            <a:off x="548640" y="5212080"/>
            <a:ext cx="11091672" cy="868680"/>
          </a:xfrm>
          <a:prstGeom prst="roundRect">
            <a:avLst>
              <a:gd name="adj" fmla="val 8421"/>
            </a:avLst>
          </a:prstGeom>
          <a:solidFill>
            <a:srgbClr val="F1F7F8"/>
          </a:solidFill>
          <a:ln w="12700">
            <a:solidFill>
              <a:srgbClr val="D3E1E5"/>
            </a:solidFill>
            <a:prstDash val="solid"/>
          </a:ln>
        </p:spPr>
      </p:sp>
      <p:sp>
        <p:nvSpPr>
          <p:cNvPr id="25" name="Text 23"/>
          <p:cNvSpPr txBox="1"/>
          <p:nvPr/>
        </p:nvSpPr>
        <p:spPr>
          <a:xfrm>
            <a:off x="777240" y="5321808"/>
            <a:ext cx="15544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Safe parsing:</a:t>
            </a:r>
            <a:endParaRPr lang="en-US" sz="1300" dirty="0"/>
          </a:p>
        </p:txBody>
      </p:sp>
      <p:sp>
        <p:nvSpPr>
          <p:cNvPr id="26" name="Text 24"/>
          <p:cNvSpPr txBox="1"/>
          <p:nvPr/>
        </p:nvSpPr>
        <p:spPr>
          <a:xfrm>
            <a:off x="2286000" y="5321808"/>
            <a:ext cx="9144000" cy="658368"/>
          </a:xfrm>
          <a:prstGeom prst="rect">
            <a:avLst/>
          </a:prstGeom>
          <a:noFill/>
          <a:ln/>
        </p:spPr>
        <p:txBody>
          <a:bodyPr wrap="square" lIns="0" tIns="0" rIns="0" bIns="0" rtlCol="0" anchor="ctr"/>
          <a:lstStyle/>
          <a:p>
            <a:pPr indent="0" marL="0">
              <a:buNone/>
            </a:pPr>
            <a:r>
              <a:rPr lang="en-US" sz="1250" dirty="0">
                <a:solidFill>
                  <a:srgbClr val="12222F"/>
                </a:solidFill>
                <a:latin typeface="Calibri" pitchFamily="34" charset="0"/>
                <a:ea typeface="Calibri" pitchFamily="34" charset="-122"/>
                <a:cs typeface="Calibri" pitchFamily="34" charset="-120"/>
              </a:rPr>
              <a:t>json.loads() runs inside try / except. Code fences are stripped first, required keys are checked, and a bad response shows a friendly message plus the raw text - the app never crashes.</a:t>
            </a:r>
            <a:endParaRPr lang="en-US" sz="1250" dirty="0"/>
          </a:p>
        </p:txBody>
      </p:sp>
      <p:sp>
        <p:nvSpPr>
          <p:cNvPr id="27" name="Text 25"/>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10</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Streaming and Caching</a:t>
            </a:r>
            <a:endParaRPr lang="en-US" sz="3000" dirty="0"/>
          </a:p>
        </p:txBody>
      </p:sp>
      <p:sp>
        <p:nvSpPr>
          <p:cNvPr id="4" name="Shape 2"/>
          <p:cNvSpPr/>
          <p:nvPr/>
        </p:nvSpPr>
        <p:spPr>
          <a:xfrm>
            <a:off x="548640" y="1325880"/>
            <a:ext cx="5532120" cy="4526280"/>
          </a:xfrm>
          <a:prstGeom prst="roundRect">
            <a:avLst>
              <a:gd name="adj" fmla="val 1818"/>
            </a:avLst>
          </a:prstGeom>
          <a:solidFill>
            <a:srgbClr val="F1F7F8"/>
          </a:solidFill>
          <a:ln w="12700">
            <a:solidFill>
              <a:srgbClr val="D3E1E5"/>
            </a:solidFill>
            <a:prstDash val="solid"/>
          </a:ln>
        </p:spPr>
      </p:sp>
      <p:sp>
        <p:nvSpPr>
          <p:cNvPr id="5" name="Shape 3"/>
          <p:cNvSpPr/>
          <p:nvPr/>
        </p:nvSpPr>
        <p:spPr>
          <a:xfrm>
            <a:off x="777240" y="1536192"/>
            <a:ext cx="384048" cy="384048"/>
          </a:xfrm>
          <a:prstGeom prst="ellipse">
            <a:avLst/>
          </a:prstGeom>
          <a:solidFill>
            <a:srgbClr val="0E7C7B"/>
          </a:solidFill>
          <a:ln w="12700">
            <a:solidFill>
              <a:srgbClr val="0E7C7B"/>
            </a:solidFill>
            <a:prstDash val="solid"/>
          </a:ln>
        </p:spPr>
      </p:sp>
      <p:sp>
        <p:nvSpPr>
          <p:cNvPr id="6" name="Text 4"/>
          <p:cNvSpPr txBox="1"/>
          <p:nvPr/>
        </p:nvSpPr>
        <p:spPr>
          <a:xfrm>
            <a:off x="777240" y="15361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t>
            </a:r>
            <a:endParaRPr lang="en-US" sz="1200" dirty="0"/>
          </a:p>
        </p:txBody>
      </p:sp>
      <p:sp>
        <p:nvSpPr>
          <p:cNvPr id="7" name="Text 5"/>
          <p:cNvSpPr txBox="1"/>
          <p:nvPr/>
        </p:nvSpPr>
        <p:spPr>
          <a:xfrm>
            <a:off x="1280160" y="1536192"/>
            <a:ext cx="4114800" cy="384048"/>
          </a:xfrm>
          <a:prstGeom prst="rect">
            <a:avLst/>
          </a:prstGeom>
          <a:noFill/>
          <a:ln/>
        </p:spPr>
        <p:txBody>
          <a:bodyPr wrap="square" lIns="0" tIns="0" rIns="0" bIns="0" rtlCol="0" anchor="ctr"/>
          <a:lstStyle/>
          <a:p>
            <a:pPr indent="0" marL="0">
              <a:buNone/>
            </a:pPr>
            <a:r>
              <a:rPr lang="en-US" sz="2100" b="1" dirty="0">
                <a:solidFill>
                  <a:srgbClr val="0B2545"/>
                </a:solidFill>
                <a:latin typeface="Cambria" pitchFamily="34" charset="0"/>
                <a:ea typeface="Cambria" pitchFamily="34" charset="-122"/>
                <a:cs typeface="Cambria" pitchFamily="34" charset="-120"/>
              </a:rPr>
              <a:t>Streaming</a:t>
            </a:r>
            <a:endParaRPr lang="en-US" sz="2100" dirty="0"/>
          </a:p>
        </p:txBody>
      </p:sp>
      <p:sp>
        <p:nvSpPr>
          <p:cNvPr id="8" name="Shape 6"/>
          <p:cNvSpPr/>
          <p:nvPr/>
        </p:nvSpPr>
        <p:spPr>
          <a:xfrm>
            <a:off x="822960" y="2103120"/>
            <a:ext cx="4983480" cy="548640"/>
          </a:xfrm>
          <a:prstGeom prst="roundRect">
            <a:avLst>
              <a:gd name="adj" fmla="val 13333"/>
            </a:avLst>
          </a:prstGeom>
          <a:solidFill>
            <a:srgbClr val="FFFFFF"/>
          </a:solidFill>
          <a:ln w="12700">
            <a:solidFill>
              <a:srgbClr val="17A398"/>
            </a:solidFill>
            <a:prstDash val="solid"/>
          </a:ln>
        </p:spPr>
      </p:sp>
      <p:sp>
        <p:nvSpPr>
          <p:cNvPr id="9" name="Text 7"/>
          <p:cNvSpPr txBox="1"/>
          <p:nvPr/>
        </p:nvSpPr>
        <p:spPr>
          <a:xfrm>
            <a:off x="822960" y="2103120"/>
            <a:ext cx="4983480" cy="548640"/>
          </a:xfrm>
          <a:prstGeom prst="rect">
            <a:avLst/>
          </a:prstGeom>
          <a:noFill/>
          <a:ln/>
        </p:spPr>
        <p:txBody>
          <a:bodyPr wrap="square" lIns="0" tIns="0" rIns="0" bIns="0" rtlCol="0" anchor="ctr"/>
          <a:lstStyle/>
          <a:p>
            <a:pPr algn="ctr" indent="0" marL="0">
              <a:buNone/>
            </a:pPr>
            <a:r>
              <a:rPr lang="en-US" sz="1300" b="1" dirty="0">
                <a:solidFill>
                  <a:srgbClr val="0B2545"/>
                </a:solidFill>
                <a:latin typeface="Courier New" pitchFamily="34" charset="0"/>
                <a:ea typeface="Courier New" pitchFamily="34" charset="-122"/>
                <a:cs typeface="Courier New" pitchFamily="34" charset="-120"/>
              </a:rPr>
              <a:t>llm.stream()</a:t>
            </a:r>
            <a:endParaRPr lang="en-US" sz="1300" dirty="0"/>
          </a:p>
        </p:txBody>
      </p:sp>
      <p:sp>
        <p:nvSpPr>
          <p:cNvPr id="10" name="Shape 8"/>
          <p:cNvSpPr/>
          <p:nvPr/>
        </p:nvSpPr>
        <p:spPr>
          <a:xfrm>
            <a:off x="3218688" y="2670048"/>
            <a:ext cx="201168" cy="164592"/>
          </a:xfrm>
          <a:prstGeom prst="downArrow">
            <a:avLst/>
          </a:prstGeom>
          <a:solidFill>
            <a:srgbClr val="17A398"/>
          </a:solidFill>
          <a:ln w="12700">
            <a:solidFill>
              <a:srgbClr val="17A398"/>
            </a:solidFill>
            <a:prstDash val="solid"/>
          </a:ln>
        </p:spPr>
      </p:sp>
      <p:sp>
        <p:nvSpPr>
          <p:cNvPr id="11" name="Shape 9"/>
          <p:cNvSpPr/>
          <p:nvPr/>
        </p:nvSpPr>
        <p:spPr>
          <a:xfrm>
            <a:off x="822960" y="2852928"/>
            <a:ext cx="4983480" cy="548640"/>
          </a:xfrm>
          <a:prstGeom prst="roundRect">
            <a:avLst>
              <a:gd name="adj" fmla="val 13333"/>
            </a:avLst>
          </a:prstGeom>
          <a:solidFill>
            <a:srgbClr val="FFFFFF"/>
          </a:solidFill>
          <a:ln w="12700">
            <a:solidFill>
              <a:srgbClr val="17A398"/>
            </a:solidFill>
            <a:prstDash val="solid"/>
          </a:ln>
        </p:spPr>
      </p:sp>
      <p:sp>
        <p:nvSpPr>
          <p:cNvPr id="12" name="Text 10"/>
          <p:cNvSpPr txBox="1"/>
          <p:nvPr/>
        </p:nvSpPr>
        <p:spPr>
          <a:xfrm>
            <a:off x="822960" y="2852928"/>
            <a:ext cx="4983480" cy="548640"/>
          </a:xfrm>
          <a:prstGeom prst="rect">
            <a:avLst/>
          </a:prstGeom>
          <a:noFill/>
          <a:ln/>
        </p:spPr>
        <p:txBody>
          <a:bodyPr wrap="square" lIns="0" tIns="0" rIns="0" bIns="0" rtlCol="0" anchor="ctr"/>
          <a:lstStyle/>
          <a:p>
            <a:pPr algn="ctr" indent="0" marL="0">
              <a:buNone/>
            </a:pPr>
            <a:r>
              <a:rPr lang="en-US" sz="1350" b="1" dirty="0">
                <a:solidFill>
                  <a:srgbClr val="0B2545"/>
                </a:solidFill>
                <a:latin typeface="Calibri" pitchFamily="34" charset="0"/>
                <a:ea typeface="Calibri" pitchFamily="34" charset="-122"/>
                <a:cs typeface="Calibri" pitchFamily="34" charset="-120"/>
              </a:rPr>
              <a:t>Response chunks</a:t>
            </a:r>
            <a:endParaRPr lang="en-US" sz="1350" dirty="0"/>
          </a:p>
        </p:txBody>
      </p:sp>
      <p:sp>
        <p:nvSpPr>
          <p:cNvPr id="13" name="Shape 11"/>
          <p:cNvSpPr/>
          <p:nvPr/>
        </p:nvSpPr>
        <p:spPr>
          <a:xfrm>
            <a:off x="3218688" y="3419856"/>
            <a:ext cx="201168" cy="164592"/>
          </a:xfrm>
          <a:prstGeom prst="downArrow">
            <a:avLst/>
          </a:prstGeom>
          <a:solidFill>
            <a:srgbClr val="17A398"/>
          </a:solidFill>
          <a:ln w="12700">
            <a:solidFill>
              <a:srgbClr val="17A398"/>
            </a:solidFill>
            <a:prstDash val="solid"/>
          </a:ln>
        </p:spPr>
      </p:sp>
      <p:sp>
        <p:nvSpPr>
          <p:cNvPr id="14" name="Shape 12"/>
          <p:cNvSpPr/>
          <p:nvPr/>
        </p:nvSpPr>
        <p:spPr>
          <a:xfrm>
            <a:off x="822960" y="3602736"/>
            <a:ext cx="4983480" cy="548640"/>
          </a:xfrm>
          <a:prstGeom prst="roundRect">
            <a:avLst>
              <a:gd name="adj" fmla="val 13333"/>
            </a:avLst>
          </a:prstGeom>
          <a:solidFill>
            <a:srgbClr val="FFFFFF"/>
          </a:solidFill>
          <a:ln w="12700">
            <a:solidFill>
              <a:srgbClr val="17A398"/>
            </a:solidFill>
            <a:prstDash val="solid"/>
          </a:ln>
        </p:spPr>
      </p:sp>
      <p:sp>
        <p:nvSpPr>
          <p:cNvPr id="15" name="Text 13"/>
          <p:cNvSpPr txBox="1"/>
          <p:nvPr/>
        </p:nvSpPr>
        <p:spPr>
          <a:xfrm>
            <a:off x="822960" y="3602736"/>
            <a:ext cx="4983480" cy="548640"/>
          </a:xfrm>
          <a:prstGeom prst="rect">
            <a:avLst/>
          </a:prstGeom>
          <a:noFill/>
          <a:ln/>
        </p:spPr>
        <p:txBody>
          <a:bodyPr wrap="square" lIns="0" tIns="0" rIns="0" bIns="0" rtlCol="0" anchor="ctr"/>
          <a:lstStyle/>
          <a:p>
            <a:pPr algn="ctr" indent="0" marL="0">
              <a:buNone/>
            </a:pPr>
            <a:r>
              <a:rPr lang="en-US" sz="1300" b="1" dirty="0">
                <a:solidFill>
                  <a:srgbClr val="0B2545"/>
                </a:solidFill>
                <a:latin typeface="Courier New" pitchFamily="34" charset="0"/>
                <a:ea typeface="Courier New" pitchFamily="34" charset="-122"/>
                <a:cs typeface="Courier New" pitchFamily="34" charset="-120"/>
              </a:rPr>
              <a:t>st.write_stream()</a:t>
            </a:r>
            <a:endParaRPr lang="en-US" sz="1300" dirty="0"/>
          </a:p>
        </p:txBody>
      </p:sp>
      <p:sp>
        <p:nvSpPr>
          <p:cNvPr id="16" name="Shape 14"/>
          <p:cNvSpPr/>
          <p:nvPr/>
        </p:nvSpPr>
        <p:spPr>
          <a:xfrm>
            <a:off x="3218688" y="4169664"/>
            <a:ext cx="201168" cy="164592"/>
          </a:xfrm>
          <a:prstGeom prst="downArrow">
            <a:avLst/>
          </a:prstGeom>
          <a:solidFill>
            <a:srgbClr val="17A398"/>
          </a:solidFill>
          <a:ln w="12700">
            <a:solidFill>
              <a:srgbClr val="17A398"/>
            </a:solidFill>
            <a:prstDash val="solid"/>
          </a:ln>
        </p:spPr>
      </p:sp>
      <p:sp>
        <p:nvSpPr>
          <p:cNvPr id="17" name="Shape 15"/>
          <p:cNvSpPr/>
          <p:nvPr/>
        </p:nvSpPr>
        <p:spPr>
          <a:xfrm>
            <a:off x="822960" y="4352544"/>
            <a:ext cx="4983480" cy="548640"/>
          </a:xfrm>
          <a:prstGeom prst="roundRect">
            <a:avLst>
              <a:gd name="adj" fmla="val 13333"/>
            </a:avLst>
          </a:prstGeom>
          <a:solidFill>
            <a:srgbClr val="FFFFFF"/>
          </a:solidFill>
          <a:ln w="12700">
            <a:solidFill>
              <a:srgbClr val="0B2545"/>
            </a:solidFill>
            <a:prstDash val="solid"/>
          </a:ln>
        </p:spPr>
      </p:sp>
      <p:sp>
        <p:nvSpPr>
          <p:cNvPr id="18" name="Text 16"/>
          <p:cNvSpPr txBox="1"/>
          <p:nvPr/>
        </p:nvSpPr>
        <p:spPr>
          <a:xfrm>
            <a:off x="822960" y="4352544"/>
            <a:ext cx="4983480" cy="548640"/>
          </a:xfrm>
          <a:prstGeom prst="rect">
            <a:avLst/>
          </a:prstGeom>
          <a:noFill/>
          <a:ln/>
        </p:spPr>
        <p:txBody>
          <a:bodyPr wrap="square" lIns="0" tIns="0" rIns="0" bIns="0" rtlCol="0" anchor="ctr"/>
          <a:lstStyle/>
          <a:p>
            <a:pPr algn="ctr" indent="0" marL="0">
              <a:buNone/>
            </a:pPr>
            <a:r>
              <a:rPr lang="en-US" sz="1350" b="1" dirty="0">
                <a:solidFill>
                  <a:srgbClr val="0B2545"/>
                </a:solidFill>
                <a:latin typeface="Calibri" pitchFamily="34" charset="0"/>
                <a:ea typeface="Calibri" pitchFamily="34" charset="-122"/>
                <a:cs typeface="Calibri" pitchFamily="34" charset="-120"/>
              </a:rPr>
              <a:t>Live AI recommendation</a:t>
            </a:r>
            <a:endParaRPr lang="en-US" sz="1350" dirty="0"/>
          </a:p>
        </p:txBody>
      </p:sp>
      <p:sp>
        <p:nvSpPr>
          <p:cNvPr id="19" name="Text 17"/>
          <p:cNvSpPr txBox="1"/>
          <p:nvPr/>
        </p:nvSpPr>
        <p:spPr>
          <a:xfrm>
            <a:off x="822960" y="5138928"/>
            <a:ext cx="4983480" cy="548640"/>
          </a:xfrm>
          <a:prstGeom prst="rect">
            <a:avLst/>
          </a:prstGeom>
          <a:noFill/>
          <a:ln/>
        </p:spPr>
        <p:txBody>
          <a:bodyPr wrap="square" lIns="0" tIns="0" rIns="0" bIns="0" rtlCol="0" anchor="ctr"/>
          <a:lstStyle/>
          <a:p>
            <a:pPr indent="0" marL="0">
              <a:buNone/>
            </a:pPr>
            <a:r>
              <a:rPr lang="en-US" sz="1200" i="1" dirty="0">
                <a:solidFill>
                  <a:srgbClr val="5A6B78"/>
                </a:solidFill>
                <a:latin typeface="Calibri" pitchFamily="34" charset="0"/>
                <a:ea typeface="Calibri" pitchFamily="34" charset="-122"/>
                <a:cs typeface="Calibri" pitchFamily="34" charset="-120"/>
              </a:rPr>
              <a:t>The answer appears word by word - a natural typing effect - instead of a long, silent wait.</a:t>
            </a:r>
            <a:endParaRPr lang="en-US" sz="1200" dirty="0"/>
          </a:p>
        </p:txBody>
      </p:sp>
      <p:sp>
        <p:nvSpPr>
          <p:cNvPr id="20" name="Shape 18"/>
          <p:cNvSpPr/>
          <p:nvPr/>
        </p:nvSpPr>
        <p:spPr>
          <a:xfrm>
            <a:off x="6281928" y="1325880"/>
            <a:ext cx="5358384" cy="4526280"/>
          </a:xfrm>
          <a:prstGeom prst="roundRect">
            <a:avLst>
              <a:gd name="adj" fmla="val 1818"/>
            </a:avLst>
          </a:prstGeom>
          <a:solidFill>
            <a:srgbClr val="E7F1F3"/>
          </a:solidFill>
          <a:ln w="12700">
            <a:solidFill>
              <a:srgbClr val="D3E1E5"/>
            </a:solidFill>
            <a:prstDash val="solid"/>
          </a:ln>
        </p:spPr>
      </p:sp>
      <p:sp>
        <p:nvSpPr>
          <p:cNvPr id="21" name="Shape 19"/>
          <p:cNvSpPr/>
          <p:nvPr/>
        </p:nvSpPr>
        <p:spPr>
          <a:xfrm>
            <a:off x="6510528" y="1536192"/>
            <a:ext cx="384048" cy="384048"/>
          </a:xfrm>
          <a:prstGeom prst="ellipse">
            <a:avLst/>
          </a:prstGeom>
          <a:solidFill>
            <a:srgbClr val="0B2545"/>
          </a:solidFill>
          <a:ln w="12700">
            <a:solidFill>
              <a:srgbClr val="0B2545"/>
            </a:solidFill>
            <a:prstDash val="solid"/>
          </a:ln>
        </p:spPr>
      </p:sp>
      <p:sp>
        <p:nvSpPr>
          <p:cNvPr id="22" name="Text 20"/>
          <p:cNvSpPr txBox="1"/>
          <p:nvPr/>
        </p:nvSpPr>
        <p:spPr>
          <a:xfrm>
            <a:off x="6510528" y="15361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3" name="Text 21"/>
          <p:cNvSpPr txBox="1"/>
          <p:nvPr/>
        </p:nvSpPr>
        <p:spPr>
          <a:xfrm>
            <a:off x="7013448" y="1536192"/>
            <a:ext cx="4114800" cy="384048"/>
          </a:xfrm>
          <a:prstGeom prst="rect">
            <a:avLst/>
          </a:prstGeom>
          <a:noFill/>
          <a:ln/>
        </p:spPr>
        <p:txBody>
          <a:bodyPr wrap="square" lIns="0" tIns="0" rIns="0" bIns="0" rtlCol="0" anchor="ctr"/>
          <a:lstStyle/>
          <a:p>
            <a:pPr indent="0" marL="0">
              <a:buNone/>
            </a:pPr>
            <a:r>
              <a:rPr lang="en-US" sz="2100" b="1" dirty="0">
                <a:solidFill>
                  <a:srgbClr val="0B2545"/>
                </a:solidFill>
                <a:latin typeface="Cambria" pitchFamily="34" charset="0"/>
                <a:ea typeface="Cambria" pitchFamily="34" charset="-122"/>
                <a:cs typeface="Cambria" pitchFamily="34" charset="-120"/>
              </a:rPr>
              <a:t>Caching</a:t>
            </a:r>
            <a:endParaRPr lang="en-US" sz="2100" dirty="0"/>
          </a:p>
        </p:txBody>
      </p:sp>
      <p:sp>
        <p:nvSpPr>
          <p:cNvPr id="24" name="Shape 22"/>
          <p:cNvSpPr/>
          <p:nvPr/>
        </p:nvSpPr>
        <p:spPr>
          <a:xfrm>
            <a:off x="6556248" y="2103120"/>
            <a:ext cx="4809744" cy="658368"/>
          </a:xfrm>
          <a:prstGeom prst="roundRect">
            <a:avLst>
              <a:gd name="adj" fmla="val 11111"/>
            </a:avLst>
          </a:prstGeom>
          <a:solidFill>
            <a:srgbClr val="FFFFFF"/>
          </a:solidFill>
          <a:ln w="12700">
            <a:solidFill>
              <a:srgbClr val="D3E1E5"/>
            </a:solidFill>
            <a:prstDash val="solid"/>
          </a:ln>
        </p:spPr>
      </p:sp>
      <p:sp>
        <p:nvSpPr>
          <p:cNvPr id="25" name="Shape 23"/>
          <p:cNvSpPr/>
          <p:nvPr/>
        </p:nvSpPr>
        <p:spPr>
          <a:xfrm>
            <a:off x="6729984" y="2304288"/>
            <a:ext cx="256032" cy="256032"/>
          </a:xfrm>
          <a:prstGeom prst="ellipse">
            <a:avLst/>
          </a:prstGeom>
          <a:solidFill>
            <a:srgbClr val="5A6B78"/>
          </a:solidFill>
          <a:ln w="12700">
            <a:solidFill>
              <a:srgbClr val="5A6B78"/>
            </a:solidFill>
            <a:prstDash val="solid"/>
          </a:ln>
        </p:spPr>
      </p:sp>
      <p:sp>
        <p:nvSpPr>
          <p:cNvPr id="26" name="Text 24"/>
          <p:cNvSpPr txBox="1"/>
          <p:nvPr/>
        </p:nvSpPr>
        <p:spPr>
          <a:xfrm>
            <a:off x="7114032" y="2176272"/>
            <a:ext cx="4023360" cy="27432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Cache OFF</a:t>
            </a:r>
            <a:endParaRPr lang="en-US" sz="1350" dirty="0"/>
          </a:p>
        </p:txBody>
      </p:sp>
      <p:sp>
        <p:nvSpPr>
          <p:cNvPr id="27" name="Text 25"/>
          <p:cNvSpPr txBox="1"/>
          <p:nvPr/>
        </p:nvSpPr>
        <p:spPr>
          <a:xfrm>
            <a:off x="7114032" y="2432304"/>
            <a:ext cx="4023360" cy="256032"/>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Every request goes to OpenAI</a:t>
            </a:r>
            <a:endParaRPr lang="en-US" sz="1150" dirty="0"/>
          </a:p>
        </p:txBody>
      </p:sp>
      <p:sp>
        <p:nvSpPr>
          <p:cNvPr id="28" name="Shape 26"/>
          <p:cNvSpPr/>
          <p:nvPr/>
        </p:nvSpPr>
        <p:spPr>
          <a:xfrm>
            <a:off x="6556248" y="2889504"/>
            <a:ext cx="4809744" cy="658368"/>
          </a:xfrm>
          <a:prstGeom prst="roundRect">
            <a:avLst>
              <a:gd name="adj" fmla="val 11111"/>
            </a:avLst>
          </a:prstGeom>
          <a:solidFill>
            <a:srgbClr val="FFFFFF"/>
          </a:solidFill>
          <a:ln w="12700">
            <a:solidFill>
              <a:srgbClr val="D3E1E5"/>
            </a:solidFill>
            <a:prstDash val="solid"/>
          </a:ln>
        </p:spPr>
      </p:sp>
      <p:sp>
        <p:nvSpPr>
          <p:cNvPr id="29" name="Shape 27"/>
          <p:cNvSpPr/>
          <p:nvPr/>
        </p:nvSpPr>
        <p:spPr>
          <a:xfrm>
            <a:off x="6729984" y="3090672"/>
            <a:ext cx="256032" cy="256032"/>
          </a:xfrm>
          <a:prstGeom prst="ellipse">
            <a:avLst/>
          </a:prstGeom>
          <a:solidFill>
            <a:srgbClr val="0E7C7B"/>
          </a:solidFill>
          <a:ln w="12700">
            <a:solidFill>
              <a:srgbClr val="0E7C7B"/>
            </a:solidFill>
            <a:prstDash val="solid"/>
          </a:ln>
        </p:spPr>
      </p:sp>
      <p:sp>
        <p:nvSpPr>
          <p:cNvPr id="30" name="Text 28"/>
          <p:cNvSpPr txBox="1"/>
          <p:nvPr/>
        </p:nvSpPr>
        <p:spPr>
          <a:xfrm>
            <a:off x="7114032" y="2962656"/>
            <a:ext cx="4023360" cy="27432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InMemoryCache</a:t>
            </a:r>
            <a:endParaRPr lang="en-US" sz="1350" dirty="0"/>
          </a:p>
        </p:txBody>
      </p:sp>
      <p:sp>
        <p:nvSpPr>
          <p:cNvPr id="31" name="Text 29"/>
          <p:cNvSpPr txBox="1"/>
          <p:nvPr/>
        </p:nvSpPr>
        <p:spPr>
          <a:xfrm>
            <a:off x="7114032" y="3218688"/>
            <a:ext cx="4023360" cy="256032"/>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RAM · very fast · lost after restart</a:t>
            </a:r>
            <a:endParaRPr lang="en-US" sz="1150" dirty="0"/>
          </a:p>
        </p:txBody>
      </p:sp>
      <p:sp>
        <p:nvSpPr>
          <p:cNvPr id="32" name="Shape 30"/>
          <p:cNvSpPr/>
          <p:nvPr/>
        </p:nvSpPr>
        <p:spPr>
          <a:xfrm>
            <a:off x="6556248" y="3675888"/>
            <a:ext cx="4809744" cy="658368"/>
          </a:xfrm>
          <a:prstGeom prst="roundRect">
            <a:avLst>
              <a:gd name="adj" fmla="val 11111"/>
            </a:avLst>
          </a:prstGeom>
          <a:solidFill>
            <a:srgbClr val="FFFFFF"/>
          </a:solidFill>
          <a:ln w="12700">
            <a:solidFill>
              <a:srgbClr val="D3E1E5"/>
            </a:solidFill>
            <a:prstDash val="solid"/>
          </a:ln>
        </p:spPr>
      </p:sp>
      <p:sp>
        <p:nvSpPr>
          <p:cNvPr id="33" name="Shape 31"/>
          <p:cNvSpPr/>
          <p:nvPr/>
        </p:nvSpPr>
        <p:spPr>
          <a:xfrm>
            <a:off x="6729984" y="3877056"/>
            <a:ext cx="256032" cy="256032"/>
          </a:xfrm>
          <a:prstGeom prst="ellipse">
            <a:avLst/>
          </a:prstGeom>
          <a:solidFill>
            <a:srgbClr val="0B2545"/>
          </a:solidFill>
          <a:ln w="12700">
            <a:solidFill>
              <a:srgbClr val="0B2545"/>
            </a:solidFill>
            <a:prstDash val="solid"/>
          </a:ln>
        </p:spPr>
      </p:sp>
      <p:sp>
        <p:nvSpPr>
          <p:cNvPr id="34" name="Text 32"/>
          <p:cNvSpPr txBox="1"/>
          <p:nvPr/>
        </p:nvSpPr>
        <p:spPr>
          <a:xfrm>
            <a:off x="7114032" y="3749040"/>
            <a:ext cx="4023360" cy="274320"/>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SQLiteCache</a:t>
            </a:r>
            <a:endParaRPr lang="en-US" sz="1350" dirty="0"/>
          </a:p>
        </p:txBody>
      </p:sp>
      <p:sp>
        <p:nvSpPr>
          <p:cNvPr id="35" name="Text 33"/>
          <p:cNvSpPr txBox="1"/>
          <p:nvPr/>
        </p:nvSpPr>
        <p:spPr>
          <a:xfrm>
            <a:off x="7114032" y="4005072"/>
            <a:ext cx="4023360" cy="256032"/>
          </a:xfrm>
          <a:prstGeom prst="rect">
            <a:avLst/>
          </a:prstGeom>
          <a:noFill/>
          <a:ln/>
        </p:spPr>
        <p:txBody>
          <a:bodyPr wrap="square" lIns="0" tIns="0" rIns="0" bIns="0" rtlCol="0" anchor="ctr"/>
          <a:lstStyle/>
          <a:p>
            <a:pPr indent="0" marL="0">
              <a:buNone/>
            </a:pPr>
            <a:r>
              <a:rPr lang="en-US" sz="1150" dirty="0">
                <a:solidFill>
                  <a:srgbClr val="5A6B78"/>
                </a:solidFill>
                <a:latin typeface="Calibri" pitchFamily="34" charset="0"/>
                <a:ea typeface="Calibri" pitchFamily="34" charset="-122"/>
                <a:cs typeface="Calibri" pitchFamily="34" charset="-120"/>
              </a:rPr>
              <a:t>Disk · survives restart · reusable</a:t>
            </a:r>
            <a:endParaRPr lang="en-US" sz="1150" dirty="0"/>
          </a:p>
        </p:txBody>
      </p:sp>
      <p:sp>
        <p:nvSpPr>
          <p:cNvPr id="36" name="Shape 34"/>
          <p:cNvSpPr/>
          <p:nvPr/>
        </p:nvSpPr>
        <p:spPr>
          <a:xfrm>
            <a:off x="6556248" y="4526280"/>
            <a:ext cx="4809744" cy="1143000"/>
          </a:xfrm>
          <a:prstGeom prst="roundRect">
            <a:avLst>
              <a:gd name="adj" fmla="val 6400"/>
            </a:avLst>
          </a:prstGeom>
          <a:solidFill>
            <a:srgbClr val="0B2545"/>
          </a:solidFill>
          <a:ln w="12700">
            <a:solidFill>
              <a:srgbClr val="0B2545"/>
            </a:solidFill>
            <a:prstDash val="solid"/>
          </a:ln>
        </p:spPr>
      </p:sp>
      <p:sp>
        <p:nvSpPr>
          <p:cNvPr id="37" name="Text 35"/>
          <p:cNvSpPr txBox="1"/>
          <p:nvPr/>
        </p:nvSpPr>
        <p:spPr>
          <a:xfrm>
            <a:off x="6739128" y="4645152"/>
            <a:ext cx="1371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First request</a:t>
            </a:r>
            <a:endParaRPr lang="en-US" sz="1200" dirty="0"/>
          </a:p>
        </p:txBody>
      </p:sp>
      <p:sp>
        <p:nvSpPr>
          <p:cNvPr id="38" name="Shape 36"/>
          <p:cNvSpPr/>
          <p:nvPr/>
        </p:nvSpPr>
        <p:spPr>
          <a:xfrm>
            <a:off x="8092440" y="4709160"/>
            <a:ext cx="365760" cy="146304"/>
          </a:xfrm>
          <a:prstGeom prst="rightArrow">
            <a:avLst/>
          </a:prstGeom>
          <a:solidFill>
            <a:srgbClr val="17A398"/>
          </a:solidFill>
          <a:ln w="12700">
            <a:solidFill>
              <a:srgbClr val="17A398"/>
            </a:solidFill>
            <a:prstDash val="solid"/>
          </a:ln>
        </p:spPr>
      </p:sp>
      <p:sp>
        <p:nvSpPr>
          <p:cNvPr id="39" name="Text 37"/>
          <p:cNvSpPr txBox="1"/>
          <p:nvPr/>
        </p:nvSpPr>
        <p:spPr>
          <a:xfrm>
            <a:off x="8549640" y="4645152"/>
            <a:ext cx="2743200" cy="274320"/>
          </a:xfrm>
          <a:prstGeom prst="rect">
            <a:avLst/>
          </a:prstGeom>
          <a:noFill/>
          <a:ln/>
        </p:spPr>
        <p:txBody>
          <a:bodyPr wrap="square" lIns="0" tIns="0" rIns="0" bIns="0" rtlCol="0" anchor="ctr"/>
          <a:lstStyle/>
          <a:p>
            <a:pPr indent="0" marL="0">
              <a:buNone/>
            </a:pPr>
            <a:r>
              <a:rPr lang="en-US" sz="1200" dirty="0">
                <a:solidFill>
                  <a:srgbClr val="BFD8DF"/>
                </a:solidFill>
                <a:latin typeface="Calibri" pitchFamily="34" charset="0"/>
                <a:ea typeface="Calibri" pitchFamily="34" charset="-122"/>
                <a:cs typeface="Calibri" pitchFamily="34" charset="-120"/>
              </a:rPr>
              <a:t>OpenAI  ·  slower</a:t>
            </a:r>
            <a:endParaRPr lang="en-US" sz="1200" dirty="0"/>
          </a:p>
        </p:txBody>
      </p:sp>
      <p:sp>
        <p:nvSpPr>
          <p:cNvPr id="40" name="Text 38"/>
          <p:cNvSpPr txBox="1"/>
          <p:nvPr/>
        </p:nvSpPr>
        <p:spPr>
          <a:xfrm>
            <a:off x="6739128" y="5138928"/>
            <a:ext cx="13716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Same request</a:t>
            </a:r>
            <a:endParaRPr lang="en-US" sz="1200" dirty="0"/>
          </a:p>
        </p:txBody>
      </p:sp>
      <p:sp>
        <p:nvSpPr>
          <p:cNvPr id="41" name="Shape 39"/>
          <p:cNvSpPr/>
          <p:nvPr/>
        </p:nvSpPr>
        <p:spPr>
          <a:xfrm>
            <a:off x="8092440" y="5202936"/>
            <a:ext cx="365760" cy="146304"/>
          </a:xfrm>
          <a:prstGeom prst="rightArrow">
            <a:avLst/>
          </a:prstGeom>
          <a:solidFill>
            <a:srgbClr val="17A398"/>
          </a:solidFill>
          <a:ln w="12700">
            <a:solidFill>
              <a:srgbClr val="17A398"/>
            </a:solidFill>
            <a:prstDash val="solid"/>
          </a:ln>
        </p:spPr>
      </p:sp>
      <p:sp>
        <p:nvSpPr>
          <p:cNvPr id="42" name="Text 40"/>
          <p:cNvSpPr txBox="1"/>
          <p:nvPr/>
        </p:nvSpPr>
        <p:spPr>
          <a:xfrm>
            <a:off x="8549640" y="5138928"/>
            <a:ext cx="2743200" cy="274320"/>
          </a:xfrm>
          <a:prstGeom prst="rect">
            <a:avLst/>
          </a:prstGeom>
          <a:noFill/>
          <a:ln/>
        </p:spPr>
        <p:txBody>
          <a:bodyPr wrap="square" lIns="0" tIns="0" rIns="0" bIns="0" rtlCol="0" anchor="ctr"/>
          <a:lstStyle/>
          <a:p>
            <a:pPr indent="0" marL="0">
              <a:buNone/>
            </a:pPr>
            <a:r>
              <a:rPr lang="en-US" sz="1200" b="1" dirty="0">
                <a:solidFill>
                  <a:srgbClr val="5AD2C0"/>
                </a:solidFill>
                <a:latin typeface="Calibri" pitchFamily="34" charset="0"/>
                <a:ea typeface="Calibri" pitchFamily="34" charset="-122"/>
                <a:cs typeface="Calibri" pitchFamily="34" charset="-120"/>
              </a:rPr>
              <a:t>Cache  ·  much faster</a:t>
            </a:r>
            <a:endParaRPr lang="en-US" sz="1200" dirty="0"/>
          </a:p>
        </p:txBody>
      </p:sp>
      <p:sp>
        <p:nvSpPr>
          <p:cNvPr id="43" name="Text 41"/>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SLIDE 11</a:t>
            </a:r>
            <a:endParaRPr lang="en-US" sz="1100" dirty="0"/>
          </a:p>
        </p:txBody>
      </p:sp>
      <p:sp>
        <p:nvSpPr>
          <p:cNvPr id="3" name="Text 1"/>
          <p:cNvSpPr txBox="1"/>
          <p:nvPr/>
        </p:nvSpPr>
        <p:spPr>
          <a:xfrm>
            <a:off x="548640" y="548640"/>
            <a:ext cx="11064240" cy="566928"/>
          </a:xfrm>
          <a:prstGeom prst="rect">
            <a:avLst/>
          </a:prstGeom>
          <a:noFill/>
          <a:ln/>
        </p:spPr>
        <p:txBody>
          <a:bodyPr wrap="square" lIns="0" tIns="0" rIns="0" bIns="0"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Dashboard and Testing</a:t>
            </a:r>
            <a:endParaRPr lang="en-US" sz="3000" dirty="0"/>
          </a:p>
        </p:txBody>
      </p:sp>
      <p:sp>
        <p:nvSpPr>
          <p:cNvPr id="4" name="Text 2"/>
          <p:cNvSpPr txBox="1"/>
          <p:nvPr/>
        </p:nvSpPr>
        <p:spPr>
          <a:xfrm>
            <a:off x="548640" y="1298448"/>
            <a:ext cx="4572000" cy="29260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Dashboard sections</a:t>
            </a:r>
            <a:endParaRPr lang="en-US" sz="1500" dirty="0"/>
          </a:p>
        </p:txBody>
      </p:sp>
      <p:sp>
        <p:nvSpPr>
          <p:cNvPr id="5" name="Shape 3"/>
          <p:cNvSpPr/>
          <p:nvPr/>
        </p:nvSpPr>
        <p:spPr>
          <a:xfrm>
            <a:off x="548640" y="1664208"/>
            <a:ext cx="1755648" cy="603504"/>
          </a:xfrm>
          <a:prstGeom prst="roundRect">
            <a:avLst>
              <a:gd name="adj" fmla="val 13636"/>
            </a:avLst>
          </a:prstGeom>
          <a:solidFill>
            <a:srgbClr val="FFFFFF"/>
          </a:solidFill>
          <a:ln w="12700">
            <a:solidFill>
              <a:srgbClr val="D3E1E5"/>
            </a:solidFill>
            <a:prstDash val="solid"/>
          </a:ln>
        </p:spPr>
      </p:sp>
      <p:sp>
        <p:nvSpPr>
          <p:cNvPr id="6" name="Text 4"/>
          <p:cNvSpPr txBox="1"/>
          <p:nvPr/>
        </p:nvSpPr>
        <p:spPr>
          <a:xfrm>
            <a:off x="676656" y="1719072"/>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Income</a:t>
            </a:r>
            <a:endParaRPr lang="en-US" sz="1150" dirty="0"/>
          </a:p>
        </p:txBody>
      </p:sp>
      <p:sp>
        <p:nvSpPr>
          <p:cNvPr id="7" name="Text 5"/>
          <p:cNvSpPr txBox="1"/>
          <p:nvPr/>
        </p:nvSpPr>
        <p:spPr>
          <a:xfrm>
            <a:off x="676656" y="1975104"/>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st.metric</a:t>
            </a:r>
            <a:endParaRPr lang="en-US" sz="1000" dirty="0"/>
          </a:p>
        </p:txBody>
      </p:sp>
      <p:sp>
        <p:nvSpPr>
          <p:cNvPr id="8" name="Shape 6"/>
          <p:cNvSpPr/>
          <p:nvPr/>
        </p:nvSpPr>
        <p:spPr>
          <a:xfrm>
            <a:off x="2432304" y="1664208"/>
            <a:ext cx="1755648" cy="603504"/>
          </a:xfrm>
          <a:prstGeom prst="roundRect">
            <a:avLst>
              <a:gd name="adj" fmla="val 13636"/>
            </a:avLst>
          </a:prstGeom>
          <a:solidFill>
            <a:srgbClr val="FFFFFF"/>
          </a:solidFill>
          <a:ln w="12700">
            <a:solidFill>
              <a:srgbClr val="D3E1E5"/>
            </a:solidFill>
            <a:prstDash val="solid"/>
          </a:ln>
        </p:spPr>
      </p:sp>
      <p:sp>
        <p:nvSpPr>
          <p:cNvPr id="9" name="Text 7"/>
          <p:cNvSpPr txBox="1"/>
          <p:nvPr/>
        </p:nvSpPr>
        <p:spPr>
          <a:xfrm>
            <a:off x="2560320" y="1719072"/>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Total Expenses</a:t>
            </a:r>
            <a:endParaRPr lang="en-US" sz="1150" dirty="0"/>
          </a:p>
        </p:txBody>
      </p:sp>
      <p:sp>
        <p:nvSpPr>
          <p:cNvPr id="10" name="Text 8"/>
          <p:cNvSpPr txBox="1"/>
          <p:nvPr/>
        </p:nvSpPr>
        <p:spPr>
          <a:xfrm>
            <a:off x="2560320" y="1975104"/>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st.metric</a:t>
            </a:r>
            <a:endParaRPr lang="en-US" sz="1000" dirty="0"/>
          </a:p>
        </p:txBody>
      </p:sp>
      <p:sp>
        <p:nvSpPr>
          <p:cNvPr id="11" name="Shape 9"/>
          <p:cNvSpPr/>
          <p:nvPr/>
        </p:nvSpPr>
        <p:spPr>
          <a:xfrm>
            <a:off x="4315968" y="1664208"/>
            <a:ext cx="1755648" cy="603504"/>
          </a:xfrm>
          <a:prstGeom prst="roundRect">
            <a:avLst>
              <a:gd name="adj" fmla="val 13636"/>
            </a:avLst>
          </a:prstGeom>
          <a:solidFill>
            <a:srgbClr val="FFFFFF"/>
          </a:solidFill>
          <a:ln w="12700">
            <a:solidFill>
              <a:srgbClr val="D3E1E5"/>
            </a:solidFill>
            <a:prstDash val="solid"/>
          </a:ln>
        </p:spPr>
      </p:sp>
      <p:sp>
        <p:nvSpPr>
          <p:cNvPr id="12" name="Text 10"/>
          <p:cNvSpPr txBox="1"/>
          <p:nvPr/>
        </p:nvSpPr>
        <p:spPr>
          <a:xfrm>
            <a:off x="4443984" y="1719072"/>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Remaining Balance</a:t>
            </a:r>
            <a:endParaRPr lang="en-US" sz="1150" dirty="0"/>
          </a:p>
        </p:txBody>
      </p:sp>
      <p:sp>
        <p:nvSpPr>
          <p:cNvPr id="13" name="Text 11"/>
          <p:cNvSpPr txBox="1"/>
          <p:nvPr/>
        </p:nvSpPr>
        <p:spPr>
          <a:xfrm>
            <a:off x="4443984" y="1975104"/>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st.metric</a:t>
            </a:r>
            <a:endParaRPr lang="en-US" sz="1000" dirty="0"/>
          </a:p>
        </p:txBody>
      </p:sp>
      <p:sp>
        <p:nvSpPr>
          <p:cNvPr id="14" name="Shape 12"/>
          <p:cNvSpPr/>
          <p:nvPr/>
        </p:nvSpPr>
        <p:spPr>
          <a:xfrm>
            <a:off x="548640" y="2377440"/>
            <a:ext cx="1755648" cy="603504"/>
          </a:xfrm>
          <a:prstGeom prst="roundRect">
            <a:avLst>
              <a:gd name="adj" fmla="val 13636"/>
            </a:avLst>
          </a:prstGeom>
          <a:solidFill>
            <a:srgbClr val="FFFFFF"/>
          </a:solidFill>
          <a:ln w="12700">
            <a:solidFill>
              <a:srgbClr val="D3E1E5"/>
            </a:solidFill>
            <a:prstDash val="solid"/>
          </a:ln>
        </p:spPr>
      </p:sp>
      <p:sp>
        <p:nvSpPr>
          <p:cNvPr id="15" name="Text 13"/>
          <p:cNvSpPr txBox="1"/>
          <p:nvPr/>
        </p:nvSpPr>
        <p:spPr>
          <a:xfrm>
            <a:off x="676656" y="2432304"/>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Savings</a:t>
            </a:r>
            <a:endParaRPr lang="en-US" sz="1150" dirty="0"/>
          </a:p>
        </p:txBody>
      </p:sp>
      <p:sp>
        <p:nvSpPr>
          <p:cNvPr id="16" name="Text 14"/>
          <p:cNvSpPr txBox="1"/>
          <p:nvPr/>
        </p:nvSpPr>
        <p:spPr>
          <a:xfrm>
            <a:off x="676656" y="2688336"/>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st.metric</a:t>
            </a:r>
            <a:endParaRPr lang="en-US" sz="1000" dirty="0"/>
          </a:p>
        </p:txBody>
      </p:sp>
      <p:sp>
        <p:nvSpPr>
          <p:cNvPr id="17" name="Shape 15"/>
          <p:cNvSpPr/>
          <p:nvPr/>
        </p:nvSpPr>
        <p:spPr>
          <a:xfrm>
            <a:off x="2432304" y="2377440"/>
            <a:ext cx="1755648" cy="603504"/>
          </a:xfrm>
          <a:prstGeom prst="roundRect">
            <a:avLst>
              <a:gd name="adj" fmla="val 13636"/>
            </a:avLst>
          </a:prstGeom>
          <a:solidFill>
            <a:srgbClr val="FFFFFF"/>
          </a:solidFill>
          <a:ln w="12700">
            <a:solidFill>
              <a:srgbClr val="D3E1E5"/>
            </a:solidFill>
            <a:prstDash val="solid"/>
          </a:ln>
        </p:spPr>
      </p:sp>
      <p:sp>
        <p:nvSpPr>
          <p:cNvPr id="18" name="Text 16"/>
          <p:cNvSpPr txBox="1"/>
          <p:nvPr/>
        </p:nvSpPr>
        <p:spPr>
          <a:xfrm>
            <a:off x="2560320" y="2432304"/>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Savings Ratio</a:t>
            </a:r>
            <a:endParaRPr lang="en-US" sz="1150" dirty="0"/>
          </a:p>
        </p:txBody>
      </p:sp>
      <p:sp>
        <p:nvSpPr>
          <p:cNvPr id="19" name="Text 17"/>
          <p:cNvSpPr txBox="1"/>
          <p:nvPr/>
        </p:nvSpPr>
        <p:spPr>
          <a:xfrm>
            <a:off x="2560320" y="2688336"/>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4315968" y="2377440"/>
            <a:ext cx="1755648" cy="603504"/>
          </a:xfrm>
          <a:prstGeom prst="roundRect">
            <a:avLst>
              <a:gd name="adj" fmla="val 13636"/>
            </a:avLst>
          </a:prstGeom>
          <a:solidFill>
            <a:srgbClr val="FFFFFF"/>
          </a:solidFill>
          <a:ln w="12700">
            <a:solidFill>
              <a:srgbClr val="D3E1E5"/>
            </a:solidFill>
            <a:prstDash val="solid"/>
          </a:ln>
        </p:spPr>
      </p:sp>
      <p:sp>
        <p:nvSpPr>
          <p:cNvPr id="21" name="Text 19"/>
          <p:cNvSpPr txBox="1"/>
          <p:nvPr/>
        </p:nvSpPr>
        <p:spPr>
          <a:xfrm>
            <a:off x="4443984" y="2432304"/>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Expense Ratio</a:t>
            </a:r>
            <a:endParaRPr lang="en-US" sz="1150" dirty="0"/>
          </a:p>
        </p:txBody>
      </p:sp>
      <p:sp>
        <p:nvSpPr>
          <p:cNvPr id="22" name="Text 20"/>
          <p:cNvSpPr txBox="1"/>
          <p:nvPr/>
        </p:nvSpPr>
        <p:spPr>
          <a:xfrm>
            <a:off x="4443984" y="2688336"/>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a:t>
            </a:r>
            <a:endParaRPr lang="en-US" sz="1000" dirty="0"/>
          </a:p>
        </p:txBody>
      </p:sp>
      <p:sp>
        <p:nvSpPr>
          <p:cNvPr id="23" name="Shape 21"/>
          <p:cNvSpPr/>
          <p:nvPr/>
        </p:nvSpPr>
        <p:spPr>
          <a:xfrm>
            <a:off x="548640" y="3090672"/>
            <a:ext cx="1755648" cy="603504"/>
          </a:xfrm>
          <a:prstGeom prst="roundRect">
            <a:avLst>
              <a:gd name="adj" fmla="val 13636"/>
            </a:avLst>
          </a:prstGeom>
          <a:solidFill>
            <a:srgbClr val="E7F1F3"/>
          </a:solidFill>
          <a:ln w="12700">
            <a:solidFill>
              <a:srgbClr val="D3E1E5"/>
            </a:solidFill>
            <a:prstDash val="solid"/>
          </a:ln>
        </p:spPr>
      </p:sp>
      <p:sp>
        <p:nvSpPr>
          <p:cNvPr id="24" name="Text 22"/>
          <p:cNvSpPr txBox="1"/>
          <p:nvPr/>
        </p:nvSpPr>
        <p:spPr>
          <a:xfrm>
            <a:off x="676656" y="3145536"/>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Python Score</a:t>
            </a:r>
            <a:endParaRPr lang="en-US" sz="1150" dirty="0"/>
          </a:p>
        </p:txBody>
      </p:sp>
      <p:sp>
        <p:nvSpPr>
          <p:cNvPr id="25" name="Text 23"/>
          <p:cNvSpPr txBox="1"/>
          <p:nvPr/>
        </p:nvSpPr>
        <p:spPr>
          <a:xfrm>
            <a:off x="676656" y="3401568"/>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0-100</a:t>
            </a:r>
            <a:endParaRPr lang="en-US" sz="1000" dirty="0"/>
          </a:p>
        </p:txBody>
      </p:sp>
      <p:sp>
        <p:nvSpPr>
          <p:cNvPr id="26" name="Shape 24"/>
          <p:cNvSpPr/>
          <p:nvPr/>
        </p:nvSpPr>
        <p:spPr>
          <a:xfrm>
            <a:off x="2432304" y="3090672"/>
            <a:ext cx="1755648" cy="603504"/>
          </a:xfrm>
          <a:prstGeom prst="roundRect">
            <a:avLst>
              <a:gd name="adj" fmla="val 13636"/>
            </a:avLst>
          </a:prstGeom>
          <a:solidFill>
            <a:srgbClr val="E7F1F3"/>
          </a:solidFill>
          <a:ln w="12700">
            <a:solidFill>
              <a:srgbClr val="D3E1E5"/>
            </a:solidFill>
            <a:prstDash val="solid"/>
          </a:ln>
        </p:spPr>
      </p:sp>
      <p:sp>
        <p:nvSpPr>
          <p:cNvPr id="27" name="Text 25"/>
          <p:cNvSpPr txBox="1"/>
          <p:nvPr/>
        </p:nvSpPr>
        <p:spPr>
          <a:xfrm>
            <a:off x="2560320" y="3145536"/>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AI Health Score</a:t>
            </a:r>
            <a:endParaRPr lang="en-US" sz="1150" dirty="0"/>
          </a:p>
        </p:txBody>
      </p:sp>
      <p:sp>
        <p:nvSpPr>
          <p:cNvPr id="28" name="Text 26"/>
          <p:cNvSpPr txBox="1"/>
          <p:nvPr/>
        </p:nvSpPr>
        <p:spPr>
          <a:xfrm>
            <a:off x="2560320" y="3401568"/>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0-100</a:t>
            </a:r>
            <a:endParaRPr lang="en-US" sz="1000" dirty="0"/>
          </a:p>
        </p:txBody>
      </p:sp>
      <p:sp>
        <p:nvSpPr>
          <p:cNvPr id="29" name="Shape 27"/>
          <p:cNvSpPr/>
          <p:nvPr/>
        </p:nvSpPr>
        <p:spPr>
          <a:xfrm>
            <a:off x="4315968" y="3090672"/>
            <a:ext cx="1755648" cy="603504"/>
          </a:xfrm>
          <a:prstGeom prst="roundRect">
            <a:avLst>
              <a:gd name="adj" fmla="val 13636"/>
            </a:avLst>
          </a:prstGeom>
          <a:solidFill>
            <a:srgbClr val="E7F1F3"/>
          </a:solidFill>
          <a:ln w="12700">
            <a:solidFill>
              <a:srgbClr val="D3E1E5"/>
            </a:solidFill>
            <a:prstDash val="solid"/>
          </a:ln>
        </p:spPr>
      </p:sp>
      <p:sp>
        <p:nvSpPr>
          <p:cNvPr id="30" name="Text 28"/>
          <p:cNvSpPr txBox="1"/>
          <p:nvPr/>
        </p:nvSpPr>
        <p:spPr>
          <a:xfrm>
            <a:off x="4443984" y="3145536"/>
            <a:ext cx="1572768" cy="256032"/>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Risk Level</a:t>
            </a:r>
            <a:endParaRPr lang="en-US" sz="1150" dirty="0"/>
          </a:p>
        </p:txBody>
      </p:sp>
      <p:sp>
        <p:nvSpPr>
          <p:cNvPr id="31" name="Text 29"/>
          <p:cNvSpPr txBox="1"/>
          <p:nvPr/>
        </p:nvSpPr>
        <p:spPr>
          <a:xfrm>
            <a:off x="4443984" y="3401568"/>
            <a:ext cx="1572768" cy="219456"/>
          </a:xfrm>
          <a:prstGeom prst="rect">
            <a:avLst/>
          </a:prstGeom>
          <a:noFill/>
          <a:ln/>
        </p:spPr>
        <p:txBody>
          <a:bodyPr wrap="square" lIns="0" tIns="0" rIns="0" bIns="0" rtlCol="0" anchor="ctr"/>
          <a:lstStyle/>
          <a:p>
            <a:pPr indent="0" marL="0">
              <a:buNone/>
            </a:pPr>
            <a:r>
              <a:rPr lang="en-US" sz="1000" dirty="0">
                <a:solidFill>
                  <a:srgbClr val="5A6B78"/>
                </a:solidFill>
                <a:latin typeface="Calibri" pitchFamily="34" charset="0"/>
                <a:ea typeface="Calibri" pitchFamily="34" charset="-122"/>
                <a:cs typeface="Calibri" pitchFamily="34" charset="-120"/>
              </a:rPr>
              <a:t>LOW / MED / HIGH</a:t>
            </a:r>
            <a:endParaRPr lang="en-US" sz="1000" dirty="0"/>
          </a:p>
        </p:txBody>
      </p:sp>
      <p:sp>
        <p:nvSpPr>
          <p:cNvPr id="32" name="Text 30"/>
          <p:cNvSpPr txBox="1"/>
          <p:nvPr/>
        </p:nvSpPr>
        <p:spPr>
          <a:xfrm>
            <a:off x="548640" y="3840480"/>
            <a:ext cx="457200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AI sections (from the JSON)</a:t>
            </a:r>
            <a:endParaRPr lang="en-US" sz="1300" dirty="0"/>
          </a:p>
        </p:txBody>
      </p:sp>
      <p:sp>
        <p:nvSpPr>
          <p:cNvPr id="33" name="Shape 31"/>
          <p:cNvSpPr/>
          <p:nvPr/>
        </p:nvSpPr>
        <p:spPr>
          <a:xfrm>
            <a:off x="548640" y="4187952"/>
            <a:ext cx="1989734" cy="411480"/>
          </a:xfrm>
          <a:prstGeom prst="roundRect">
            <a:avLst>
              <a:gd name="adj" fmla="val 48889"/>
            </a:avLst>
          </a:prstGeom>
          <a:solidFill>
            <a:srgbClr val="F1F7F8"/>
          </a:solidFill>
          <a:ln w="12700">
            <a:solidFill>
              <a:srgbClr val="17A398"/>
            </a:solidFill>
            <a:prstDash val="solid"/>
          </a:ln>
        </p:spPr>
      </p:sp>
      <p:sp>
        <p:nvSpPr>
          <p:cNvPr id="34" name="Text 32"/>
          <p:cNvSpPr txBox="1"/>
          <p:nvPr/>
        </p:nvSpPr>
        <p:spPr>
          <a:xfrm>
            <a:off x="548640" y="4187952"/>
            <a:ext cx="1989734" cy="41148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Spending Analysis</a:t>
            </a:r>
            <a:endParaRPr lang="en-US" sz="1100" dirty="0"/>
          </a:p>
        </p:txBody>
      </p:sp>
      <p:sp>
        <p:nvSpPr>
          <p:cNvPr id="35" name="Shape 33"/>
          <p:cNvSpPr/>
          <p:nvPr/>
        </p:nvSpPr>
        <p:spPr>
          <a:xfrm>
            <a:off x="2684678" y="4187952"/>
            <a:ext cx="1693469" cy="411480"/>
          </a:xfrm>
          <a:prstGeom prst="roundRect">
            <a:avLst>
              <a:gd name="adj" fmla="val 48889"/>
            </a:avLst>
          </a:prstGeom>
          <a:solidFill>
            <a:srgbClr val="F1F7F8"/>
          </a:solidFill>
          <a:ln w="12700">
            <a:solidFill>
              <a:srgbClr val="17A398"/>
            </a:solidFill>
            <a:prstDash val="solid"/>
          </a:ln>
        </p:spPr>
      </p:sp>
      <p:sp>
        <p:nvSpPr>
          <p:cNvPr id="36" name="Text 34"/>
          <p:cNvSpPr txBox="1"/>
          <p:nvPr/>
        </p:nvSpPr>
        <p:spPr>
          <a:xfrm>
            <a:off x="2684678" y="4187952"/>
            <a:ext cx="1693469" cy="41148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Top Priorities</a:t>
            </a:r>
            <a:endParaRPr lang="en-US" sz="1100" dirty="0"/>
          </a:p>
        </p:txBody>
      </p:sp>
      <p:sp>
        <p:nvSpPr>
          <p:cNvPr id="37" name="Shape 35"/>
          <p:cNvSpPr/>
          <p:nvPr/>
        </p:nvSpPr>
        <p:spPr>
          <a:xfrm>
            <a:off x="548640" y="4690872"/>
            <a:ext cx="2483510" cy="411480"/>
          </a:xfrm>
          <a:prstGeom prst="roundRect">
            <a:avLst>
              <a:gd name="adj" fmla="val 48889"/>
            </a:avLst>
          </a:prstGeom>
          <a:solidFill>
            <a:srgbClr val="F1F7F8"/>
          </a:solidFill>
          <a:ln w="12700">
            <a:solidFill>
              <a:srgbClr val="17A398"/>
            </a:solidFill>
            <a:prstDash val="solid"/>
          </a:ln>
        </p:spPr>
      </p:sp>
      <p:sp>
        <p:nvSpPr>
          <p:cNvPr id="38" name="Text 36"/>
          <p:cNvSpPr txBox="1"/>
          <p:nvPr/>
        </p:nvSpPr>
        <p:spPr>
          <a:xfrm>
            <a:off x="548640" y="4690872"/>
            <a:ext cx="2483510" cy="41148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Budget Recommendations</a:t>
            </a:r>
            <a:endParaRPr lang="en-US" sz="1100" dirty="0"/>
          </a:p>
        </p:txBody>
      </p:sp>
      <p:sp>
        <p:nvSpPr>
          <p:cNvPr id="39" name="Shape 37"/>
          <p:cNvSpPr/>
          <p:nvPr/>
        </p:nvSpPr>
        <p:spPr>
          <a:xfrm>
            <a:off x="3178454" y="4690872"/>
            <a:ext cx="1890979" cy="411480"/>
          </a:xfrm>
          <a:prstGeom prst="roundRect">
            <a:avLst>
              <a:gd name="adj" fmla="val 48889"/>
            </a:avLst>
          </a:prstGeom>
          <a:solidFill>
            <a:srgbClr val="F1F7F8"/>
          </a:solidFill>
          <a:ln w="12700">
            <a:solidFill>
              <a:srgbClr val="17A398"/>
            </a:solidFill>
            <a:prstDash val="solid"/>
          </a:ln>
        </p:spPr>
      </p:sp>
      <p:sp>
        <p:nvSpPr>
          <p:cNvPr id="40" name="Text 38"/>
          <p:cNvSpPr txBox="1"/>
          <p:nvPr/>
        </p:nvSpPr>
        <p:spPr>
          <a:xfrm>
            <a:off x="3178454" y="4690872"/>
            <a:ext cx="1890979" cy="41148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Savings Strategy</a:t>
            </a:r>
            <a:endParaRPr lang="en-US" sz="1100" dirty="0"/>
          </a:p>
        </p:txBody>
      </p:sp>
      <p:sp>
        <p:nvSpPr>
          <p:cNvPr id="41" name="Shape 39"/>
          <p:cNvSpPr/>
          <p:nvPr/>
        </p:nvSpPr>
        <p:spPr>
          <a:xfrm>
            <a:off x="548640" y="5193792"/>
            <a:ext cx="2483510" cy="411480"/>
          </a:xfrm>
          <a:prstGeom prst="roundRect">
            <a:avLst>
              <a:gd name="adj" fmla="val 48889"/>
            </a:avLst>
          </a:prstGeom>
          <a:solidFill>
            <a:srgbClr val="F1F7F8"/>
          </a:solidFill>
          <a:ln w="12700">
            <a:solidFill>
              <a:srgbClr val="17A398"/>
            </a:solidFill>
            <a:prstDash val="solid"/>
          </a:ln>
        </p:spPr>
      </p:sp>
      <p:sp>
        <p:nvSpPr>
          <p:cNvPr id="42" name="Text 40"/>
          <p:cNvSpPr txBox="1"/>
          <p:nvPr/>
        </p:nvSpPr>
        <p:spPr>
          <a:xfrm>
            <a:off x="548640" y="5193792"/>
            <a:ext cx="2483510" cy="41148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Next-Month Action Plan</a:t>
            </a:r>
            <a:endParaRPr lang="en-US" sz="1100" dirty="0"/>
          </a:p>
        </p:txBody>
      </p:sp>
      <p:sp>
        <p:nvSpPr>
          <p:cNvPr id="43" name="Text 41"/>
          <p:cNvSpPr txBox="1"/>
          <p:nvPr/>
        </p:nvSpPr>
        <p:spPr>
          <a:xfrm>
            <a:off x="6492240" y="1298448"/>
            <a:ext cx="4572000" cy="292608"/>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Testing scenarios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1664208"/>
          <a:ext cx="5148072" cy="914400"/>
        </p:xfrm>
        <a:graphic>
          <a:graphicData uri="http://schemas.openxmlformats.org/drawingml/2006/table">
            <a:tbl>
              <a:tblPr/>
              <a:tblGrid>
                <a:gridCol w="384048"/>
                <a:gridCol w="2551176"/>
                <a:gridCol w="2212848"/>
              </a:tblGrid>
              <a:tr h="420624">
                <a:tc>
                  <a:txBody>
                    <a:bodyPr/>
                    <a:lstStyle/>
                    <a:p>
                      <a:pPr indent="0" marL="0">
                        <a:buNone/>
                      </a:pPr>
                      <a:r>
                        <a:rPr lang="en-US" sz="1150" b="1" dirty="0">
                          <a:solidFill>
                            <a:srgbClr val="12222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b="1" dirty="0">
                          <a:solidFill>
                            <a:srgbClr val="12222F"/>
                          </a:solidFill>
                          <a:latin typeface="Calibri" pitchFamily="34" charset="0"/>
                          <a:ea typeface="Calibri" pitchFamily="34" charset="-122"/>
                          <a:cs typeface="Calibri" pitchFamily="34" charset="-120"/>
                        </a:rPr>
                        <a:t>Input</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b="1" dirty="0">
                          <a:solidFill>
                            <a:srgbClr val="12222F"/>
                          </a:solidFill>
                          <a:latin typeface="Calibri" pitchFamily="34" charset="0"/>
                          <a:ea typeface="Calibri" pitchFamily="34" charset="-122"/>
                          <a:cs typeface="Calibri" pitchFamily="34" charset="-120"/>
                        </a:rPr>
                        <a:t>Expected result</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Income 8000 / expenses ~2000</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High score, LOW risk</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Income 2000 / expenses ~2600</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Low score, HIGH risk</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Income 5000 / debt 2500</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MEDIUM or HIGH risk</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Income 4000 / savings 1200</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High score, LOW risk</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r>
              <a:tr h="420624">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Income 3000 / expenses 3000</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c>
                  <a:txBody>
                    <a:bodyPr/>
                    <a:lstStyle/>
                    <a:p>
                      <a:pPr indent="0" marL="0">
                        <a:buNone/>
                      </a:pPr>
                      <a:r>
                        <a:rPr lang="en-US" sz="1150" dirty="0">
                          <a:solidFill>
                            <a:srgbClr val="12222F"/>
                          </a:solidFill>
                          <a:latin typeface="Calibri" pitchFamily="34" charset="0"/>
                          <a:ea typeface="Calibri" pitchFamily="34" charset="-122"/>
                          <a:cs typeface="Calibri" pitchFamily="34" charset="-120"/>
                        </a:rPr>
                        <a:t>MEDIUM or HIGH risk</a:t>
                      </a:r>
                      <a:endParaRPr lang="en-US" sz="1150" dirty="0">
                        <a:latin typeface="Calibri" charset="0"/>
                        <a:ea typeface="Calibri" charset="0"/>
                        <a:cs typeface="Calibri" charset="0"/>
                      </a:endParaRPr>
                    </a:p>
                  </a:txBody>
                  <a:tcPr marL="73152" marR="73152" marT="73152" marB="73152" anchor="ctr">
                    <a:lnL w="12700" cap="flat" cmpd="sng" algn="ctr">
                      <a:solidFill>
                        <a:srgbClr val="D3E1E5"/>
                      </a:solidFill>
                      <a:prstDash val="solid"/>
                      <a:round/>
                      <a:headEnd type="none" w="med" len="med"/>
                      <a:tailEnd type="none" w="med" len="med"/>
                    </a:lnL>
                    <a:lnR w="12700" cap="flat" cmpd="sng" algn="ctr">
                      <a:solidFill>
                        <a:srgbClr val="D3E1E5"/>
                      </a:solidFill>
                      <a:prstDash val="solid"/>
                      <a:round/>
                      <a:headEnd type="none" w="med" len="med"/>
                      <a:tailEnd type="none" w="med" len="med"/>
                    </a:lnR>
                    <a:lnT w="12700" cap="flat" cmpd="sng" algn="ctr">
                      <a:solidFill>
                        <a:srgbClr val="D3E1E5"/>
                      </a:solidFill>
                      <a:prstDash val="solid"/>
                      <a:round/>
                      <a:headEnd type="none" w="med" len="med"/>
                      <a:tailEnd type="none" w="med" len="med"/>
                    </a:lnT>
                    <a:lnB w="12700" cap="flat" cmpd="sng" algn="ctr">
                      <a:solidFill>
                        <a:srgbClr val="D3E1E5"/>
                      </a:solidFill>
                      <a:prstDash val="solid"/>
                      <a:round/>
                      <a:headEnd type="none" w="med" len="med"/>
                      <a:tailEnd type="none" w="med" len="med"/>
                    </a:lnB>
                    <a:solidFill>
                      <a:srgbClr val="FFFFFF"/>
                    </a:solidFill>
                  </a:tcPr>
                </a:tc>
              </a:tr>
            </a:tbl>
          </a:graphicData>
        </a:graphic>
      </p:graphicFrame>
      <p:sp>
        <p:nvSpPr>
          <p:cNvPr id="45" name="Shape 42"/>
          <p:cNvSpPr/>
          <p:nvPr/>
        </p:nvSpPr>
        <p:spPr>
          <a:xfrm>
            <a:off x="6492240" y="4617720"/>
            <a:ext cx="5148072" cy="1234440"/>
          </a:xfrm>
          <a:prstGeom prst="roundRect">
            <a:avLst>
              <a:gd name="adj" fmla="val 6667"/>
            </a:avLst>
          </a:prstGeom>
          <a:solidFill>
            <a:srgbClr val="F1F7F8"/>
          </a:solidFill>
          <a:ln w="12700">
            <a:solidFill>
              <a:srgbClr val="D3E1E5"/>
            </a:solidFill>
            <a:prstDash val="solid"/>
          </a:ln>
        </p:spPr>
      </p:sp>
      <p:sp>
        <p:nvSpPr>
          <p:cNvPr id="46" name="Text 43"/>
          <p:cNvSpPr txBox="1"/>
          <p:nvPr/>
        </p:nvSpPr>
        <p:spPr>
          <a:xfrm>
            <a:off x="6675120" y="4709160"/>
            <a:ext cx="4754880" cy="256032"/>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Also tested</a:t>
            </a:r>
            <a:endParaRPr lang="en-US" sz="1300" dirty="0"/>
          </a:p>
        </p:txBody>
      </p:sp>
      <p:sp>
        <p:nvSpPr>
          <p:cNvPr id="47" name="Text 44"/>
          <p:cNvSpPr txBox="1"/>
          <p:nvPr/>
        </p:nvSpPr>
        <p:spPr>
          <a:xfrm>
            <a:off x="6720840" y="5010912"/>
            <a:ext cx="4709160" cy="7772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2222F"/>
                </a:solidFill>
                <a:latin typeface="Calibri" pitchFamily="34" charset="0"/>
                <a:ea typeface="Calibri" pitchFamily="34" charset="-122"/>
                <a:cs typeface="Calibri" pitchFamily="34" charset="-120"/>
              </a:rPr>
              <a:t>Empty or zero income - validation message, no API call</a:t>
            </a:r>
            <a:endParaRPr lang="en-US" sz="1150" dirty="0"/>
          </a:p>
          <a:p>
            <a:pPr marL="342900" indent="-342900">
              <a:spcAft>
                <a:spcPts val="400"/>
              </a:spcAft>
              <a:buSzPct val="100000"/>
              <a:buChar char="•"/>
            </a:pPr>
            <a:r>
              <a:rPr lang="en-US" sz="1150" dirty="0">
                <a:solidFill>
                  <a:srgbClr val="12222F"/>
                </a:solidFill>
                <a:latin typeface="Calibri" pitchFamily="34" charset="0"/>
                <a:ea typeface="Calibri" pitchFamily="34" charset="-122"/>
                <a:cs typeface="Calibri" pitchFamily="34" charset="-120"/>
              </a:rPr>
              <a:t>Same input submitted twice with caching on - faster second run</a:t>
            </a:r>
            <a:endParaRPr lang="en-US" sz="1150" dirty="0"/>
          </a:p>
        </p:txBody>
      </p:sp>
      <p:sp>
        <p:nvSpPr>
          <p:cNvPr id="48" name="Text 45"/>
          <p:cNvSpPr txBox="1"/>
          <p:nvPr/>
        </p:nvSpPr>
        <p:spPr>
          <a:xfrm>
            <a:off x="11338560" y="6355080"/>
            <a:ext cx="365760" cy="274320"/>
          </a:xfrm>
          <a:prstGeom prst="rect">
            <a:avLst/>
          </a:prstGeom>
          <a:noFill/>
          <a:ln/>
        </p:spPr>
        <p:txBody>
          <a:bodyPr wrap="square" lIns="0" tIns="0" rIns="0" bIns="0" rtlCol="0" anchor="ctr"/>
          <a:lstStyle/>
          <a:p>
            <a:pPr algn="r" indent="0" marL="0">
              <a:buNone/>
            </a:pPr>
            <a:r>
              <a:rPr lang="en-US" sz="1000" dirty="0">
                <a:solidFill>
                  <a:srgbClr val="A9B7B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0058400" y="-1280160"/>
            <a:ext cx="4023360" cy="4023360"/>
          </a:xfrm>
          <a:prstGeom prst="ellipse">
            <a:avLst/>
          </a:prstGeom>
          <a:solidFill>
            <a:srgbClr val="13375B"/>
          </a:solidFill>
          <a:ln w="12700">
            <a:solidFill>
              <a:srgbClr val="13375B"/>
            </a:solidFill>
            <a:prstDash val="solid"/>
          </a:ln>
        </p:spPr>
      </p:sp>
      <p:sp>
        <p:nvSpPr>
          <p:cNvPr id="3" name="Text 1"/>
          <p:cNvSpPr txBox="1"/>
          <p:nvPr/>
        </p:nvSpPr>
        <p:spPr>
          <a:xfrm>
            <a:off x="731520" y="457200"/>
            <a:ext cx="7315200" cy="274320"/>
          </a:xfrm>
          <a:prstGeom prst="rect">
            <a:avLst/>
          </a:prstGeom>
          <a:noFill/>
          <a:ln/>
        </p:spPr>
        <p:txBody>
          <a:bodyPr wrap="square" lIns="0" tIns="0" rIns="0" bIns="0" rtlCol="0" anchor="ctr"/>
          <a:lstStyle/>
          <a:p>
            <a:pPr indent="0" marL="0">
              <a:buNone/>
            </a:pPr>
            <a:r>
              <a:rPr lang="en-US" sz="1150" b="1" spc="250" kern="0" dirty="0">
                <a:solidFill>
                  <a:srgbClr val="5AD2C0"/>
                </a:solidFill>
                <a:latin typeface="Calibri" pitchFamily="34" charset="0"/>
                <a:ea typeface="Calibri" pitchFamily="34" charset="-122"/>
                <a:cs typeface="Calibri" pitchFamily="34" charset="-120"/>
              </a:rPr>
              <a:t>CONCLUSION</a:t>
            </a:r>
            <a:endParaRPr lang="en-US" sz="1150" dirty="0"/>
          </a:p>
        </p:txBody>
      </p:sp>
      <p:sp>
        <p:nvSpPr>
          <p:cNvPr id="4" name="Text 2"/>
          <p:cNvSpPr txBox="1"/>
          <p:nvPr/>
        </p:nvSpPr>
        <p:spPr>
          <a:xfrm>
            <a:off x="731520" y="73152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Requirements achieved</a:t>
            </a:r>
            <a:endParaRPr lang="en-US" sz="3000" dirty="0"/>
          </a:p>
        </p:txBody>
      </p:sp>
      <p:sp>
        <p:nvSpPr>
          <p:cNvPr id="5" name="Shape 3"/>
          <p:cNvSpPr/>
          <p:nvPr/>
        </p:nvSpPr>
        <p:spPr>
          <a:xfrm>
            <a:off x="731520" y="1581912"/>
            <a:ext cx="292608" cy="292608"/>
          </a:xfrm>
          <a:prstGeom prst="ellipse">
            <a:avLst/>
          </a:prstGeom>
          <a:solidFill>
            <a:srgbClr val="0E7C7B"/>
          </a:solidFill>
          <a:ln w="12700">
            <a:solidFill>
              <a:srgbClr val="0E7C7B"/>
            </a:solidFill>
            <a:prstDash val="solid"/>
          </a:ln>
        </p:spPr>
      </p:sp>
      <p:sp>
        <p:nvSpPr>
          <p:cNvPr id="6" name="Text 4"/>
          <p:cNvSpPr txBox="1"/>
          <p:nvPr/>
        </p:nvSpPr>
        <p:spPr>
          <a:xfrm>
            <a:off x="731520" y="15819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txBox="1"/>
          <p:nvPr/>
        </p:nvSpPr>
        <p:spPr>
          <a:xfrm>
            <a:off x="1143000" y="1508760"/>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Streamlit interface</a:t>
            </a:r>
            <a:endParaRPr lang="en-US" sz="1400" dirty="0"/>
          </a:p>
        </p:txBody>
      </p:sp>
      <p:sp>
        <p:nvSpPr>
          <p:cNvPr id="8" name="Shape 6"/>
          <p:cNvSpPr/>
          <p:nvPr/>
        </p:nvSpPr>
        <p:spPr>
          <a:xfrm>
            <a:off x="4389120" y="1581912"/>
            <a:ext cx="292608" cy="292608"/>
          </a:xfrm>
          <a:prstGeom prst="ellipse">
            <a:avLst/>
          </a:prstGeom>
          <a:solidFill>
            <a:srgbClr val="0E7C7B"/>
          </a:solidFill>
          <a:ln w="12700">
            <a:solidFill>
              <a:srgbClr val="0E7C7B"/>
            </a:solidFill>
            <a:prstDash val="solid"/>
          </a:ln>
        </p:spPr>
      </p:sp>
      <p:sp>
        <p:nvSpPr>
          <p:cNvPr id="9" name="Text 7"/>
          <p:cNvSpPr txBox="1"/>
          <p:nvPr/>
        </p:nvSpPr>
        <p:spPr>
          <a:xfrm>
            <a:off x="4389120" y="15819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4800600" y="1508760"/>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Python calculations</a:t>
            </a:r>
            <a:endParaRPr lang="en-US" sz="1400" dirty="0"/>
          </a:p>
        </p:txBody>
      </p:sp>
      <p:sp>
        <p:nvSpPr>
          <p:cNvPr id="11" name="Shape 9"/>
          <p:cNvSpPr/>
          <p:nvPr/>
        </p:nvSpPr>
        <p:spPr>
          <a:xfrm>
            <a:off x="8046720" y="1581912"/>
            <a:ext cx="292608" cy="292608"/>
          </a:xfrm>
          <a:prstGeom prst="ellipse">
            <a:avLst/>
          </a:prstGeom>
          <a:solidFill>
            <a:srgbClr val="0E7C7B"/>
          </a:solidFill>
          <a:ln w="12700">
            <a:solidFill>
              <a:srgbClr val="0E7C7B"/>
            </a:solidFill>
            <a:prstDash val="solid"/>
          </a:ln>
        </p:spPr>
      </p:sp>
      <p:sp>
        <p:nvSpPr>
          <p:cNvPr id="12" name="Text 10"/>
          <p:cNvSpPr txBox="1"/>
          <p:nvPr/>
        </p:nvSpPr>
        <p:spPr>
          <a:xfrm>
            <a:off x="8046720" y="15819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txBox="1"/>
          <p:nvPr/>
        </p:nvSpPr>
        <p:spPr>
          <a:xfrm>
            <a:off x="8458200" y="1508760"/>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ChatOpenAI</a:t>
            </a:r>
            <a:endParaRPr lang="en-US" sz="1400" dirty="0"/>
          </a:p>
        </p:txBody>
      </p:sp>
      <p:sp>
        <p:nvSpPr>
          <p:cNvPr id="14" name="Shape 12"/>
          <p:cNvSpPr/>
          <p:nvPr/>
        </p:nvSpPr>
        <p:spPr>
          <a:xfrm>
            <a:off x="731520" y="2148840"/>
            <a:ext cx="292608" cy="292608"/>
          </a:xfrm>
          <a:prstGeom prst="ellipse">
            <a:avLst/>
          </a:prstGeom>
          <a:solidFill>
            <a:srgbClr val="0E7C7B"/>
          </a:solidFill>
          <a:ln w="12700">
            <a:solidFill>
              <a:srgbClr val="0E7C7B"/>
            </a:solidFill>
            <a:prstDash val="solid"/>
          </a:ln>
        </p:spPr>
      </p:sp>
      <p:sp>
        <p:nvSpPr>
          <p:cNvPr id="15" name="Text 13"/>
          <p:cNvSpPr txBox="1"/>
          <p:nvPr/>
        </p:nvSpPr>
        <p:spPr>
          <a:xfrm>
            <a:off x="731520" y="21488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1143000" y="2075688"/>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PromptTemplate</a:t>
            </a:r>
            <a:endParaRPr lang="en-US" sz="1400" dirty="0"/>
          </a:p>
        </p:txBody>
      </p:sp>
      <p:sp>
        <p:nvSpPr>
          <p:cNvPr id="17" name="Shape 15"/>
          <p:cNvSpPr/>
          <p:nvPr/>
        </p:nvSpPr>
        <p:spPr>
          <a:xfrm>
            <a:off x="4389120" y="2148840"/>
            <a:ext cx="292608" cy="292608"/>
          </a:xfrm>
          <a:prstGeom prst="ellipse">
            <a:avLst/>
          </a:prstGeom>
          <a:solidFill>
            <a:srgbClr val="0E7C7B"/>
          </a:solidFill>
          <a:ln w="12700">
            <a:solidFill>
              <a:srgbClr val="0E7C7B"/>
            </a:solidFill>
            <a:prstDash val="solid"/>
          </a:ln>
        </p:spPr>
      </p:sp>
      <p:sp>
        <p:nvSpPr>
          <p:cNvPr id="18" name="Text 16"/>
          <p:cNvSpPr txBox="1"/>
          <p:nvPr/>
        </p:nvSpPr>
        <p:spPr>
          <a:xfrm>
            <a:off x="4389120" y="21488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4800600" y="2075688"/>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ChatPromptTemplate</a:t>
            </a:r>
            <a:endParaRPr lang="en-US" sz="1400" dirty="0"/>
          </a:p>
        </p:txBody>
      </p:sp>
      <p:sp>
        <p:nvSpPr>
          <p:cNvPr id="20" name="Shape 18"/>
          <p:cNvSpPr/>
          <p:nvPr/>
        </p:nvSpPr>
        <p:spPr>
          <a:xfrm>
            <a:off x="8046720" y="2148840"/>
            <a:ext cx="292608" cy="292608"/>
          </a:xfrm>
          <a:prstGeom prst="ellipse">
            <a:avLst/>
          </a:prstGeom>
          <a:solidFill>
            <a:srgbClr val="0E7C7B"/>
          </a:solidFill>
          <a:ln w="12700">
            <a:solidFill>
              <a:srgbClr val="0E7C7B"/>
            </a:solidFill>
            <a:prstDash val="solid"/>
          </a:ln>
        </p:spPr>
      </p:sp>
      <p:sp>
        <p:nvSpPr>
          <p:cNvPr id="21" name="Text 19"/>
          <p:cNvSpPr txBox="1"/>
          <p:nvPr/>
        </p:nvSpPr>
        <p:spPr>
          <a:xfrm>
            <a:off x="8046720" y="21488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8458200" y="2075688"/>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System / Human / AI messages</a:t>
            </a:r>
            <a:endParaRPr lang="en-US" sz="1400" dirty="0"/>
          </a:p>
        </p:txBody>
      </p:sp>
      <p:sp>
        <p:nvSpPr>
          <p:cNvPr id="23" name="Shape 21"/>
          <p:cNvSpPr/>
          <p:nvPr/>
        </p:nvSpPr>
        <p:spPr>
          <a:xfrm>
            <a:off x="731520" y="2715768"/>
            <a:ext cx="292608" cy="292608"/>
          </a:xfrm>
          <a:prstGeom prst="ellipse">
            <a:avLst/>
          </a:prstGeom>
          <a:solidFill>
            <a:srgbClr val="0E7C7B"/>
          </a:solidFill>
          <a:ln w="12700">
            <a:solidFill>
              <a:srgbClr val="0E7C7B"/>
            </a:solidFill>
            <a:prstDash val="solid"/>
          </a:ln>
        </p:spPr>
      </p:sp>
      <p:sp>
        <p:nvSpPr>
          <p:cNvPr id="24" name="Text 22"/>
          <p:cNvSpPr txBox="1"/>
          <p:nvPr/>
        </p:nvSpPr>
        <p:spPr>
          <a:xfrm>
            <a:off x="731520" y="2715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1143000" y="2642616"/>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LLMChain</a:t>
            </a:r>
            <a:endParaRPr lang="en-US" sz="1400" dirty="0"/>
          </a:p>
        </p:txBody>
      </p:sp>
      <p:sp>
        <p:nvSpPr>
          <p:cNvPr id="26" name="Shape 24"/>
          <p:cNvSpPr/>
          <p:nvPr/>
        </p:nvSpPr>
        <p:spPr>
          <a:xfrm>
            <a:off x="4389120" y="2715768"/>
            <a:ext cx="292608" cy="292608"/>
          </a:xfrm>
          <a:prstGeom prst="ellipse">
            <a:avLst/>
          </a:prstGeom>
          <a:solidFill>
            <a:srgbClr val="0E7C7B"/>
          </a:solidFill>
          <a:ln w="12700">
            <a:solidFill>
              <a:srgbClr val="0E7C7B"/>
            </a:solidFill>
            <a:prstDash val="solid"/>
          </a:ln>
        </p:spPr>
      </p:sp>
      <p:sp>
        <p:nvSpPr>
          <p:cNvPr id="27" name="Text 25"/>
          <p:cNvSpPr txBox="1"/>
          <p:nvPr/>
        </p:nvSpPr>
        <p:spPr>
          <a:xfrm>
            <a:off x="4389120" y="2715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4800600" y="2642616"/>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Structured JSON</a:t>
            </a:r>
            <a:endParaRPr lang="en-US" sz="1400" dirty="0"/>
          </a:p>
        </p:txBody>
      </p:sp>
      <p:sp>
        <p:nvSpPr>
          <p:cNvPr id="29" name="Shape 27"/>
          <p:cNvSpPr/>
          <p:nvPr/>
        </p:nvSpPr>
        <p:spPr>
          <a:xfrm>
            <a:off x="8046720" y="2715768"/>
            <a:ext cx="292608" cy="292608"/>
          </a:xfrm>
          <a:prstGeom prst="ellipse">
            <a:avLst/>
          </a:prstGeom>
          <a:solidFill>
            <a:srgbClr val="0E7C7B"/>
          </a:solidFill>
          <a:ln w="12700">
            <a:solidFill>
              <a:srgbClr val="0E7C7B"/>
            </a:solidFill>
            <a:prstDash val="solid"/>
          </a:ln>
        </p:spPr>
      </p:sp>
      <p:sp>
        <p:nvSpPr>
          <p:cNvPr id="30" name="Text 28"/>
          <p:cNvSpPr txBox="1"/>
          <p:nvPr/>
        </p:nvSpPr>
        <p:spPr>
          <a:xfrm>
            <a:off x="8046720" y="2715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txBox="1"/>
          <p:nvPr/>
        </p:nvSpPr>
        <p:spPr>
          <a:xfrm>
            <a:off x="8458200" y="2642616"/>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Streaming</a:t>
            </a:r>
            <a:endParaRPr lang="en-US" sz="1400" dirty="0"/>
          </a:p>
        </p:txBody>
      </p:sp>
      <p:sp>
        <p:nvSpPr>
          <p:cNvPr id="32" name="Shape 30"/>
          <p:cNvSpPr/>
          <p:nvPr/>
        </p:nvSpPr>
        <p:spPr>
          <a:xfrm>
            <a:off x="731520" y="3282696"/>
            <a:ext cx="292608" cy="292608"/>
          </a:xfrm>
          <a:prstGeom prst="ellipse">
            <a:avLst/>
          </a:prstGeom>
          <a:solidFill>
            <a:srgbClr val="0E7C7B"/>
          </a:solidFill>
          <a:ln w="12700">
            <a:solidFill>
              <a:srgbClr val="0E7C7B"/>
            </a:solidFill>
            <a:prstDash val="solid"/>
          </a:ln>
        </p:spPr>
      </p:sp>
      <p:sp>
        <p:nvSpPr>
          <p:cNvPr id="33" name="Text 31"/>
          <p:cNvSpPr txBox="1"/>
          <p:nvPr/>
        </p:nvSpPr>
        <p:spPr>
          <a:xfrm>
            <a:off x="731520" y="3282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4" name="Text 32"/>
          <p:cNvSpPr txBox="1"/>
          <p:nvPr/>
        </p:nvSpPr>
        <p:spPr>
          <a:xfrm>
            <a:off x="1143000" y="3209544"/>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InMemoryCache</a:t>
            </a:r>
            <a:endParaRPr lang="en-US" sz="1400" dirty="0"/>
          </a:p>
        </p:txBody>
      </p:sp>
      <p:sp>
        <p:nvSpPr>
          <p:cNvPr id="35" name="Shape 33"/>
          <p:cNvSpPr/>
          <p:nvPr/>
        </p:nvSpPr>
        <p:spPr>
          <a:xfrm>
            <a:off x="4389120" y="3282696"/>
            <a:ext cx="292608" cy="292608"/>
          </a:xfrm>
          <a:prstGeom prst="ellipse">
            <a:avLst/>
          </a:prstGeom>
          <a:solidFill>
            <a:srgbClr val="0E7C7B"/>
          </a:solidFill>
          <a:ln w="12700">
            <a:solidFill>
              <a:srgbClr val="0E7C7B"/>
            </a:solidFill>
            <a:prstDash val="solid"/>
          </a:ln>
        </p:spPr>
      </p:sp>
      <p:sp>
        <p:nvSpPr>
          <p:cNvPr id="36" name="Text 34"/>
          <p:cNvSpPr txBox="1"/>
          <p:nvPr/>
        </p:nvSpPr>
        <p:spPr>
          <a:xfrm>
            <a:off x="4389120" y="3282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4800600" y="3209544"/>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SQLiteCache</a:t>
            </a:r>
            <a:endParaRPr lang="en-US" sz="1400" dirty="0"/>
          </a:p>
        </p:txBody>
      </p:sp>
      <p:sp>
        <p:nvSpPr>
          <p:cNvPr id="38" name="Shape 36"/>
          <p:cNvSpPr/>
          <p:nvPr/>
        </p:nvSpPr>
        <p:spPr>
          <a:xfrm>
            <a:off x="8046720" y="3282696"/>
            <a:ext cx="292608" cy="292608"/>
          </a:xfrm>
          <a:prstGeom prst="ellipse">
            <a:avLst/>
          </a:prstGeom>
          <a:solidFill>
            <a:srgbClr val="0E7C7B"/>
          </a:solidFill>
          <a:ln w="12700">
            <a:solidFill>
              <a:srgbClr val="0E7C7B"/>
            </a:solidFill>
            <a:prstDash val="solid"/>
          </a:ln>
        </p:spPr>
      </p:sp>
      <p:sp>
        <p:nvSpPr>
          <p:cNvPr id="39" name="Text 37"/>
          <p:cNvSpPr txBox="1"/>
          <p:nvPr/>
        </p:nvSpPr>
        <p:spPr>
          <a:xfrm>
            <a:off x="8046720" y="32826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0" name="Text 38"/>
          <p:cNvSpPr txBox="1"/>
          <p:nvPr/>
        </p:nvSpPr>
        <p:spPr>
          <a:xfrm>
            <a:off x="8458200" y="3209544"/>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Financial dashboard</a:t>
            </a:r>
            <a:endParaRPr lang="en-US" sz="1400" dirty="0"/>
          </a:p>
        </p:txBody>
      </p:sp>
      <p:sp>
        <p:nvSpPr>
          <p:cNvPr id="41" name="Shape 39"/>
          <p:cNvSpPr/>
          <p:nvPr/>
        </p:nvSpPr>
        <p:spPr>
          <a:xfrm>
            <a:off x="731520" y="3849624"/>
            <a:ext cx="292608" cy="292608"/>
          </a:xfrm>
          <a:prstGeom prst="ellipse">
            <a:avLst/>
          </a:prstGeom>
          <a:solidFill>
            <a:srgbClr val="0E7C7B"/>
          </a:solidFill>
          <a:ln w="12700">
            <a:solidFill>
              <a:srgbClr val="0E7C7B"/>
            </a:solidFill>
            <a:prstDash val="solid"/>
          </a:ln>
        </p:spPr>
      </p:sp>
      <p:sp>
        <p:nvSpPr>
          <p:cNvPr id="42" name="Text 40"/>
          <p:cNvSpPr txBox="1"/>
          <p:nvPr/>
        </p:nvSpPr>
        <p:spPr>
          <a:xfrm>
            <a:off x="731520" y="38496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3" name="Text 41"/>
          <p:cNvSpPr txBox="1"/>
          <p:nvPr/>
        </p:nvSpPr>
        <p:spPr>
          <a:xfrm>
            <a:off x="1143000" y="3776472"/>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Input validation</a:t>
            </a:r>
            <a:endParaRPr lang="en-US" sz="1400" dirty="0"/>
          </a:p>
        </p:txBody>
      </p:sp>
      <p:sp>
        <p:nvSpPr>
          <p:cNvPr id="44" name="Shape 42"/>
          <p:cNvSpPr/>
          <p:nvPr/>
        </p:nvSpPr>
        <p:spPr>
          <a:xfrm>
            <a:off x="4389120" y="3849624"/>
            <a:ext cx="292608" cy="292608"/>
          </a:xfrm>
          <a:prstGeom prst="ellipse">
            <a:avLst/>
          </a:prstGeom>
          <a:solidFill>
            <a:srgbClr val="0E7C7B"/>
          </a:solidFill>
          <a:ln w="12700">
            <a:solidFill>
              <a:srgbClr val="0E7C7B"/>
            </a:solidFill>
            <a:prstDash val="solid"/>
          </a:ln>
        </p:spPr>
      </p:sp>
      <p:sp>
        <p:nvSpPr>
          <p:cNvPr id="45" name="Text 43"/>
          <p:cNvSpPr txBox="1"/>
          <p:nvPr/>
        </p:nvSpPr>
        <p:spPr>
          <a:xfrm>
            <a:off x="4389120" y="38496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6" name="Text 44"/>
          <p:cNvSpPr txBox="1"/>
          <p:nvPr/>
        </p:nvSpPr>
        <p:spPr>
          <a:xfrm>
            <a:off x="4800600" y="3776472"/>
            <a:ext cx="3108960" cy="438912"/>
          </a:xfrm>
          <a:prstGeom prst="rect">
            <a:avLst/>
          </a:prstGeom>
          <a:noFill/>
          <a:ln/>
        </p:spPr>
        <p:txBody>
          <a:bodyPr wrap="square" lIns="0" tIns="0" rIns="0" bIns="0" rtlCol="0" anchor="ctr"/>
          <a:lstStyle/>
          <a:p>
            <a:pPr indent="0" marL="0">
              <a:buNone/>
            </a:pPr>
            <a:r>
              <a:rPr lang="en-US" sz="1400" dirty="0">
                <a:solidFill>
                  <a:srgbClr val="E4EFF3"/>
                </a:solidFill>
                <a:latin typeface="Calibri" pitchFamily="34" charset="0"/>
                <a:ea typeface="Calibri" pitchFamily="34" charset="-122"/>
                <a:cs typeface="Calibri" pitchFamily="34" charset="-120"/>
              </a:rPr>
              <a:t>Educational safety</a:t>
            </a:r>
            <a:endParaRPr lang="en-US" sz="1400" dirty="0"/>
          </a:p>
        </p:txBody>
      </p:sp>
      <p:sp>
        <p:nvSpPr>
          <p:cNvPr id="47" name="Shape 45"/>
          <p:cNvSpPr/>
          <p:nvPr/>
        </p:nvSpPr>
        <p:spPr>
          <a:xfrm>
            <a:off x="731520" y="4434840"/>
            <a:ext cx="10744200" cy="868680"/>
          </a:xfrm>
          <a:prstGeom prst="roundRect">
            <a:avLst>
              <a:gd name="adj" fmla="val 10526"/>
            </a:avLst>
          </a:prstGeom>
          <a:solidFill>
            <a:srgbClr val="16324F"/>
          </a:solidFill>
          <a:ln w="12700">
            <a:solidFill>
              <a:srgbClr val="2C5273"/>
            </a:solidFill>
            <a:prstDash val="solid"/>
          </a:ln>
        </p:spPr>
      </p:sp>
      <p:sp>
        <p:nvSpPr>
          <p:cNvPr id="48" name="Text 46"/>
          <p:cNvSpPr txBox="1"/>
          <p:nvPr/>
        </p:nvSpPr>
        <p:spPr>
          <a:xfrm>
            <a:off x="960120" y="4434840"/>
            <a:ext cx="10287000" cy="868680"/>
          </a:xfrm>
          <a:prstGeom prst="rect">
            <a:avLst/>
          </a:prstGeom>
          <a:noFill/>
          <a:ln/>
        </p:spPr>
        <p:txBody>
          <a:bodyPr wrap="square" lIns="0" tIns="0" rIns="0" bIns="0" rtlCol="0" anchor="ctr"/>
          <a:lstStyle/>
          <a:p>
            <a:pPr indent="0" marL="0">
              <a:buNone/>
            </a:pPr>
            <a:r>
              <a:rPr lang="en-US" sz="1600" b="1" dirty="0">
                <a:solidFill>
                  <a:srgbClr val="5AD2C0"/>
                </a:solidFill>
                <a:latin typeface="Calibri" pitchFamily="34" charset="0"/>
                <a:ea typeface="Calibri" pitchFamily="34" charset="-122"/>
                <a:cs typeface="Calibri" pitchFamily="34" charset="-120"/>
              </a:rPr>
              <a:t>FinWise AI turns personal financial numbers into structured educational insights and actionable budgeting guidance.</a:t>
            </a:r>
            <a:endParaRPr lang="en-US" sz="1600" dirty="0"/>
          </a:p>
        </p:txBody>
      </p:sp>
      <p:sp>
        <p:nvSpPr>
          <p:cNvPr id="49" name="Text 47"/>
          <p:cNvSpPr txBox="1"/>
          <p:nvPr/>
        </p:nvSpPr>
        <p:spPr>
          <a:xfrm>
            <a:off x="731520" y="55321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Thank you - Questions?</a:t>
            </a:r>
            <a:endParaRPr lang="en-US" sz="2800" dirty="0"/>
          </a:p>
        </p:txBody>
      </p:sp>
      <p:sp>
        <p:nvSpPr>
          <p:cNvPr id="50" name="Text 48"/>
          <p:cNvSpPr txBox="1"/>
          <p:nvPr/>
        </p:nvSpPr>
        <p:spPr>
          <a:xfrm>
            <a:off x="7498080" y="5715000"/>
            <a:ext cx="3977640" cy="320040"/>
          </a:xfrm>
          <a:prstGeom prst="rect">
            <a:avLst/>
          </a:prstGeom>
          <a:noFill/>
          <a:ln/>
        </p:spPr>
        <p:txBody>
          <a:bodyPr wrap="square" lIns="0" tIns="0" rIns="0" bIns="0" rtlCol="0" anchor="ctr"/>
          <a:lstStyle/>
          <a:p>
            <a:pPr algn="r" indent="0" marL="0">
              <a:buNone/>
            </a:pPr>
            <a:r>
              <a:rPr lang="en-US" sz="1200" i="1" dirty="0">
                <a:solidFill>
                  <a:srgbClr val="9CB6C2"/>
                </a:solidFill>
                <a:latin typeface="Calibri" pitchFamily="34" charset="0"/>
                <a:ea typeface="Calibri" pitchFamily="34" charset="-122"/>
                <a:cs typeface="Calibri" pitchFamily="34" charset="-120"/>
              </a:rPr>
              <a:t>Educational prototype - not guaranteed financial advice.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FinWise AI - AI-Powered Personal Financial Analysis and Smart Budget Assistant</dc:title>
  <dc:subject>PptxGenJS Presentation</dc:subject>
  <dc:creator>FinWise AI</dc:creator>
  <cp:lastModifiedBy>FinWise AI</cp:lastModifiedBy>
  <cp:revision>1</cp:revision>
  <dcterms:created xsi:type="dcterms:W3CDTF">2026-08-31T05:47:38Z</dcterms:created>
  <dcterms:modified xsi:type="dcterms:W3CDTF">2026-08-31T05:47:38Z</dcterms:modified>
</cp:coreProperties>
</file>